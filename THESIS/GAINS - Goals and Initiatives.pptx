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sldIdLst>
    <p:sldId id="268" r:id="rId2"/>
    <p:sldId id="272" r:id="rId3"/>
    <p:sldId id="339" r:id="rId4"/>
    <p:sldId id="295" r:id="rId5"/>
    <p:sldId id="352" r:id="rId6"/>
    <p:sldId id="338" r:id="rId7"/>
    <p:sldId id="336" r:id="rId8"/>
    <p:sldId id="353" r:id="rId9"/>
    <p:sldId id="350" r:id="rId10"/>
    <p:sldId id="354" r:id="rId11"/>
    <p:sldId id="317" r:id="rId12"/>
    <p:sldId id="298" r:id="rId13"/>
    <p:sldId id="359" r:id="rId14"/>
    <p:sldId id="355" r:id="rId15"/>
    <p:sldId id="337" r:id="rId16"/>
    <p:sldId id="356" r:id="rId17"/>
    <p:sldId id="341" r:id="rId18"/>
    <p:sldId id="357" r:id="rId19"/>
    <p:sldId id="362" r:id="rId20"/>
    <p:sldId id="326" r:id="rId21"/>
    <p:sldId id="328" r:id="rId22"/>
    <p:sldId id="342" r:id="rId23"/>
    <p:sldId id="343" r:id="rId24"/>
    <p:sldId id="363" r:id="rId25"/>
    <p:sldId id="299" r:id="rId26"/>
    <p:sldId id="348" r:id="rId27"/>
    <p:sldId id="361" r:id="rId28"/>
    <p:sldId id="346" r:id="rId29"/>
    <p:sldId id="360" r:id="rId30"/>
    <p:sldId id="364" r:id="rId31"/>
    <p:sldId id="365" r:id="rId32"/>
    <p:sldId id="366" r:id="rId33"/>
    <p:sldId id="345" r:id="rId34"/>
    <p:sldId id="300" r:id="rId35"/>
    <p:sldId id="367" r:id="rId36"/>
    <p:sldId id="312" r:id="rId37"/>
    <p:sldId id="281" r:id="rId38"/>
    <p:sldId id="275" r:id="rId39"/>
    <p:sldId id="349" r:id="rId40"/>
    <p:sldId id="276" r:id="rId41"/>
    <p:sldId id="327" r:id="rId42"/>
    <p:sldId id="324" r:id="rId43"/>
    <p:sldId id="303" r:id="rId44"/>
    <p:sldId id="279" r:id="rId45"/>
    <p:sldId id="32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3FEFA2-D4A2-46AA-B44D-C68823812F2C}">
          <p14:sldIdLst>
            <p14:sldId id="268"/>
            <p14:sldId id="272"/>
            <p14:sldId id="339"/>
          </p14:sldIdLst>
        </p14:section>
        <p14:section name="Energy Sales" id="{5D59E0A3-7BF5-4F54-AEFF-844D671C7852}">
          <p14:sldIdLst>
            <p14:sldId id="295"/>
            <p14:sldId id="352"/>
            <p14:sldId id="338"/>
            <p14:sldId id="336"/>
            <p14:sldId id="353"/>
            <p14:sldId id="350"/>
            <p14:sldId id="354"/>
            <p14:sldId id="317"/>
            <p14:sldId id="298"/>
            <p14:sldId id="359"/>
            <p14:sldId id="355"/>
            <p14:sldId id="337"/>
            <p14:sldId id="356"/>
            <p14:sldId id="341"/>
            <p14:sldId id="357"/>
            <p14:sldId id="362"/>
            <p14:sldId id="326"/>
            <p14:sldId id="328"/>
            <p14:sldId id="342"/>
            <p14:sldId id="343"/>
            <p14:sldId id="363"/>
            <p14:sldId id="299"/>
            <p14:sldId id="348"/>
            <p14:sldId id="361"/>
            <p14:sldId id="346"/>
            <p14:sldId id="360"/>
            <p14:sldId id="364"/>
            <p14:sldId id="365"/>
            <p14:sldId id="366"/>
            <p14:sldId id="345"/>
            <p14:sldId id="300"/>
            <p14:sldId id="367"/>
            <p14:sldId id="312"/>
            <p14:sldId id="281"/>
          </p14:sldIdLst>
        </p14:section>
        <p14:section name="CCNI" id="{311C1A10-F058-4F5B-A692-69DB0EC1F45C}">
          <p14:sldIdLst>
            <p14:sldId id="275"/>
            <p14:sldId id="349"/>
          </p14:sldIdLst>
        </p14:section>
        <p14:section name="CSI" id="{62787C0A-9D4B-46A7-BDC1-C21446D5DD11}">
          <p14:sldIdLst>
            <p14:sldId id="276"/>
            <p14:sldId id="327"/>
            <p14:sldId id="324"/>
          </p14:sldIdLst>
        </p14:section>
        <p14:section name="LTIFR" id="{5358BB5D-6757-4D0D-9D54-53832D39B470}">
          <p14:sldIdLst>
            <p14:sldId id="303"/>
          </p14:sldIdLst>
        </p14:section>
        <p14:section name="Sustainability" id="{4FADEC15-D0EB-4E89-85FE-4E17940619E5}">
          <p14:sldIdLst>
            <p14:sldId id="279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BD00"/>
    <a:srgbClr val="7EB700"/>
    <a:srgbClr val="1F4E78"/>
    <a:srgbClr val="D9D9D9"/>
    <a:srgbClr val="E6E6E6"/>
    <a:srgbClr val="DDEBF7"/>
    <a:srgbClr val="C6C7E3"/>
    <a:srgbClr val="5155AB"/>
    <a:srgbClr val="FFFF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8A203-5777-0810-6770-37E89A543963}" v="101" dt="2025-08-25T23:49:13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a Mae Orlina" userId="46f13291619ae5b2" providerId="Windows Live" clId="Web-{0218A203-5777-0810-6770-37E89A543963}"/>
    <pc:docChg chg="delSld modSld modSection">
      <pc:chgData name="Erika Mae Orlina" userId="46f13291619ae5b2" providerId="Windows Live" clId="Web-{0218A203-5777-0810-6770-37E89A543963}" dt="2025-08-25T23:49:13.481" v="96"/>
      <pc:docMkLst>
        <pc:docMk/>
      </pc:docMkLst>
      <pc:sldChg chg="addSp delSp modSp mod modShow">
        <pc:chgData name="Erika Mae Orlina" userId="46f13291619ae5b2" providerId="Windows Live" clId="Web-{0218A203-5777-0810-6770-37E89A543963}" dt="2025-08-25T23:49:13.481" v="96"/>
        <pc:sldMkLst>
          <pc:docMk/>
          <pc:sldMk cId="345506441" sldId="268"/>
        </pc:sldMkLst>
        <pc:spChg chg="add del">
          <ac:chgData name="Erika Mae Orlina" userId="46f13291619ae5b2" providerId="Windows Live" clId="Web-{0218A203-5777-0810-6770-37E89A543963}" dt="2025-08-25T23:39:31.986" v="22"/>
          <ac:spMkLst>
            <pc:docMk/>
            <pc:sldMk cId="345506441" sldId="268"/>
            <ac:spMk id="4" creationId="{72869A35-1A95-6B02-0CCE-829291418869}"/>
          </ac:spMkLst>
        </pc:spChg>
        <pc:spChg chg="mod">
          <ac:chgData name="Erika Mae Orlina" userId="46f13291619ae5b2" providerId="Windows Live" clId="Web-{0218A203-5777-0810-6770-37E89A543963}" dt="2025-08-25T23:38:38.453" v="0" actId="14100"/>
          <ac:spMkLst>
            <pc:docMk/>
            <pc:sldMk cId="345506441" sldId="268"/>
            <ac:spMk id="11" creationId="{174D2766-890D-DC50-79A9-87F723E90AB3}"/>
          </ac:spMkLst>
        </pc:spChg>
        <pc:spChg chg="mod">
          <ac:chgData name="Erika Mae Orlina" userId="46f13291619ae5b2" providerId="Windows Live" clId="Web-{0218A203-5777-0810-6770-37E89A543963}" dt="2025-08-25T23:39:16.157" v="18" actId="20577"/>
          <ac:spMkLst>
            <pc:docMk/>
            <pc:sldMk cId="345506441" sldId="268"/>
            <ac:spMk id="23" creationId="{48DF6831-1338-390C-533F-31CDBA95305A}"/>
          </ac:spMkLst>
        </pc:spChg>
      </pc:sldChg>
      <pc:sldChg chg="modSp mod modShow">
        <pc:chgData name="Erika Mae Orlina" userId="46f13291619ae5b2" providerId="Windows Live" clId="Web-{0218A203-5777-0810-6770-37E89A543963}" dt="2025-08-25T23:49:13.466" v="82"/>
        <pc:sldMkLst>
          <pc:docMk/>
          <pc:sldMk cId="2452282046" sldId="272"/>
        </pc:sldMkLst>
        <pc:spChg chg="mod">
          <ac:chgData name="Erika Mae Orlina" userId="46f13291619ae5b2" providerId="Windows Live" clId="Web-{0218A203-5777-0810-6770-37E89A543963}" dt="2025-08-25T23:39:38.799" v="25" actId="14100"/>
          <ac:spMkLst>
            <pc:docMk/>
            <pc:sldMk cId="2452282046" sldId="272"/>
            <ac:spMk id="17" creationId="{ED5B5588-A516-BCB9-9BE8-3281A6EBFCE8}"/>
          </ac:spMkLst>
        </pc:spChg>
        <pc:grpChg chg="mod">
          <ac:chgData name="Erika Mae Orlina" userId="46f13291619ae5b2" providerId="Windows Live" clId="Web-{0218A203-5777-0810-6770-37E89A543963}" dt="2025-08-25T23:39:31.361" v="21" actId="14100"/>
          <ac:grpSpMkLst>
            <pc:docMk/>
            <pc:sldMk cId="2452282046" sldId="272"/>
            <ac:grpSpMk id="133" creationId="{6E9EC1EA-340F-1CC7-6530-28A9F3FD2A63}"/>
          </ac:grpSpMkLst>
        </pc:grpChg>
      </pc:sldChg>
      <pc:sldChg chg="mod modShow">
        <pc:chgData name="Erika Mae Orlina" userId="46f13291619ae5b2" providerId="Windows Live" clId="Web-{0218A203-5777-0810-6770-37E89A543963}" dt="2025-08-25T23:49:13.466" v="87"/>
        <pc:sldMkLst>
          <pc:docMk/>
          <pc:sldMk cId="4117308446" sldId="275"/>
        </pc:sldMkLst>
      </pc:sldChg>
      <pc:sldChg chg="modSp mod modShow">
        <pc:chgData name="Erika Mae Orlina" userId="46f13291619ae5b2" providerId="Windows Live" clId="Web-{0218A203-5777-0810-6770-37E89A543963}" dt="2025-08-25T23:49:13.466" v="81"/>
        <pc:sldMkLst>
          <pc:docMk/>
          <pc:sldMk cId="778647377" sldId="295"/>
        </pc:sldMkLst>
        <pc:spChg chg="mod">
          <ac:chgData name="Erika Mae Orlina" userId="46f13291619ae5b2" providerId="Windows Live" clId="Web-{0218A203-5777-0810-6770-37E89A543963}" dt="2025-08-25T23:41:56.306" v="35" actId="14100"/>
          <ac:spMkLst>
            <pc:docMk/>
            <pc:sldMk cId="778647377" sldId="295"/>
            <ac:spMk id="17" creationId="{ED5B5588-A516-BCB9-9BE8-3281A6EBFCE8}"/>
          </ac:spMkLst>
        </pc:spChg>
        <pc:spChg chg="mod">
          <ac:chgData name="Erika Mae Orlina" userId="46f13291619ae5b2" providerId="Windows Live" clId="Web-{0218A203-5777-0810-6770-37E89A543963}" dt="2025-08-25T23:42:03.056" v="36" actId="1076"/>
          <ac:spMkLst>
            <pc:docMk/>
            <pc:sldMk cId="778647377" sldId="295"/>
            <ac:spMk id="53" creationId="{C23DA000-BC8D-8EBF-204D-8D9D4285AA67}"/>
          </ac:spMkLst>
        </pc:spChg>
        <pc:graphicFrameChg chg="mod modGraphic">
          <ac:chgData name="Erika Mae Orlina" userId="46f13291619ae5b2" providerId="Windows Live" clId="Web-{0218A203-5777-0810-6770-37E89A543963}" dt="2025-08-25T23:40:36.506" v="33"/>
          <ac:graphicFrameMkLst>
            <pc:docMk/>
            <pc:sldMk cId="778647377" sldId="295"/>
            <ac:graphicFrameMk id="8" creationId="{AF3295C3-0047-0556-0393-CB13E07022E8}"/>
          </ac:graphicFrameMkLst>
        </pc:graphicFrameChg>
      </pc:sldChg>
      <pc:sldChg chg="mod modShow">
        <pc:chgData name="Erika Mae Orlina" userId="46f13291619ae5b2" providerId="Windows Live" clId="Web-{0218A203-5777-0810-6770-37E89A543963}" dt="2025-08-25T23:49:13.466" v="74"/>
        <pc:sldMkLst>
          <pc:docMk/>
          <pc:sldMk cId="135393160" sldId="298"/>
        </pc:sldMkLst>
      </pc:sldChg>
      <pc:sldChg chg="mod modShow">
        <pc:chgData name="Erika Mae Orlina" userId="46f13291619ae5b2" providerId="Windows Live" clId="Web-{0218A203-5777-0810-6770-37E89A543963}" dt="2025-08-25T23:49:13.466" v="94"/>
        <pc:sldMkLst>
          <pc:docMk/>
          <pc:sldMk cId="2444676766" sldId="299"/>
        </pc:sldMkLst>
      </pc:sldChg>
      <pc:sldChg chg="mod modShow">
        <pc:chgData name="Erika Mae Orlina" userId="46f13291619ae5b2" providerId="Windows Live" clId="Web-{0218A203-5777-0810-6770-37E89A543963}" dt="2025-08-25T23:49:13.466" v="89"/>
        <pc:sldMkLst>
          <pc:docMk/>
          <pc:sldMk cId="816840043" sldId="300"/>
        </pc:sldMkLst>
      </pc:sldChg>
      <pc:sldChg chg="mod modShow">
        <pc:chgData name="Erika Mae Orlina" userId="46f13291619ae5b2" providerId="Windows Live" clId="Web-{0218A203-5777-0810-6770-37E89A543963}" dt="2025-08-25T23:49:13.466" v="86"/>
        <pc:sldMkLst>
          <pc:docMk/>
          <pc:sldMk cId="4165731136" sldId="303"/>
        </pc:sldMkLst>
      </pc:sldChg>
      <pc:sldChg chg="del">
        <pc:chgData name="Erika Mae Orlina" userId="46f13291619ae5b2" providerId="Windows Live" clId="Web-{0218A203-5777-0810-6770-37E89A543963}" dt="2025-08-25T23:39:45.018" v="26"/>
        <pc:sldMkLst>
          <pc:docMk/>
          <pc:sldMk cId="3042507368" sldId="321"/>
        </pc:sldMkLst>
      </pc:sldChg>
      <pc:sldChg chg="mod modShow">
        <pc:chgData name="Erika Mae Orlina" userId="46f13291619ae5b2" providerId="Windows Live" clId="Web-{0218A203-5777-0810-6770-37E89A543963}" dt="2025-08-25T23:49:13.466" v="85"/>
        <pc:sldMkLst>
          <pc:docMk/>
          <pc:sldMk cId="3743660844" sldId="322"/>
        </pc:sldMkLst>
      </pc:sldChg>
      <pc:sldChg chg="mod modShow">
        <pc:chgData name="Erika Mae Orlina" userId="46f13291619ae5b2" providerId="Windows Live" clId="Web-{0218A203-5777-0810-6770-37E89A543963}" dt="2025-08-25T23:49:13.466" v="67"/>
        <pc:sldMkLst>
          <pc:docMk/>
          <pc:sldMk cId="3647558131" sldId="324"/>
        </pc:sldMkLst>
      </pc:sldChg>
      <pc:sldChg chg="mod modShow">
        <pc:chgData name="Erika Mae Orlina" userId="46f13291619ae5b2" providerId="Windows Live" clId="Web-{0218A203-5777-0810-6770-37E89A543963}" dt="2025-08-25T23:49:13.466" v="70"/>
        <pc:sldMkLst>
          <pc:docMk/>
          <pc:sldMk cId="2898064237" sldId="326"/>
        </pc:sldMkLst>
      </pc:sldChg>
      <pc:sldChg chg="mod modShow">
        <pc:chgData name="Erika Mae Orlina" userId="46f13291619ae5b2" providerId="Windows Live" clId="Web-{0218A203-5777-0810-6770-37E89A543963}" dt="2025-08-25T23:49:13.466" v="83"/>
        <pc:sldMkLst>
          <pc:docMk/>
          <pc:sldMk cId="2035054667" sldId="327"/>
        </pc:sldMkLst>
      </pc:sldChg>
      <pc:sldChg chg="mod modShow">
        <pc:chgData name="Erika Mae Orlina" userId="46f13291619ae5b2" providerId="Windows Live" clId="Web-{0218A203-5777-0810-6770-37E89A543963}" dt="2025-08-25T23:49:13.466" v="68"/>
        <pc:sldMkLst>
          <pc:docMk/>
          <pc:sldMk cId="2945574858" sldId="328"/>
        </pc:sldMkLst>
      </pc:sldChg>
      <pc:sldChg chg="mod modShow">
        <pc:chgData name="Erika Mae Orlina" userId="46f13291619ae5b2" providerId="Windows Live" clId="Web-{0218A203-5777-0810-6770-37E89A543963}" dt="2025-08-25T23:49:13.466" v="78"/>
        <pc:sldMkLst>
          <pc:docMk/>
          <pc:sldMk cId="3531117762" sldId="336"/>
        </pc:sldMkLst>
      </pc:sldChg>
      <pc:sldChg chg="mod modShow">
        <pc:chgData name="Erika Mae Orlina" userId="46f13291619ae5b2" providerId="Windows Live" clId="Web-{0218A203-5777-0810-6770-37E89A543963}" dt="2025-08-25T23:49:13.466" v="72"/>
        <pc:sldMkLst>
          <pc:docMk/>
          <pc:sldMk cId="3041592947" sldId="337"/>
        </pc:sldMkLst>
      </pc:sldChg>
      <pc:sldChg chg="mod modShow">
        <pc:chgData name="Erika Mae Orlina" userId="46f13291619ae5b2" providerId="Windows Live" clId="Web-{0218A203-5777-0810-6770-37E89A543963}" dt="2025-08-25T23:49:13.466" v="79"/>
        <pc:sldMkLst>
          <pc:docMk/>
          <pc:sldMk cId="2302328587" sldId="338"/>
        </pc:sldMkLst>
      </pc:sldChg>
      <pc:sldChg chg="mod modShow">
        <pc:chgData name="Erika Mae Orlina" userId="46f13291619ae5b2" providerId="Windows Live" clId="Web-{0218A203-5777-0810-6770-37E89A543963}" dt="2025-08-25T23:49:13.466" v="84"/>
        <pc:sldMkLst>
          <pc:docMk/>
          <pc:sldMk cId="2164704227" sldId="339"/>
        </pc:sldMkLst>
      </pc:sldChg>
      <pc:sldChg chg="mod modShow">
        <pc:chgData name="Erika Mae Orlina" userId="46f13291619ae5b2" providerId="Windows Live" clId="Web-{0218A203-5777-0810-6770-37E89A543963}" dt="2025-08-25T23:49:13.466" v="71"/>
        <pc:sldMkLst>
          <pc:docMk/>
          <pc:sldMk cId="1430967595" sldId="341"/>
        </pc:sldMkLst>
      </pc:sldChg>
      <pc:sldChg chg="mod modShow">
        <pc:chgData name="Erika Mae Orlina" userId="46f13291619ae5b2" providerId="Windows Live" clId="Web-{0218A203-5777-0810-6770-37E89A543963}" dt="2025-08-25T23:49:13.466" v="69"/>
        <pc:sldMkLst>
          <pc:docMk/>
          <pc:sldMk cId="1674861411" sldId="342"/>
        </pc:sldMkLst>
      </pc:sldChg>
      <pc:sldChg chg="mod modShow">
        <pc:chgData name="Erika Mae Orlina" userId="46f13291619ae5b2" providerId="Windows Live" clId="Web-{0218A203-5777-0810-6770-37E89A543963}" dt="2025-08-25T23:49:13.481" v="95"/>
        <pc:sldMkLst>
          <pc:docMk/>
          <pc:sldMk cId="1353927845" sldId="343"/>
        </pc:sldMkLst>
      </pc:sldChg>
      <pc:sldChg chg="mod modShow">
        <pc:chgData name="Erika Mae Orlina" userId="46f13291619ae5b2" providerId="Windows Live" clId="Web-{0218A203-5777-0810-6770-37E89A543963}" dt="2025-08-25T23:49:13.466" v="91"/>
        <pc:sldMkLst>
          <pc:docMk/>
          <pc:sldMk cId="1486722348" sldId="346"/>
        </pc:sldMkLst>
      </pc:sldChg>
      <pc:sldChg chg="mod modShow">
        <pc:chgData name="Erika Mae Orlina" userId="46f13291619ae5b2" providerId="Windows Live" clId="Web-{0218A203-5777-0810-6770-37E89A543963}" dt="2025-08-25T23:49:13.466" v="93"/>
        <pc:sldMkLst>
          <pc:docMk/>
          <pc:sldMk cId="4081862695" sldId="348"/>
        </pc:sldMkLst>
      </pc:sldChg>
      <pc:sldChg chg="mod modShow">
        <pc:chgData name="Erika Mae Orlina" userId="46f13291619ae5b2" providerId="Windows Live" clId="Web-{0218A203-5777-0810-6770-37E89A543963}" dt="2025-08-25T23:49:13.466" v="76"/>
        <pc:sldMkLst>
          <pc:docMk/>
          <pc:sldMk cId="2656790861" sldId="350"/>
        </pc:sldMkLst>
      </pc:sldChg>
      <pc:sldChg chg="mod modShow">
        <pc:chgData name="Erika Mae Orlina" userId="46f13291619ae5b2" providerId="Windows Live" clId="Web-{0218A203-5777-0810-6770-37E89A543963}" dt="2025-08-25T23:49:13.466" v="80"/>
        <pc:sldMkLst>
          <pc:docMk/>
          <pc:sldMk cId="2004669697" sldId="352"/>
        </pc:sldMkLst>
      </pc:sldChg>
      <pc:sldChg chg="mod modShow">
        <pc:chgData name="Erika Mae Orlina" userId="46f13291619ae5b2" providerId="Windows Live" clId="Web-{0218A203-5777-0810-6770-37E89A543963}" dt="2025-08-25T23:49:13.466" v="77"/>
        <pc:sldMkLst>
          <pc:docMk/>
          <pc:sldMk cId="347393716" sldId="353"/>
        </pc:sldMkLst>
      </pc:sldChg>
      <pc:sldChg chg="mod modShow">
        <pc:chgData name="Erika Mae Orlina" userId="46f13291619ae5b2" providerId="Windows Live" clId="Web-{0218A203-5777-0810-6770-37E89A543963}" dt="2025-08-25T23:49:13.466" v="75"/>
        <pc:sldMkLst>
          <pc:docMk/>
          <pc:sldMk cId="1656517926" sldId="354"/>
        </pc:sldMkLst>
      </pc:sldChg>
      <pc:sldChg chg="mod modShow">
        <pc:chgData name="Erika Mae Orlina" userId="46f13291619ae5b2" providerId="Windows Live" clId="Web-{0218A203-5777-0810-6770-37E89A543963}" dt="2025-08-25T23:49:13.466" v="73"/>
        <pc:sldMkLst>
          <pc:docMk/>
          <pc:sldMk cId="1678271672" sldId="359"/>
        </pc:sldMkLst>
      </pc:sldChg>
      <pc:sldChg chg="mod modShow">
        <pc:chgData name="Erika Mae Orlina" userId="46f13291619ae5b2" providerId="Windows Live" clId="Web-{0218A203-5777-0810-6770-37E89A543963}" dt="2025-08-25T23:49:13.466" v="90"/>
        <pc:sldMkLst>
          <pc:docMk/>
          <pc:sldMk cId="3288066880" sldId="360"/>
        </pc:sldMkLst>
      </pc:sldChg>
      <pc:sldChg chg="mod modShow">
        <pc:chgData name="Erika Mae Orlina" userId="46f13291619ae5b2" providerId="Windows Live" clId="Web-{0218A203-5777-0810-6770-37E89A543963}" dt="2025-08-25T23:49:13.466" v="92"/>
        <pc:sldMkLst>
          <pc:docMk/>
          <pc:sldMk cId="989536128" sldId="361"/>
        </pc:sldMkLst>
      </pc:sldChg>
      <pc:sldChg chg="mod modShow">
        <pc:chgData name="Erika Mae Orlina" userId="46f13291619ae5b2" providerId="Windows Live" clId="Web-{0218A203-5777-0810-6770-37E89A543963}" dt="2025-08-25T23:49:13.466" v="88"/>
        <pc:sldMkLst>
          <pc:docMk/>
          <pc:sldMk cId="244383714" sldId="3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https://meralco-my.sharepoint.com/personal/rbcanaria_meralco_com_ph/Documents/Paranaque%20CA%20Files/EAM%20MONITORING/Work%20Order%20Monitoring%202025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PCA</a:t>
            </a:r>
            <a:r>
              <a:rPr lang="en-US" b="1" baseline="0"/>
              <a:t> COUNT TARGET AND ACCOMPLISMENT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2.2336318363280146E-2"/>
          <c:y val="7.2477665020421134E-2"/>
          <c:w val="0.95488606011411781"/>
          <c:h val="0.66301667880971416"/>
        </c:manualLayout>
      </c:layout>
      <c:barChart>
        <c:barDir val="col"/>
        <c:grouping val="clustered"/>
        <c:varyColors val="0"/>
        <c:ser>
          <c:idx val="10"/>
          <c:order val="2"/>
          <c:tx>
            <c:strRef>
              <c:f>'PCA SUMMARY'!$A$18</c:f>
              <c:strCache>
                <c:ptCount val="1"/>
                <c:pt idx="0">
                  <c:v>RECEIVED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60-4D81-8EFA-DDDC3287AE18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60-4D81-8EFA-DDDC3287AE18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60-4D81-8EFA-DDDC3287AE18}"/>
                </c:ext>
              </c:extLst>
            </c:dLbl>
            <c:dLbl>
              <c:idx val="3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60-4D81-8EFA-DDDC3287AE18}"/>
                </c:ext>
              </c:extLst>
            </c:dLbl>
            <c:dLbl>
              <c:idx val="4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60-4D81-8EFA-DDDC3287AE18}"/>
                </c:ext>
              </c:extLst>
            </c:dLbl>
            <c:dLbl>
              <c:idx val="5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ysClr val="windowText" lastClr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'PCA SUMMARY'!$B$18:$M$18</c:f>
              <c:numCache>
                <c:formatCode>General</c:formatCode>
                <c:ptCount val="12"/>
                <c:pt idx="0">
                  <c:v>57</c:v>
                </c:pt>
                <c:pt idx="1">
                  <c:v>54</c:v>
                </c:pt>
                <c:pt idx="2">
                  <c:v>44</c:v>
                </c:pt>
                <c:pt idx="3">
                  <c:v>51</c:v>
                </c:pt>
                <c:pt idx="4">
                  <c:v>51</c:v>
                </c:pt>
                <c:pt idx="5">
                  <c:v>52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60-4D81-8EFA-DDDC3287AE18}"/>
            </c:ext>
          </c:extLst>
        </c:ser>
        <c:ser>
          <c:idx val="2"/>
          <c:order val="3"/>
          <c:tx>
            <c:strRef>
              <c:f>'PCA SUMMARY'!$A$14</c:f>
              <c:strCache>
                <c:ptCount val="1"/>
                <c:pt idx="0">
                  <c:v>COMPLETED (Revenue)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60-4D81-8EFA-DDDC3287AE18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B60-4D81-8EFA-DDDC3287AE18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B60-4D81-8EFA-DDDC3287AE18}"/>
                </c:ext>
              </c:extLst>
            </c:dLbl>
            <c:dLbl>
              <c:idx val="3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B60-4D81-8EFA-DDDC3287AE18}"/>
                </c:ext>
              </c:extLst>
            </c:dLbl>
            <c:dLbl>
              <c:idx val="4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B60-4D81-8EFA-DDDC3287AE18}"/>
                </c:ext>
              </c:extLst>
            </c:dLbl>
            <c:dLbl>
              <c:idx val="5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SUMMARY'!$B$14:$M$14</c:f>
              <c:numCache>
                <c:formatCode>General</c:formatCode>
                <c:ptCount val="12"/>
                <c:pt idx="0">
                  <c:v>43</c:v>
                </c:pt>
                <c:pt idx="1">
                  <c:v>42</c:v>
                </c:pt>
                <c:pt idx="2">
                  <c:v>54</c:v>
                </c:pt>
                <c:pt idx="3">
                  <c:v>32</c:v>
                </c:pt>
                <c:pt idx="4">
                  <c:v>55</c:v>
                </c:pt>
                <c:pt idx="5">
                  <c:v>45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B60-4D81-8EFA-DDDC3287AE18}"/>
            </c:ext>
          </c:extLst>
        </c:ser>
        <c:ser>
          <c:idx val="3"/>
          <c:order val="4"/>
          <c:tx>
            <c:strRef>
              <c:f>'PCA SUMMARY'!$A$16</c:f>
              <c:strCache>
                <c:ptCount val="1"/>
                <c:pt idx="0">
                  <c:v>COMPLETED (released 2024 &amp; prior)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B60-4D81-8EFA-DDDC3287AE18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B60-4D81-8EFA-DDDC3287AE18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B60-4D81-8EFA-DDDC3287AE18}"/>
                </c:ext>
              </c:extLst>
            </c:dLbl>
            <c:dLbl>
              <c:idx val="3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B60-4D81-8EFA-DDDC3287AE18}"/>
                </c:ext>
              </c:extLst>
            </c:dLbl>
            <c:dLbl>
              <c:idx val="4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B60-4D81-8EFA-DDDC3287AE18}"/>
                </c:ext>
              </c:extLst>
            </c:dLbl>
            <c:dLbl>
              <c:idx val="5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SUMMARY'!$B$16:$M$16</c:f>
              <c:numCache>
                <c:formatCode>General</c:formatCode>
                <c:ptCount val="12"/>
                <c:pt idx="0">
                  <c:v>34</c:v>
                </c:pt>
                <c:pt idx="1">
                  <c:v>12</c:v>
                </c:pt>
                <c:pt idx="2">
                  <c:v>15</c:v>
                </c:pt>
                <c:pt idx="3">
                  <c:v>6</c:v>
                </c:pt>
                <c:pt idx="4">
                  <c:v>8</c:v>
                </c:pt>
                <c:pt idx="5">
                  <c:v>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B60-4D81-8EFA-DDDC3287AE18}"/>
            </c:ext>
          </c:extLst>
        </c:ser>
        <c:ser>
          <c:idx val="7"/>
          <c:order val="8"/>
          <c:tx>
            <c:strRef>
              <c:f>'PCA SUMMARY'!$A$17</c:f>
              <c:strCache>
                <c:ptCount val="1"/>
                <c:pt idx="0">
                  <c:v>COMPLETED (Non-Revenue)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B60-4D81-8EFA-DDDC3287AE18}"/>
                </c:ext>
              </c:extLst>
            </c:dLbl>
            <c:dLbl>
              <c:idx val="1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B60-4D81-8EFA-DDDC3287AE18}"/>
                </c:ext>
              </c:extLst>
            </c:dLbl>
            <c:dLbl>
              <c:idx val="2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B60-4D81-8EFA-DDDC3287AE18}"/>
                </c:ext>
              </c:extLst>
            </c:dLbl>
            <c:dLbl>
              <c:idx val="3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B60-4D81-8EFA-DDDC3287AE18}"/>
                </c:ext>
              </c:extLst>
            </c:dLbl>
            <c:dLbl>
              <c:idx val="4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B60-4D81-8EFA-DDDC3287AE18}"/>
                </c:ext>
              </c:extLst>
            </c:dLbl>
            <c:dLbl>
              <c:idx val="5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ysClr val="windowText" lastClr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SUMMARY'!$B$17:$M$17</c:f>
              <c:numCache>
                <c:formatCode>General</c:formatCode>
                <c:ptCount val="12"/>
                <c:pt idx="0">
                  <c:v>20</c:v>
                </c:pt>
                <c:pt idx="1">
                  <c:v>19</c:v>
                </c:pt>
                <c:pt idx="2">
                  <c:v>28</c:v>
                </c:pt>
                <c:pt idx="3">
                  <c:v>32</c:v>
                </c:pt>
                <c:pt idx="4">
                  <c:v>27</c:v>
                </c:pt>
                <c:pt idx="5">
                  <c:v>29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CB60-4D81-8EFA-DDDC3287AE18}"/>
            </c:ext>
          </c:extLst>
        </c:ser>
        <c:ser>
          <c:idx val="9"/>
          <c:order val="10"/>
          <c:tx>
            <c:v>COMPLETED UG/SLEM</c:v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7.112777853386046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B60-4D81-8EFA-DDDC3287AE18}"/>
                </c:ext>
              </c:extLst>
            </c:dLbl>
            <c:dLbl>
              <c:idx val="1"/>
              <c:layout>
                <c:manualLayout>
                  <c:x val="0"/>
                  <c:y val="3.55638892669302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B60-4D81-8EFA-DDDC3287AE18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CB60-4D81-8EFA-DDDC3287AE1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CB60-4D81-8EFA-DDDC3287AE18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CB60-4D81-8EFA-DDDC3287AE18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'PCA SUMMARY'!$B$15:$M$15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CB60-4D81-8EFA-DDDC3287A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5"/>
        <c:overlap val="-14"/>
        <c:axId val="851528991"/>
        <c:axId val="851531071"/>
      </c:barChart>
      <c:lineChart>
        <c:grouping val="standard"/>
        <c:varyColors val="0"/>
        <c:ser>
          <c:idx val="1"/>
          <c:order val="1"/>
          <c:tx>
            <c:strRef>
              <c:f>'PCA SUMMARY'!$A$12</c:f>
              <c:strCache>
                <c:ptCount val="1"/>
                <c:pt idx="0">
                  <c:v>Monthly Target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3.541540811842369E-2"/>
                  <c:y val="-3.6552117339552256E-2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SUMMARY'!$B$12:$M$12</c:f>
              <c:numCache>
                <c:formatCode>General</c:formatCode>
                <c:ptCount val="12"/>
                <c:pt idx="0">
                  <c:v>51</c:v>
                </c:pt>
                <c:pt idx="1">
                  <c:v>51</c:v>
                </c:pt>
                <c:pt idx="2">
                  <c:v>51</c:v>
                </c:pt>
                <c:pt idx="3">
                  <c:v>51</c:v>
                </c:pt>
                <c:pt idx="4">
                  <c:v>51</c:v>
                </c:pt>
                <c:pt idx="5">
                  <c:v>51</c:v>
                </c:pt>
                <c:pt idx="6">
                  <c:v>51</c:v>
                </c:pt>
                <c:pt idx="7">
                  <c:v>51</c:v>
                </c:pt>
                <c:pt idx="8">
                  <c:v>51</c:v>
                </c:pt>
                <c:pt idx="9">
                  <c:v>51</c:v>
                </c:pt>
                <c:pt idx="10">
                  <c:v>51</c:v>
                </c:pt>
                <c:pt idx="11">
                  <c:v>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4-CB60-4D81-8EFA-DDDC3287AE18}"/>
            </c:ext>
          </c:extLst>
        </c:ser>
        <c:ser>
          <c:idx val="8"/>
          <c:order val="9"/>
          <c:tx>
            <c:strRef>
              <c:f>'PCA SUMMARY'!$A$23</c:f>
              <c:strCache>
                <c:ptCount val="1"/>
                <c:pt idx="0">
                  <c:v>REMAINING 2024 AGEING PCA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B60-4D81-8EFA-DDDC3287AE18}"/>
                </c:ext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CB60-4D81-8EFA-DDDC3287AE18}"/>
                </c:ext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B60-4D81-8EFA-DDDC3287AE18}"/>
                </c:ext>
              </c:extLst>
            </c:dLbl>
            <c:dLbl>
              <c:idx val="3"/>
              <c:layout>
                <c:manualLayout>
                  <c:x val="-1.1353317468359837E-2"/>
                  <c:y val="-3.06144201000677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CB60-4D81-8EFA-DDDC3287AE18}"/>
                </c:ext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B60-4D81-8EFA-DDDC3287AE18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SUMMARY'!$B$23:$M$23</c:f>
              <c:numCache>
                <c:formatCode>General</c:formatCode>
                <c:ptCount val="12"/>
                <c:pt idx="0">
                  <c:v>77</c:v>
                </c:pt>
                <c:pt idx="1">
                  <c:v>61</c:v>
                </c:pt>
                <c:pt idx="2">
                  <c:v>42</c:v>
                </c:pt>
                <c:pt idx="3">
                  <c:v>33</c:v>
                </c:pt>
                <c:pt idx="4">
                  <c:v>25</c:v>
                </c:pt>
                <c:pt idx="5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B-CB60-4D81-8EFA-DDDC3287A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1528991"/>
        <c:axId val="851531071"/>
      </c:lineChart>
      <c:lineChart>
        <c:grouping val="standard"/>
        <c:varyColors val="0"/>
        <c:ser>
          <c:idx val="4"/>
          <c:order val="5"/>
          <c:tx>
            <c:strRef>
              <c:f>'PCA SUMMARY'!$A$19</c:f>
              <c:strCache>
                <c:ptCount val="1"/>
                <c:pt idx="0">
                  <c:v>YTD STRETCH</c:v>
                </c:pt>
              </c:strCache>
            </c:strRef>
          </c:tx>
          <c:spPr>
            <a:ln w="9525" cap="rnd">
              <a:solidFill>
                <a:schemeClr val="accent5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0"/>
                  <c:y val="-2.15808939418012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SUMMARY'!$B$19:$M$19</c:f>
              <c:numCache>
                <c:formatCode>General</c:formatCode>
                <c:ptCount val="12"/>
                <c:pt idx="0">
                  <c:v>52</c:v>
                </c:pt>
                <c:pt idx="1">
                  <c:v>104</c:v>
                </c:pt>
                <c:pt idx="2">
                  <c:v>156</c:v>
                </c:pt>
                <c:pt idx="3">
                  <c:v>208</c:v>
                </c:pt>
                <c:pt idx="4">
                  <c:v>260</c:v>
                </c:pt>
                <c:pt idx="5">
                  <c:v>312</c:v>
                </c:pt>
                <c:pt idx="6">
                  <c:v>364</c:v>
                </c:pt>
                <c:pt idx="7">
                  <c:v>416</c:v>
                </c:pt>
                <c:pt idx="8">
                  <c:v>468</c:v>
                </c:pt>
                <c:pt idx="9">
                  <c:v>520</c:v>
                </c:pt>
                <c:pt idx="10">
                  <c:v>572</c:v>
                </c:pt>
                <c:pt idx="11">
                  <c:v>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D-CB60-4D81-8EFA-DDDC3287AE18}"/>
            </c:ext>
          </c:extLst>
        </c:ser>
        <c:ser>
          <c:idx val="5"/>
          <c:order val="6"/>
          <c:tx>
            <c:strRef>
              <c:f>'PCA SUMMARY'!$A$20</c:f>
              <c:strCache>
                <c:ptCount val="1"/>
                <c:pt idx="0">
                  <c:v>YTD TARGET</c:v>
                </c:pt>
              </c:strCache>
            </c:strRef>
          </c:tx>
          <c:spPr>
            <a:ln w="1270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SUMMARY'!$B$20:$M$20</c:f>
              <c:numCache>
                <c:formatCode>General</c:formatCode>
                <c:ptCount val="12"/>
                <c:pt idx="0">
                  <c:v>51</c:v>
                </c:pt>
                <c:pt idx="1">
                  <c:v>102</c:v>
                </c:pt>
                <c:pt idx="2">
                  <c:v>153</c:v>
                </c:pt>
                <c:pt idx="3">
                  <c:v>204</c:v>
                </c:pt>
                <c:pt idx="4">
                  <c:v>255</c:v>
                </c:pt>
                <c:pt idx="5">
                  <c:v>306</c:v>
                </c:pt>
                <c:pt idx="6">
                  <c:v>357</c:v>
                </c:pt>
                <c:pt idx="7">
                  <c:v>408</c:v>
                </c:pt>
                <c:pt idx="8">
                  <c:v>459</c:v>
                </c:pt>
                <c:pt idx="9">
                  <c:v>510</c:v>
                </c:pt>
                <c:pt idx="10">
                  <c:v>561</c:v>
                </c:pt>
                <c:pt idx="11">
                  <c:v>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E-CB60-4D81-8EFA-DDDC3287AE18}"/>
            </c:ext>
          </c:extLst>
        </c:ser>
        <c:ser>
          <c:idx val="6"/>
          <c:order val="7"/>
          <c:tx>
            <c:strRef>
              <c:f>'PCA SUMMARY'!$A$21</c:f>
              <c:strCache>
                <c:ptCount val="1"/>
                <c:pt idx="0">
                  <c:v>YTD ACTUAL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CB60-4D81-8EFA-DDDC3287AE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'PCA SUMMARY'!$B$10:$M$10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'PCA SUMMARY'!$B$21:$M$21</c:f>
              <c:numCache>
                <c:formatCode>General</c:formatCode>
                <c:ptCount val="12"/>
                <c:pt idx="0">
                  <c:v>44</c:v>
                </c:pt>
                <c:pt idx="1">
                  <c:v>87</c:v>
                </c:pt>
                <c:pt idx="2">
                  <c:v>143</c:v>
                </c:pt>
                <c:pt idx="3">
                  <c:v>175</c:v>
                </c:pt>
                <c:pt idx="4">
                  <c:v>231</c:v>
                </c:pt>
                <c:pt idx="5">
                  <c:v>277</c:v>
                </c:pt>
                <c:pt idx="6">
                  <c:v>277</c:v>
                </c:pt>
                <c:pt idx="7">
                  <c:v>277</c:v>
                </c:pt>
                <c:pt idx="8">
                  <c:v>277</c:v>
                </c:pt>
                <c:pt idx="9">
                  <c:v>277</c:v>
                </c:pt>
                <c:pt idx="10">
                  <c:v>277</c:v>
                </c:pt>
                <c:pt idx="11">
                  <c:v>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0-CB60-4D81-8EFA-DDDC3287A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1516511"/>
        <c:axId val="851512351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'PCA SUMMARY'!$A$11</c15:sqref>
                        </c15:formulaRef>
                      </c:ext>
                    </c:extLst>
                    <c:strCache>
                      <c:ptCount val="1"/>
                      <c:pt idx="0">
                        <c:v>Monthly Stretch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9"/>
                    <c:layout>
                      <c:manualLayout>
                        <c:x val="-1.9560524305222114E-3"/>
                        <c:y val="-0.10121052633072884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31-CB60-4D81-8EFA-DDDC3287AE18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'PCA SUMMARY'!$B$10:$M$10</c15:sqref>
                        </c15:formulaRef>
                      </c:ext>
                    </c:extLst>
                    <c:strCache>
                      <c:ptCount val="12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</c:v>
                      </c:pt>
                      <c:pt idx="4">
                        <c:v>MAY</c:v>
                      </c:pt>
                      <c:pt idx="5">
                        <c:v>JUN</c:v>
                      </c:pt>
                      <c:pt idx="6">
                        <c:v>JUL</c:v>
                      </c:pt>
                      <c:pt idx="7">
                        <c:v>AUG</c:v>
                      </c:pt>
                      <c:pt idx="8">
                        <c:v>SEP</c:v>
                      </c:pt>
                      <c:pt idx="9">
                        <c:v>OCT</c:v>
                      </c:pt>
                      <c:pt idx="10">
                        <c:v>NOV</c:v>
                      </c:pt>
                      <c:pt idx="11">
                        <c:v>DEC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'PCA SUMMARY'!$B$11:$M$11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52</c:v>
                      </c:pt>
                      <c:pt idx="1">
                        <c:v>52</c:v>
                      </c:pt>
                      <c:pt idx="2">
                        <c:v>52</c:v>
                      </c:pt>
                      <c:pt idx="3">
                        <c:v>52</c:v>
                      </c:pt>
                      <c:pt idx="4">
                        <c:v>52</c:v>
                      </c:pt>
                      <c:pt idx="5">
                        <c:v>52</c:v>
                      </c:pt>
                      <c:pt idx="6">
                        <c:v>52</c:v>
                      </c:pt>
                      <c:pt idx="7">
                        <c:v>52</c:v>
                      </c:pt>
                      <c:pt idx="8">
                        <c:v>52</c:v>
                      </c:pt>
                      <c:pt idx="9">
                        <c:v>52</c:v>
                      </c:pt>
                      <c:pt idx="10">
                        <c:v>52</c:v>
                      </c:pt>
                      <c:pt idx="11">
                        <c:v>52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32-CB60-4D81-8EFA-DDDC3287AE18}"/>
                  </c:ext>
                </c:extLst>
              </c15:ser>
            </c15:filteredLineSeries>
          </c:ext>
        </c:extLst>
      </c:lineChart>
      <c:catAx>
        <c:axId val="851528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531071"/>
        <c:crosses val="autoZero"/>
        <c:auto val="1"/>
        <c:lblAlgn val="ctr"/>
        <c:lblOffset val="100"/>
        <c:noMultiLvlLbl val="0"/>
      </c:catAx>
      <c:valAx>
        <c:axId val="85153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528991"/>
        <c:crosses val="autoZero"/>
        <c:crossBetween val="between"/>
      </c:valAx>
      <c:valAx>
        <c:axId val="85151235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516511"/>
        <c:crosses val="max"/>
        <c:crossBetween val="between"/>
      </c:valAx>
      <c:catAx>
        <c:axId val="8515165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515123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854044295784874E-3"/>
          <c:y val="0.82065884743485651"/>
          <c:w val="0.99173474662775507"/>
          <c:h val="0.155384635940433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62C8D-7F9B-4360-96F8-F40DE3A4658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9E87F-5B34-4288-B662-C95C0BF3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2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Action plans: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23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46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Action plans: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5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40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47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22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2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03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07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82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00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00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27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29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68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74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7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9E87F-5B34-4288-B662-C95C0BF3B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30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35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35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75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73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95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98A811-4EBD-47FD-B7FD-E32C3FEB203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38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7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3D543-0710-DC4A-9D0A-E27C730E52CE}"/>
              </a:ext>
            </a:extLst>
          </p:cNvPr>
          <p:cNvSpPr/>
          <p:nvPr userDrawn="1"/>
        </p:nvSpPr>
        <p:spPr>
          <a:xfrm>
            <a:off x="10104782" y="18929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EBEEB9D-B8F2-384D-9545-4C72DC4EA3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713" y="80865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5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77AA1A-67E9-9247-81BA-AF725E9606CD}"/>
              </a:ext>
            </a:extLst>
          </p:cNvPr>
          <p:cNvSpPr/>
          <p:nvPr userDrawn="1"/>
        </p:nvSpPr>
        <p:spPr>
          <a:xfrm>
            <a:off x="10318472" y="23136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49B96846-A9CE-2143-82BB-B7CE363A36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54" y="78831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9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702CB1-8001-1649-93AC-4DD4730354F0}"/>
              </a:ext>
            </a:extLst>
          </p:cNvPr>
          <p:cNvSpPr/>
          <p:nvPr userDrawn="1"/>
        </p:nvSpPr>
        <p:spPr>
          <a:xfrm>
            <a:off x="10263809" y="6345099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C27047A0-5B20-3746-8C09-E6A06E56FA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54" y="6228880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3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D2DDC-875E-EC43-8E07-B1CC7D7EFFE3}"/>
              </a:ext>
            </a:extLst>
          </p:cNvPr>
          <p:cNvSpPr/>
          <p:nvPr userDrawn="1"/>
        </p:nvSpPr>
        <p:spPr>
          <a:xfrm>
            <a:off x="10104782" y="189292"/>
            <a:ext cx="1341783" cy="387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A97BD88-FE9C-2E44-B940-BF9E2CC4EE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965" y="80865"/>
            <a:ext cx="1477617" cy="6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002AA-5F89-4AFB-9B5B-06C55C20619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0D369-4B0C-4CD1-84AE-80DE5399F118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: Rounded Corners 6">
            <a:extLst>
              <a:ext uri="{FF2B5EF4-FFF2-40B4-BE49-F238E27FC236}">
                <a16:creationId xmlns:a16="http://schemas.microsoft.com/office/drawing/2014/main" id="{E3AF7382-C911-924A-B0AE-46C9CFF1E017}"/>
              </a:ext>
            </a:extLst>
          </p:cNvPr>
          <p:cNvSpPr/>
          <p:nvPr userDrawn="1"/>
        </p:nvSpPr>
        <p:spPr>
          <a:xfrm>
            <a:off x="1128875" y="7180067"/>
            <a:ext cx="9560147" cy="69821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B4A426-64CC-F44A-ADB7-09E9AE6089A2}"/>
              </a:ext>
            </a:extLst>
          </p:cNvPr>
          <p:cNvGrpSpPr/>
          <p:nvPr userDrawn="1"/>
        </p:nvGrpSpPr>
        <p:grpSpPr>
          <a:xfrm>
            <a:off x="1128875" y="7180067"/>
            <a:ext cx="9440125" cy="702706"/>
            <a:chOff x="369854" y="1934860"/>
            <a:chExt cx="7866771" cy="65878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8A39FC5-388F-E04B-822B-701584C0270D}"/>
                </a:ext>
              </a:extLst>
            </p:cNvPr>
            <p:cNvGrpSpPr/>
            <p:nvPr/>
          </p:nvGrpSpPr>
          <p:grpSpPr>
            <a:xfrm>
              <a:off x="1622612" y="1946353"/>
              <a:ext cx="1374865" cy="647292"/>
              <a:chOff x="1622612" y="1946353"/>
              <a:chExt cx="1374865" cy="647292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878C817-0AFA-964C-B107-9CA75F4676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744521" y="2133196"/>
                <a:ext cx="274320" cy="274320"/>
              </a:xfrm>
              <a:prstGeom prst="rect">
                <a:avLst/>
              </a:prstGeom>
              <a:solidFill>
                <a:srgbClr val="00B7BD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79AED8D-3373-104C-AE93-2B3F0B4DEE76}"/>
                  </a:ext>
                </a:extLst>
              </p:cNvPr>
              <p:cNvSpPr/>
              <p:nvPr/>
            </p:nvSpPr>
            <p:spPr>
              <a:xfrm>
                <a:off x="2396945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9BD5B3-AF60-D34A-8CCE-E3B3DC612973}"/>
                  </a:ext>
                </a:extLst>
              </p:cNvPr>
              <p:cNvSpPr txBox="1"/>
              <p:nvPr/>
            </p:nvSpPr>
            <p:spPr>
              <a:xfrm>
                <a:off x="1686075" y="1946353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#00B7BD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80D72E5-DEAF-5C4E-A6DB-0EFB075AA74A}"/>
                  </a:ext>
                </a:extLst>
              </p:cNvPr>
              <p:cNvSpPr/>
              <p:nvPr/>
            </p:nvSpPr>
            <p:spPr>
              <a:xfrm>
                <a:off x="2723157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B629EB6-3FBB-694A-A8A8-BAE85A9092E7}"/>
                  </a:ext>
                </a:extLst>
              </p:cNvPr>
              <p:cNvSpPr/>
              <p:nvPr/>
            </p:nvSpPr>
            <p:spPr>
              <a:xfrm>
                <a:off x="2070733" y="2133196"/>
                <a:ext cx="274320" cy="274320"/>
              </a:xfrm>
              <a:prstGeom prst="rect">
                <a:avLst/>
              </a:prstGeom>
              <a:solidFill>
                <a:srgbClr val="02BCBC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49B65D1-2321-864B-A0D0-2A69757F3773}"/>
                  </a:ext>
                </a:extLst>
              </p:cNvPr>
              <p:cNvSpPr txBox="1"/>
              <p:nvPr/>
            </p:nvSpPr>
            <p:spPr>
              <a:xfrm>
                <a:off x="1622612" y="2368583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SKY BLUE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2A90294-5C0F-AE4C-96DC-C0ECF68E57CC}"/>
                </a:ext>
              </a:extLst>
            </p:cNvPr>
            <p:cNvGrpSpPr/>
            <p:nvPr/>
          </p:nvGrpSpPr>
          <p:grpSpPr>
            <a:xfrm>
              <a:off x="2961700" y="1934860"/>
              <a:ext cx="1340625" cy="658785"/>
              <a:chOff x="2961700" y="1934860"/>
              <a:chExt cx="1340625" cy="658785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850939C2-4032-C24A-A81F-0D72C8EF25A9}"/>
                  </a:ext>
                </a:extLst>
              </p:cNvPr>
              <p:cNvSpPr/>
              <p:nvPr/>
            </p:nvSpPr>
            <p:spPr>
              <a:xfrm>
                <a:off x="3049369" y="2133196"/>
                <a:ext cx="274320" cy="274320"/>
              </a:xfrm>
              <a:prstGeom prst="rect">
                <a:avLst/>
              </a:prstGeom>
              <a:solidFill>
                <a:srgbClr val="3CDBC0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3D2446D-08A3-BE4C-850A-E515A49AEC6F}"/>
                  </a:ext>
                </a:extLst>
              </p:cNvPr>
              <p:cNvSpPr/>
              <p:nvPr/>
            </p:nvSpPr>
            <p:spPr>
              <a:xfrm>
                <a:off x="3701793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096D6EA-082B-5644-868E-1C469DBA062A}"/>
                  </a:ext>
                </a:extLst>
              </p:cNvPr>
              <p:cNvSpPr txBox="1"/>
              <p:nvPr/>
            </p:nvSpPr>
            <p:spPr>
              <a:xfrm>
                <a:off x="2961700" y="1934860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#3CDBC0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828089D-3759-2549-9544-D5F4B2A1F55D}"/>
                  </a:ext>
                </a:extLst>
              </p:cNvPr>
              <p:cNvSpPr/>
              <p:nvPr/>
            </p:nvSpPr>
            <p:spPr>
              <a:xfrm>
                <a:off x="4028005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879796DF-8E3F-E846-9D79-4B7C81443816}"/>
                  </a:ext>
                </a:extLst>
              </p:cNvPr>
              <p:cNvSpPr/>
              <p:nvPr/>
            </p:nvSpPr>
            <p:spPr>
              <a:xfrm>
                <a:off x="3375581" y="2133196"/>
                <a:ext cx="274320" cy="274320"/>
              </a:xfrm>
              <a:prstGeom prst="rect">
                <a:avLst/>
              </a:prstGeom>
              <a:solidFill>
                <a:srgbClr val="3AF7BA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BDC1545-703C-7B4E-B127-C4A4D286203A}"/>
                  </a:ext>
                </a:extLst>
              </p:cNvPr>
              <p:cNvSpPr txBox="1"/>
              <p:nvPr/>
            </p:nvSpPr>
            <p:spPr>
              <a:xfrm>
                <a:off x="2961700" y="2368583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SEAFOAM GREEN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59AE525-BD91-E640-AB48-CE17AA23566E}"/>
                </a:ext>
              </a:extLst>
            </p:cNvPr>
            <p:cNvGrpSpPr/>
            <p:nvPr/>
          </p:nvGrpSpPr>
          <p:grpSpPr>
            <a:xfrm>
              <a:off x="369854" y="1934860"/>
              <a:ext cx="1326014" cy="657732"/>
              <a:chOff x="369854" y="1934860"/>
              <a:chExt cx="1326014" cy="657732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08838CC-2260-B846-8CC5-29087B6C13A7}"/>
                  </a:ext>
                </a:extLst>
              </p:cNvPr>
              <p:cNvSpPr/>
              <p:nvPr/>
            </p:nvSpPr>
            <p:spPr>
              <a:xfrm>
                <a:off x="442912" y="2133196"/>
                <a:ext cx="274320" cy="274320"/>
              </a:xfrm>
              <a:prstGeom prst="rect">
                <a:avLst/>
              </a:prstGeom>
              <a:solidFill>
                <a:srgbClr val="171C8F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0F8817F-26CA-7E4C-AE3A-8EA328DA8683}"/>
                  </a:ext>
                </a:extLst>
              </p:cNvPr>
              <p:cNvSpPr/>
              <p:nvPr/>
            </p:nvSpPr>
            <p:spPr>
              <a:xfrm>
                <a:off x="1095336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2171AF2-AEB3-1B4E-AA32-CA385BDC6DFF}"/>
                  </a:ext>
                </a:extLst>
              </p:cNvPr>
              <p:cNvSpPr txBox="1"/>
              <p:nvPr/>
            </p:nvSpPr>
            <p:spPr>
              <a:xfrm>
                <a:off x="369854" y="1934860"/>
                <a:ext cx="769316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#171C8F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8FBDFA3-2CB9-084F-9752-880CF1E49970}"/>
                  </a:ext>
                </a:extLst>
              </p:cNvPr>
              <p:cNvSpPr/>
              <p:nvPr/>
            </p:nvSpPr>
            <p:spPr>
              <a:xfrm>
                <a:off x="1421548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48B1B3F-AF88-C441-8018-28698D7EDE32}"/>
                  </a:ext>
                </a:extLst>
              </p:cNvPr>
              <p:cNvSpPr/>
              <p:nvPr/>
            </p:nvSpPr>
            <p:spPr>
              <a:xfrm>
                <a:off x="769124" y="2133196"/>
                <a:ext cx="274320" cy="274320"/>
              </a:xfrm>
              <a:prstGeom prst="rect">
                <a:avLst/>
              </a:prstGeom>
              <a:solidFill>
                <a:srgbClr val="171C8F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4D8E9F6-6781-F044-9785-4F6E7F7FCC9B}"/>
                  </a:ext>
                </a:extLst>
              </p:cNvPr>
              <p:cNvSpPr txBox="1"/>
              <p:nvPr/>
            </p:nvSpPr>
            <p:spPr>
              <a:xfrm>
                <a:off x="392801" y="2367530"/>
                <a:ext cx="1177198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ELECTRIC BLUE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B527667-55F6-FB40-82FA-9880DEF6A929}"/>
                </a:ext>
              </a:extLst>
            </p:cNvPr>
            <p:cNvGrpSpPr/>
            <p:nvPr/>
          </p:nvGrpSpPr>
          <p:grpSpPr>
            <a:xfrm>
              <a:off x="6888694" y="1946353"/>
              <a:ext cx="1347931" cy="645185"/>
              <a:chOff x="4542114" y="2077836"/>
              <a:chExt cx="1347931" cy="645185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4584D0E-C9EE-4B40-A03F-3EFFF3777717}"/>
                  </a:ext>
                </a:extLst>
              </p:cNvPr>
              <p:cNvSpPr/>
              <p:nvPr/>
            </p:nvSpPr>
            <p:spPr>
              <a:xfrm>
                <a:off x="4637089" y="2264679"/>
                <a:ext cx="274320" cy="274320"/>
              </a:xfrm>
              <a:prstGeom prst="rect">
                <a:avLst/>
              </a:prstGeom>
              <a:solidFill>
                <a:srgbClr val="EF426F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D975154-5173-C14F-95E9-2604B78E5D7A}"/>
                  </a:ext>
                </a:extLst>
              </p:cNvPr>
              <p:cNvSpPr/>
              <p:nvPr/>
            </p:nvSpPr>
            <p:spPr>
              <a:xfrm>
                <a:off x="5289513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49804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8B52E5-87AD-A842-820D-48AF05E0081F}"/>
                  </a:ext>
                </a:extLst>
              </p:cNvPr>
              <p:cNvSpPr txBox="1"/>
              <p:nvPr/>
            </p:nvSpPr>
            <p:spPr>
              <a:xfrm>
                <a:off x="4542114" y="2077836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#EF426F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6FB28E7-F062-734E-9586-043959FEE3FA}"/>
                  </a:ext>
                </a:extLst>
              </p:cNvPr>
              <p:cNvSpPr/>
              <p:nvPr/>
            </p:nvSpPr>
            <p:spPr>
              <a:xfrm>
                <a:off x="5615725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2470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BDFCD01-580D-6F42-9314-FD33F91CD1CA}"/>
                  </a:ext>
                </a:extLst>
              </p:cNvPr>
              <p:cNvSpPr/>
              <p:nvPr/>
            </p:nvSpPr>
            <p:spPr>
              <a:xfrm>
                <a:off x="4963301" y="2264679"/>
                <a:ext cx="274320" cy="274320"/>
              </a:xfrm>
              <a:prstGeom prst="rect">
                <a:avLst/>
              </a:prstGeom>
              <a:solidFill>
                <a:srgbClr val="EF4D6A">
                  <a:alpha val="74902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721855C-FFFD-264F-80FF-449ED40D67A7}"/>
                  </a:ext>
                </a:extLst>
              </p:cNvPr>
              <p:cNvSpPr txBox="1"/>
              <p:nvPr/>
            </p:nvSpPr>
            <p:spPr>
              <a:xfrm>
                <a:off x="4552824" y="2497960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ELEGANT CERISE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A426D4A-76CF-9C45-9CF7-5F7B2736B4CB}"/>
                </a:ext>
              </a:extLst>
            </p:cNvPr>
            <p:cNvGrpSpPr/>
            <p:nvPr/>
          </p:nvGrpSpPr>
          <p:grpSpPr>
            <a:xfrm>
              <a:off x="4258405" y="1934860"/>
              <a:ext cx="1352726" cy="655625"/>
              <a:chOff x="4258405" y="1934860"/>
              <a:chExt cx="1352726" cy="655625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3D36197-199E-5F49-878B-AF6A9262B5A0}"/>
                  </a:ext>
                </a:extLst>
              </p:cNvPr>
              <p:cNvSpPr/>
              <p:nvPr/>
            </p:nvSpPr>
            <p:spPr>
              <a:xfrm>
                <a:off x="4358175" y="2133196"/>
                <a:ext cx="274320" cy="274320"/>
              </a:xfrm>
              <a:prstGeom prst="rect">
                <a:avLst/>
              </a:prstGeom>
              <a:solidFill>
                <a:srgbClr val="84BD00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CC27E58-89FB-CB42-B3B9-E54C72A1F19D}"/>
                  </a:ext>
                </a:extLst>
              </p:cNvPr>
              <p:cNvSpPr/>
              <p:nvPr/>
            </p:nvSpPr>
            <p:spPr>
              <a:xfrm>
                <a:off x="5010599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5019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E8312C0-0B79-7143-9E6F-ADA66D0DE715}"/>
                  </a:ext>
                </a:extLst>
              </p:cNvPr>
              <p:cNvSpPr txBox="1"/>
              <p:nvPr/>
            </p:nvSpPr>
            <p:spPr>
              <a:xfrm>
                <a:off x="4258405" y="1934860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#84BD00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8397367-DF29-2A4D-864B-C2E8FED64D73}"/>
                  </a:ext>
                </a:extLst>
              </p:cNvPr>
              <p:cNvSpPr/>
              <p:nvPr/>
            </p:nvSpPr>
            <p:spPr>
              <a:xfrm>
                <a:off x="5336811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2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7B3A75-2201-A046-91E9-820BC9DCDA4F}"/>
                  </a:ext>
                </a:extLst>
              </p:cNvPr>
              <p:cNvSpPr/>
              <p:nvPr/>
            </p:nvSpPr>
            <p:spPr>
              <a:xfrm>
                <a:off x="4684387" y="2133196"/>
                <a:ext cx="274320" cy="274320"/>
              </a:xfrm>
              <a:prstGeom prst="rect">
                <a:avLst/>
              </a:prstGeom>
              <a:solidFill>
                <a:srgbClr val="7EB800">
                  <a:alpha val="7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428024-BE80-F347-AEDA-807B0E487F6E}"/>
                  </a:ext>
                </a:extLst>
              </p:cNvPr>
              <p:cNvSpPr txBox="1"/>
              <p:nvPr/>
            </p:nvSpPr>
            <p:spPr>
              <a:xfrm>
                <a:off x="4275610" y="2365424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ORGANIC GREEN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0F9F9F1-45CD-FC49-BB38-FE4723394AB7}"/>
                </a:ext>
              </a:extLst>
            </p:cNvPr>
            <p:cNvGrpSpPr/>
            <p:nvPr/>
          </p:nvGrpSpPr>
          <p:grpSpPr>
            <a:xfrm>
              <a:off x="5552685" y="1948500"/>
              <a:ext cx="1363303" cy="640932"/>
              <a:chOff x="5552685" y="1948500"/>
              <a:chExt cx="1363303" cy="640932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45A234E-36E8-E34A-9B45-B101F1879827}"/>
                  </a:ext>
                </a:extLst>
              </p:cNvPr>
              <p:cNvSpPr/>
              <p:nvPr/>
            </p:nvSpPr>
            <p:spPr>
              <a:xfrm>
                <a:off x="5663023" y="2133196"/>
                <a:ext cx="274320" cy="274320"/>
              </a:xfrm>
              <a:prstGeom prst="rect">
                <a:avLst/>
              </a:prstGeom>
              <a:solidFill>
                <a:srgbClr val="F4AF23"/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B5B241F-434F-F746-96A1-C96208360DF9}"/>
                  </a:ext>
                </a:extLst>
              </p:cNvPr>
              <p:cNvSpPr/>
              <p:nvPr/>
            </p:nvSpPr>
            <p:spPr>
              <a:xfrm>
                <a:off x="6315447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50196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69417A8-C216-1D40-952E-E4A1E9B90496}"/>
                  </a:ext>
                </a:extLst>
              </p:cNvPr>
              <p:cNvSpPr txBox="1"/>
              <p:nvPr/>
            </p:nvSpPr>
            <p:spPr>
              <a:xfrm>
                <a:off x="5552685" y="1948500"/>
                <a:ext cx="769316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#F4AF23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56882E8-F032-8842-8801-EC241B2AAA1B}"/>
                  </a:ext>
                </a:extLst>
              </p:cNvPr>
              <p:cNvSpPr/>
              <p:nvPr/>
            </p:nvSpPr>
            <p:spPr>
              <a:xfrm>
                <a:off x="6641668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2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55C9DCF-0DAC-9941-992A-C61214869B36}"/>
                  </a:ext>
                </a:extLst>
              </p:cNvPr>
              <p:cNvSpPr/>
              <p:nvPr/>
            </p:nvSpPr>
            <p:spPr>
              <a:xfrm>
                <a:off x="5989235" y="2133196"/>
                <a:ext cx="274320" cy="274320"/>
              </a:xfrm>
              <a:prstGeom prst="rect">
                <a:avLst/>
              </a:prstGeom>
              <a:solidFill>
                <a:srgbClr val="F8AF22">
                  <a:alpha val="75000"/>
                </a:srgbClr>
              </a:solidFill>
              <a:ln w="3175"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D8F39C3-A0FD-3D4A-BAA7-C8A71F9ABD3A}"/>
                  </a:ext>
                </a:extLst>
              </p:cNvPr>
              <p:cNvSpPr txBox="1"/>
              <p:nvPr/>
            </p:nvSpPr>
            <p:spPr>
              <a:xfrm>
                <a:off x="5582152" y="2364371"/>
                <a:ext cx="1177198" cy="22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96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SOLAR YELLOW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375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slide" Target="slide38.xml"/><Relationship Id="rId7" Type="http://schemas.openxmlformats.org/officeDocument/2006/relationships/slide" Target="slide3.xml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slide" Target="slide44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11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slide" Target="slide45.xml"/><Relationship Id="rId4" Type="http://schemas.openxmlformats.org/officeDocument/2006/relationships/slide" Target="slide40.xml"/><Relationship Id="rId9" Type="http://schemas.openxmlformats.org/officeDocument/2006/relationships/slide" Target="slide37.xml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1.pn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slide" Target="slide4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17" Type="http://schemas.openxmlformats.org/officeDocument/2006/relationships/slide" Target="slide8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image" Target="../media/image28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18" Type="http://schemas.openxmlformats.org/officeDocument/2006/relationships/image" Target="../media/image32.pn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image" Target="../media/image29.emf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chart" Target="../charts/chart1.xml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6" Type="http://schemas.openxmlformats.org/officeDocument/2006/relationships/slide" Target="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5" Type="http://schemas.openxmlformats.org/officeDocument/2006/relationships/image" Target="../media/image4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slide" Target="slide3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meralco-my.sharepoint.com/:x:/r/personal/rrgange_meralco_com_ph/Documents/ADHERENCE%20C1%20%205-20-25.xlsx?d=wea8366fbb01f465c8a62d556fe8edf51&amp;csf=1&amp;web=1&amp;e=gGqipA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slide" Target="slide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17" Type="http://schemas.openxmlformats.org/officeDocument/2006/relationships/image" Target="../media/image40.svg"/><Relationship Id="rId2" Type="http://schemas.openxmlformats.org/officeDocument/2006/relationships/slide" Target="slide2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5" Type="http://schemas.openxmlformats.org/officeDocument/2006/relationships/image" Target="../media/image27.sv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5" Type="http://schemas.openxmlformats.org/officeDocument/2006/relationships/image" Target="../media/image40.sv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5" Type="http://schemas.openxmlformats.org/officeDocument/2006/relationships/slide" Target="slide4.xml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2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slide" Target="slide3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slide" Target="slide4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1.png"/><Relationship Id="rId11" Type="http://schemas.openxmlformats.org/officeDocument/2006/relationships/slide" Target="slide38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slide" Target="slide3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slide" Target="slide37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4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3.png"/><Relationship Id="rId5" Type="http://schemas.openxmlformats.org/officeDocument/2006/relationships/image" Target="../media/image21.png"/><Relationship Id="rId10" Type="http://schemas.openxmlformats.org/officeDocument/2006/relationships/slide" Target="slide38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5.png"/><Relationship Id="rId3" Type="http://schemas.openxmlformats.org/officeDocument/2006/relationships/slide" Target="slide2.xml"/><Relationship Id="rId7" Type="http://schemas.openxmlformats.org/officeDocument/2006/relationships/image" Target="../media/image22.png"/><Relationship Id="rId12" Type="http://schemas.openxmlformats.org/officeDocument/2006/relationships/slide" Target="slide40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21.png"/><Relationship Id="rId11" Type="http://schemas.openxmlformats.org/officeDocument/2006/relationships/slide" Target="slide45.xml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6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6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slide" Target="slide40.xml"/><Relationship Id="rId5" Type="http://schemas.openxmlformats.org/officeDocument/2006/relationships/image" Target="../media/image21.png"/><Relationship Id="rId10" Type="http://schemas.openxmlformats.org/officeDocument/2006/relationships/slide" Target="slide45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6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slide" Target="slide40.xml"/><Relationship Id="rId5" Type="http://schemas.openxmlformats.org/officeDocument/2006/relationships/image" Target="../media/image21.png"/><Relationship Id="rId10" Type="http://schemas.openxmlformats.org/officeDocument/2006/relationships/slide" Target="slide45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1.jpe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8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17.png"/><Relationship Id="rId5" Type="http://schemas.openxmlformats.org/officeDocument/2006/relationships/image" Target="../media/image21.png"/><Relationship Id="rId10" Type="http://schemas.openxmlformats.org/officeDocument/2006/relationships/slide" Target="slide38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0.sv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9.png"/><Relationship Id="rId5" Type="http://schemas.openxmlformats.org/officeDocument/2006/relationships/image" Target="../media/image21.png"/><Relationship Id="rId10" Type="http://schemas.openxmlformats.org/officeDocument/2006/relationships/slide" Target="slide44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cityscape&#10;&#10;Description automatically generated">
            <a:extLst>
              <a:ext uri="{FF2B5EF4-FFF2-40B4-BE49-F238E27FC236}">
                <a16:creationId xmlns:a16="http://schemas.microsoft.com/office/drawing/2014/main" id="{CACF58B7-BE88-37CF-07C2-1F317E51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" y="10"/>
            <a:ext cx="12191980" cy="6857990"/>
          </a:xfrm>
          <a:prstGeom prst="rect">
            <a:avLst/>
          </a:prstGeom>
          <a:noFill/>
        </p:spPr>
      </p:pic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3C48EB4C-E8DB-74E2-40B6-2AD0F7C770D4}"/>
              </a:ext>
            </a:extLst>
          </p:cNvPr>
          <p:cNvSpPr/>
          <p:nvPr/>
        </p:nvSpPr>
        <p:spPr>
          <a:xfrm flipH="1">
            <a:off x="9279467" y="698499"/>
            <a:ext cx="2912510" cy="525507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87FE1A-8AC3-9051-FFDC-466854A08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870" y="778372"/>
            <a:ext cx="1731704" cy="365760"/>
          </a:xfrm>
          <a:prstGeom prst="rect">
            <a:avLst/>
          </a:prstGeom>
        </p:spPr>
      </p:pic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6C69F28A-8D69-F902-BAD3-43369E080F38}"/>
              </a:ext>
            </a:extLst>
          </p:cNvPr>
          <p:cNvSpPr/>
          <p:nvPr/>
        </p:nvSpPr>
        <p:spPr>
          <a:xfrm>
            <a:off x="0" y="1841096"/>
            <a:ext cx="6096000" cy="73152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4D2766-890D-DC50-79A9-87F723E90AB3}"/>
              </a:ext>
            </a:extLst>
          </p:cNvPr>
          <p:cNvSpPr txBox="1"/>
          <p:nvPr/>
        </p:nvSpPr>
        <p:spPr>
          <a:xfrm>
            <a:off x="299987" y="1834425"/>
            <a:ext cx="6258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latin typeface="Trade Gothic LT Std Bold" panose="020B0503020502020204" pitchFamily="34" charset="0"/>
              </a:rPr>
              <a:t>PARAÑAQUE SECTOR</a:t>
            </a:r>
            <a:endParaRPr lang="en-US" sz="4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96C45B-7EFE-BF89-318A-C6AED7BEE4B9}"/>
              </a:ext>
            </a:extLst>
          </p:cNvPr>
          <p:cNvSpPr txBox="1"/>
          <p:nvPr/>
        </p:nvSpPr>
        <p:spPr>
          <a:xfrm>
            <a:off x="299986" y="2572616"/>
            <a:ext cx="5496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DBE387B-E033-3A1B-594C-DA102687B75C}"/>
              </a:ext>
            </a:extLst>
          </p:cNvPr>
          <p:cNvSpPr/>
          <p:nvPr/>
        </p:nvSpPr>
        <p:spPr>
          <a:xfrm flipH="1">
            <a:off x="9388548" y="4189229"/>
            <a:ext cx="2803452" cy="114249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DF6831-1338-390C-533F-31CDBA95305A}"/>
              </a:ext>
            </a:extLst>
          </p:cNvPr>
          <p:cNvSpPr/>
          <p:nvPr/>
        </p:nvSpPr>
        <p:spPr>
          <a:xfrm>
            <a:off x="9388548" y="4327599"/>
            <a:ext cx="2803452" cy="865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171C8F"/>
                </a:solidFill>
                <a:latin typeface="Trade Gothic LT Std"/>
              </a:rPr>
              <a:t>GAINS</a:t>
            </a:r>
            <a:endParaRPr lang="en-US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b="1" dirty="0">
                <a:solidFill>
                  <a:srgbClr val="FFC000"/>
                </a:solidFill>
                <a:latin typeface="Trade Gothic LT Std"/>
              </a:rPr>
              <a:t>GOALS and INITIATIVES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69A35-1A95-6B02-0CCE-829291418869}"/>
              </a:ext>
            </a:extLst>
          </p:cNvPr>
          <p:cNvSpPr/>
          <p:nvPr/>
        </p:nvSpPr>
        <p:spPr>
          <a:xfrm>
            <a:off x="9237710" y="5193348"/>
            <a:ext cx="3105127" cy="865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350" b="1" dirty="0">
                <a:solidFill>
                  <a:srgbClr val="F4AF23"/>
                </a:solidFill>
                <a:highlight>
                  <a:srgbClr val="FFFFFF"/>
                </a:highlight>
                <a:latin typeface="Trade Gothic LT Std"/>
              </a:rPr>
              <a:t>As of July 18, 2025</a:t>
            </a:r>
            <a:endParaRPr lang="en-US" sz="2350" b="1" dirty="0">
              <a:solidFill>
                <a:srgbClr val="171C8F"/>
              </a:solidFill>
              <a:highlight>
                <a:srgbClr val="FFFFFF"/>
              </a:highlight>
              <a:latin typeface="Trade Gothic LT Std"/>
            </a:endParaRPr>
          </a:p>
        </p:txBody>
      </p:sp>
    </p:spTree>
    <p:extLst>
      <p:ext uri="{BB962C8B-B14F-4D97-AF65-F5344CB8AC3E}">
        <p14:creationId xmlns:p14="http://schemas.microsoft.com/office/powerpoint/2010/main" val="34550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0798" y="339937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1927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8EE09AA-05E3-1A68-7E86-DEA8E34403AC}"/>
              </a:ext>
            </a:extLst>
          </p:cNvPr>
          <p:cNvGrpSpPr/>
          <p:nvPr/>
        </p:nvGrpSpPr>
        <p:grpSpPr>
          <a:xfrm>
            <a:off x="9403338" y="1106195"/>
            <a:ext cx="2022297" cy="1290117"/>
            <a:chOff x="10064350" y="1145894"/>
            <a:chExt cx="1650564" cy="1645920"/>
          </a:xfrm>
        </p:grpSpPr>
        <p:sp>
          <p:nvSpPr>
            <p:cNvPr id="104" name="Rectangle: Rounded Corners 103">
              <a:hlinkClick r:id="rId2" action="ppaction://hlinksldjump"/>
              <a:extLst>
                <a:ext uri="{FF2B5EF4-FFF2-40B4-BE49-F238E27FC236}">
                  <a16:creationId xmlns:a16="http://schemas.microsoft.com/office/drawing/2014/main" id="{3DC8ACA2-B11D-A488-189B-A0E19CD94E60}"/>
                </a:ext>
              </a:extLst>
            </p:cNvPr>
            <p:cNvSpPr/>
            <p:nvPr/>
          </p:nvSpPr>
          <p:spPr>
            <a:xfrm>
              <a:off x="10066672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0DEA14D-F8AC-281C-9740-34309CB8182B}"/>
                </a:ext>
              </a:extLst>
            </p:cNvPr>
            <p:cNvSpPr txBox="1"/>
            <p:nvPr/>
          </p:nvSpPr>
          <p:spPr>
            <a:xfrm>
              <a:off x="10064350" y="2298801"/>
              <a:ext cx="1650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SUSTAINABILITY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71600" y="348829"/>
            <a:ext cx="4345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F6666CB-4FCF-5C1C-9A49-4C69B4863B10}"/>
              </a:ext>
            </a:extLst>
          </p:cNvPr>
          <p:cNvSpPr/>
          <p:nvPr/>
        </p:nvSpPr>
        <p:spPr>
          <a:xfrm>
            <a:off x="22273485" y="1524977"/>
            <a:ext cx="2539617" cy="5196413"/>
          </a:xfrm>
          <a:custGeom>
            <a:avLst/>
            <a:gdLst>
              <a:gd name="connsiteX0" fmla="*/ 0 w 2539617"/>
              <a:gd name="connsiteY0" fmla="*/ 253962 h 5196413"/>
              <a:gd name="connsiteX1" fmla="*/ 253962 w 2539617"/>
              <a:gd name="connsiteY1" fmla="*/ 0 h 5196413"/>
              <a:gd name="connsiteX2" fmla="*/ 2285655 w 2539617"/>
              <a:gd name="connsiteY2" fmla="*/ 0 h 5196413"/>
              <a:gd name="connsiteX3" fmla="*/ 2539617 w 2539617"/>
              <a:gd name="connsiteY3" fmla="*/ 253962 h 5196413"/>
              <a:gd name="connsiteX4" fmla="*/ 2539617 w 2539617"/>
              <a:gd name="connsiteY4" fmla="*/ 4942451 h 5196413"/>
              <a:gd name="connsiteX5" fmla="*/ 2285655 w 2539617"/>
              <a:gd name="connsiteY5" fmla="*/ 5196413 h 5196413"/>
              <a:gd name="connsiteX6" fmla="*/ 253962 w 2539617"/>
              <a:gd name="connsiteY6" fmla="*/ 5196413 h 5196413"/>
              <a:gd name="connsiteX7" fmla="*/ 0 w 2539617"/>
              <a:gd name="connsiteY7" fmla="*/ 4942451 h 5196413"/>
              <a:gd name="connsiteX8" fmla="*/ 0 w 2539617"/>
              <a:gd name="connsiteY8" fmla="*/ 253962 h 519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9617" h="5196413">
                <a:moveTo>
                  <a:pt x="0" y="253962"/>
                </a:moveTo>
                <a:cubicBezTo>
                  <a:pt x="0" y="113703"/>
                  <a:pt x="113703" y="0"/>
                  <a:pt x="253962" y="0"/>
                </a:cubicBezTo>
                <a:lnTo>
                  <a:pt x="2285655" y="0"/>
                </a:lnTo>
                <a:cubicBezTo>
                  <a:pt x="2425914" y="0"/>
                  <a:pt x="2539617" y="113703"/>
                  <a:pt x="2539617" y="253962"/>
                </a:cubicBezTo>
                <a:lnTo>
                  <a:pt x="2539617" y="4942451"/>
                </a:lnTo>
                <a:cubicBezTo>
                  <a:pt x="2539617" y="5082710"/>
                  <a:pt x="2425914" y="5196413"/>
                  <a:pt x="2285655" y="5196413"/>
                </a:cubicBezTo>
                <a:lnTo>
                  <a:pt x="253962" y="5196413"/>
                </a:lnTo>
                <a:cubicBezTo>
                  <a:pt x="113703" y="5196413"/>
                  <a:pt x="0" y="5082710"/>
                  <a:pt x="0" y="4942451"/>
                </a:cubicBezTo>
                <a:lnTo>
                  <a:pt x="0" y="253962"/>
                </a:lnTo>
                <a:close/>
              </a:path>
            </a:pathLst>
          </a:cu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68580" rIns="68580" bIns="370607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800" b="1" kern="1200">
              <a:latin typeface="Trade Gothic LT Std" panose="020B050302050202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C6F0A36-55B7-0BCF-B4D0-F80C94BC2A3A}"/>
              </a:ext>
            </a:extLst>
          </p:cNvPr>
          <p:cNvSpPr/>
          <p:nvPr/>
        </p:nvSpPr>
        <p:spPr>
          <a:xfrm>
            <a:off x="22527447" y="3084344"/>
            <a:ext cx="2031694" cy="1020887"/>
          </a:xfrm>
          <a:custGeom>
            <a:avLst/>
            <a:gdLst>
              <a:gd name="connsiteX0" fmla="*/ 0 w 2031694"/>
              <a:gd name="connsiteY0" fmla="*/ 102089 h 1020887"/>
              <a:gd name="connsiteX1" fmla="*/ 102089 w 2031694"/>
              <a:gd name="connsiteY1" fmla="*/ 0 h 1020887"/>
              <a:gd name="connsiteX2" fmla="*/ 1929605 w 2031694"/>
              <a:gd name="connsiteY2" fmla="*/ 0 h 1020887"/>
              <a:gd name="connsiteX3" fmla="*/ 2031694 w 2031694"/>
              <a:gd name="connsiteY3" fmla="*/ 102089 h 1020887"/>
              <a:gd name="connsiteX4" fmla="*/ 2031694 w 2031694"/>
              <a:gd name="connsiteY4" fmla="*/ 918798 h 1020887"/>
              <a:gd name="connsiteX5" fmla="*/ 1929605 w 2031694"/>
              <a:gd name="connsiteY5" fmla="*/ 1020887 h 1020887"/>
              <a:gd name="connsiteX6" fmla="*/ 102089 w 2031694"/>
              <a:gd name="connsiteY6" fmla="*/ 1020887 h 1020887"/>
              <a:gd name="connsiteX7" fmla="*/ 0 w 2031694"/>
              <a:gd name="connsiteY7" fmla="*/ 918798 h 1020887"/>
              <a:gd name="connsiteX8" fmla="*/ 0 w 2031694"/>
              <a:gd name="connsiteY8" fmla="*/ 102089 h 1020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1694" h="1020887">
                <a:moveTo>
                  <a:pt x="0" y="102089"/>
                </a:moveTo>
                <a:cubicBezTo>
                  <a:pt x="0" y="45707"/>
                  <a:pt x="45707" y="0"/>
                  <a:pt x="102089" y="0"/>
                </a:cubicBezTo>
                <a:lnTo>
                  <a:pt x="1929605" y="0"/>
                </a:lnTo>
                <a:cubicBezTo>
                  <a:pt x="1985987" y="0"/>
                  <a:pt x="2031694" y="45707"/>
                  <a:pt x="2031694" y="102089"/>
                </a:cubicBezTo>
                <a:lnTo>
                  <a:pt x="2031694" y="918798"/>
                </a:lnTo>
                <a:cubicBezTo>
                  <a:pt x="2031694" y="975180"/>
                  <a:pt x="1985987" y="1020887"/>
                  <a:pt x="1929605" y="1020887"/>
                </a:cubicBezTo>
                <a:lnTo>
                  <a:pt x="102089" y="1020887"/>
                </a:lnTo>
                <a:cubicBezTo>
                  <a:pt x="45707" y="1020887"/>
                  <a:pt x="0" y="975180"/>
                  <a:pt x="0" y="918798"/>
                </a:cubicBezTo>
                <a:lnTo>
                  <a:pt x="0" y="102089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Lost Time Incidents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202DBCA-55F0-6560-7AFD-B607F3982D5F}"/>
              </a:ext>
            </a:extLst>
          </p:cNvPr>
          <p:cNvSpPr/>
          <p:nvPr/>
        </p:nvSpPr>
        <p:spPr>
          <a:xfrm>
            <a:off x="22527447" y="4262291"/>
            <a:ext cx="2031694" cy="1020887"/>
          </a:xfrm>
          <a:custGeom>
            <a:avLst/>
            <a:gdLst>
              <a:gd name="connsiteX0" fmla="*/ 0 w 2031694"/>
              <a:gd name="connsiteY0" fmla="*/ 102089 h 1020887"/>
              <a:gd name="connsiteX1" fmla="*/ 102089 w 2031694"/>
              <a:gd name="connsiteY1" fmla="*/ 0 h 1020887"/>
              <a:gd name="connsiteX2" fmla="*/ 1929605 w 2031694"/>
              <a:gd name="connsiteY2" fmla="*/ 0 h 1020887"/>
              <a:gd name="connsiteX3" fmla="*/ 2031694 w 2031694"/>
              <a:gd name="connsiteY3" fmla="*/ 102089 h 1020887"/>
              <a:gd name="connsiteX4" fmla="*/ 2031694 w 2031694"/>
              <a:gd name="connsiteY4" fmla="*/ 918798 h 1020887"/>
              <a:gd name="connsiteX5" fmla="*/ 1929605 w 2031694"/>
              <a:gd name="connsiteY5" fmla="*/ 1020887 h 1020887"/>
              <a:gd name="connsiteX6" fmla="*/ 102089 w 2031694"/>
              <a:gd name="connsiteY6" fmla="*/ 1020887 h 1020887"/>
              <a:gd name="connsiteX7" fmla="*/ 0 w 2031694"/>
              <a:gd name="connsiteY7" fmla="*/ 918798 h 1020887"/>
              <a:gd name="connsiteX8" fmla="*/ 0 w 2031694"/>
              <a:gd name="connsiteY8" fmla="*/ 102089 h 1020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1694" h="1020887">
                <a:moveTo>
                  <a:pt x="0" y="102089"/>
                </a:moveTo>
                <a:cubicBezTo>
                  <a:pt x="0" y="45707"/>
                  <a:pt x="45707" y="0"/>
                  <a:pt x="102089" y="0"/>
                </a:cubicBezTo>
                <a:lnTo>
                  <a:pt x="1929605" y="0"/>
                </a:lnTo>
                <a:cubicBezTo>
                  <a:pt x="1985987" y="0"/>
                  <a:pt x="2031694" y="45707"/>
                  <a:pt x="2031694" y="102089"/>
                </a:cubicBezTo>
                <a:lnTo>
                  <a:pt x="2031694" y="918798"/>
                </a:lnTo>
                <a:cubicBezTo>
                  <a:pt x="2031694" y="975180"/>
                  <a:pt x="1985987" y="1020887"/>
                  <a:pt x="1929605" y="1020887"/>
                </a:cubicBezTo>
                <a:lnTo>
                  <a:pt x="102089" y="1020887"/>
                </a:lnTo>
                <a:cubicBezTo>
                  <a:pt x="45707" y="1020887"/>
                  <a:pt x="0" y="975180"/>
                  <a:pt x="0" y="918798"/>
                </a:cubicBezTo>
                <a:lnTo>
                  <a:pt x="0" y="102089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Fatality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2BC5951-BAF6-428E-79D0-6C354B9AF1FC}"/>
              </a:ext>
            </a:extLst>
          </p:cNvPr>
          <p:cNvSpPr/>
          <p:nvPr/>
        </p:nvSpPr>
        <p:spPr>
          <a:xfrm>
            <a:off x="22527447" y="5440238"/>
            <a:ext cx="2031694" cy="1020887"/>
          </a:xfrm>
          <a:custGeom>
            <a:avLst/>
            <a:gdLst>
              <a:gd name="connsiteX0" fmla="*/ 0 w 2031694"/>
              <a:gd name="connsiteY0" fmla="*/ 102089 h 1020887"/>
              <a:gd name="connsiteX1" fmla="*/ 102089 w 2031694"/>
              <a:gd name="connsiteY1" fmla="*/ 0 h 1020887"/>
              <a:gd name="connsiteX2" fmla="*/ 1929605 w 2031694"/>
              <a:gd name="connsiteY2" fmla="*/ 0 h 1020887"/>
              <a:gd name="connsiteX3" fmla="*/ 2031694 w 2031694"/>
              <a:gd name="connsiteY3" fmla="*/ 102089 h 1020887"/>
              <a:gd name="connsiteX4" fmla="*/ 2031694 w 2031694"/>
              <a:gd name="connsiteY4" fmla="*/ 918798 h 1020887"/>
              <a:gd name="connsiteX5" fmla="*/ 1929605 w 2031694"/>
              <a:gd name="connsiteY5" fmla="*/ 1020887 h 1020887"/>
              <a:gd name="connsiteX6" fmla="*/ 102089 w 2031694"/>
              <a:gd name="connsiteY6" fmla="*/ 1020887 h 1020887"/>
              <a:gd name="connsiteX7" fmla="*/ 0 w 2031694"/>
              <a:gd name="connsiteY7" fmla="*/ 918798 h 1020887"/>
              <a:gd name="connsiteX8" fmla="*/ 0 w 2031694"/>
              <a:gd name="connsiteY8" fmla="*/ 102089 h 1020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1694" h="1020887">
                <a:moveTo>
                  <a:pt x="0" y="102089"/>
                </a:moveTo>
                <a:cubicBezTo>
                  <a:pt x="0" y="45707"/>
                  <a:pt x="45707" y="0"/>
                  <a:pt x="102089" y="0"/>
                </a:cubicBezTo>
                <a:lnTo>
                  <a:pt x="1929605" y="0"/>
                </a:lnTo>
                <a:cubicBezTo>
                  <a:pt x="1985987" y="0"/>
                  <a:pt x="2031694" y="45707"/>
                  <a:pt x="2031694" y="102089"/>
                </a:cubicBezTo>
                <a:lnTo>
                  <a:pt x="2031694" y="918798"/>
                </a:lnTo>
                <a:cubicBezTo>
                  <a:pt x="2031694" y="975180"/>
                  <a:pt x="1985987" y="1020887"/>
                  <a:pt x="1929605" y="1020887"/>
                </a:cubicBezTo>
                <a:lnTo>
                  <a:pt x="102089" y="1020887"/>
                </a:lnTo>
                <a:cubicBezTo>
                  <a:pt x="45707" y="1020887"/>
                  <a:pt x="0" y="975180"/>
                  <a:pt x="0" y="918798"/>
                </a:cubicBezTo>
                <a:lnTo>
                  <a:pt x="0" y="102089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Natural Ester-oil Pole Mounted DTs Installation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CC24657-B96E-0F34-FE85-2251CF2E422C}"/>
              </a:ext>
            </a:extLst>
          </p:cNvPr>
          <p:cNvGrpSpPr/>
          <p:nvPr/>
        </p:nvGrpSpPr>
        <p:grpSpPr>
          <a:xfrm>
            <a:off x="2944720" y="1110160"/>
            <a:ext cx="2029968" cy="1290116"/>
            <a:chOff x="2397325" y="1145894"/>
            <a:chExt cx="1648242" cy="1645920"/>
          </a:xfrm>
        </p:grpSpPr>
        <p:sp>
          <p:nvSpPr>
            <p:cNvPr id="49" name="Rectangle: Rounded Corners 48">
              <a:hlinkClick r:id="rId3" action="ppaction://hlinksldjump"/>
              <a:extLst>
                <a:ext uri="{FF2B5EF4-FFF2-40B4-BE49-F238E27FC236}">
                  <a16:creationId xmlns:a16="http://schemas.microsoft.com/office/drawing/2014/main" id="{AC848C53-47E7-2E43-ECEE-3B92C6D520B9}"/>
                </a:ext>
              </a:extLst>
            </p:cNvPr>
            <p:cNvSpPr/>
            <p:nvPr/>
          </p:nvSpPr>
          <p:spPr>
            <a:xfrm>
              <a:off x="239964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69702E5-5071-A7D1-27DE-8632FF5301FF}"/>
                </a:ext>
              </a:extLst>
            </p:cNvPr>
            <p:cNvSpPr txBox="1"/>
            <p:nvPr/>
          </p:nvSpPr>
          <p:spPr>
            <a:xfrm>
              <a:off x="2397325" y="2298801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CCNI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1296E9E-C47C-5B8A-4582-F792130B9E1E}"/>
              </a:ext>
            </a:extLst>
          </p:cNvPr>
          <p:cNvGrpSpPr/>
          <p:nvPr/>
        </p:nvGrpSpPr>
        <p:grpSpPr>
          <a:xfrm>
            <a:off x="5101136" y="1119816"/>
            <a:ext cx="2022198" cy="1290116"/>
            <a:chOff x="4319887" y="1145894"/>
            <a:chExt cx="1645920" cy="1645920"/>
          </a:xfrm>
        </p:grpSpPr>
        <p:sp>
          <p:nvSpPr>
            <p:cNvPr id="55" name="Rectangle: Rounded Corners 54">
              <a:hlinkClick r:id="rId4" action="ppaction://hlinksldjump"/>
              <a:extLst>
                <a:ext uri="{FF2B5EF4-FFF2-40B4-BE49-F238E27FC236}">
                  <a16:creationId xmlns:a16="http://schemas.microsoft.com/office/drawing/2014/main" id="{91116A78-5EC6-5ADE-4022-AA241E595FE2}"/>
                </a:ext>
              </a:extLst>
            </p:cNvPr>
            <p:cNvSpPr/>
            <p:nvPr/>
          </p:nvSpPr>
          <p:spPr>
            <a:xfrm>
              <a:off x="431988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5D3004-A04C-F7BB-4128-FAD602463EE7}"/>
                </a:ext>
              </a:extLst>
            </p:cNvPr>
            <p:cNvSpPr txBox="1"/>
            <p:nvPr/>
          </p:nvSpPr>
          <p:spPr>
            <a:xfrm>
              <a:off x="4319887" y="2304308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CSI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34C8A17-4B7F-FA6E-E812-0A84FF24A1A7}"/>
              </a:ext>
            </a:extLst>
          </p:cNvPr>
          <p:cNvGrpSpPr/>
          <p:nvPr/>
        </p:nvGrpSpPr>
        <p:grpSpPr>
          <a:xfrm>
            <a:off x="22527446" y="1696036"/>
            <a:ext cx="2031694" cy="1286783"/>
            <a:chOff x="12695643" y="627403"/>
            <a:chExt cx="1652886" cy="1645920"/>
          </a:xfrm>
        </p:grpSpPr>
        <p:sp>
          <p:nvSpPr>
            <p:cNvPr id="61" name="Rectangle: Rounded Corners 60">
              <a:hlinkClick r:id="rId2" action="ppaction://hlinksldjump"/>
              <a:extLst>
                <a:ext uri="{FF2B5EF4-FFF2-40B4-BE49-F238E27FC236}">
                  <a16:creationId xmlns:a16="http://schemas.microsoft.com/office/drawing/2014/main" id="{851C0D02-1FC9-00E7-682E-34CBBED585B1}"/>
                </a:ext>
              </a:extLst>
            </p:cNvPr>
            <p:cNvSpPr/>
            <p:nvPr/>
          </p:nvSpPr>
          <p:spPr>
            <a:xfrm>
              <a:off x="12695643" y="627403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pic>
          <p:nvPicPr>
            <p:cNvPr id="62" name="Graphic 61" descr="Sustainability with solid fill">
              <a:extLst>
                <a:ext uri="{FF2B5EF4-FFF2-40B4-BE49-F238E27FC236}">
                  <a16:creationId xmlns:a16="http://schemas.microsoft.com/office/drawing/2014/main" id="{72ED976B-E5D7-A7D6-81BB-17C354CE1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066047" y="867058"/>
              <a:ext cx="914400" cy="91439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90392E7-89D4-0F9E-5A8C-5D1824C75CD0}"/>
                </a:ext>
              </a:extLst>
            </p:cNvPr>
            <p:cNvSpPr txBox="1"/>
            <p:nvPr/>
          </p:nvSpPr>
          <p:spPr>
            <a:xfrm>
              <a:off x="12697965" y="1823532"/>
              <a:ext cx="1650564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SUSTAINABILITY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CF2DAF9-759D-C121-5B00-2CCEECD89C0C}"/>
              </a:ext>
            </a:extLst>
          </p:cNvPr>
          <p:cNvGrpSpPr/>
          <p:nvPr/>
        </p:nvGrpSpPr>
        <p:grpSpPr>
          <a:xfrm>
            <a:off x="802223" y="1120030"/>
            <a:ext cx="2024603" cy="1289015"/>
            <a:chOff x="11978068" y="403669"/>
            <a:chExt cx="1650562" cy="1645921"/>
          </a:xfrm>
        </p:grpSpPr>
        <p:sp>
          <p:nvSpPr>
            <p:cNvPr id="66" name="Rectangle: Rounded Corners 65">
              <a:hlinkClick r:id="rId7" action="ppaction://hlinksldjump"/>
              <a:extLst>
                <a:ext uri="{FF2B5EF4-FFF2-40B4-BE49-F238E27FC236}">
                  <a16:creationId xmlns:a16="http://schemas.microsoft.com/office/drawing/2014/main" id="{1A47283E-1317-FE2B-B6AB-F27787FADA32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0E7A4F-5B28-B54C-FB5C-F615DAAA9D8F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600FFCC-CB29-F7A7-44F2-F4843C539424}"/>
              </a:ext>
            </a:extLst>
          </p:cNvPr>
          <p:cNvGrpSpPr/>
          <p:nvPr/>
        </p:nvGrpSpPr>
        <p:grpSpPr>
          <a:xfrm>
            <a:off x="7214452" y="1107752"/>
            <a:ext cx="2057528" cy="1290116"/>
            <a:chOff x="8998819" y="551407"/>
            <a:chExt cx="1650564" cy="1645920"/>
          </a:xfrm>
        </p:grpSpPr>
        <p:sp>
          <p:nvSpPr>
            <p:cNvPr id="10" name="Rectangle: Rounded Corners 9">
              <a:hlinkClick r:id="rId3" action="ppaction://hlinksldjump"/>
              <a:extLst>
                <a:ext uri="{FF2B5EF4-FFF2-40B4-BE49-F238E27FC236}">
                  <a16:creationId xmlns:a16="http://schemas.microsoft.com/office/drawing/2014/main" id="{B3CB725A-AD62-0F0C-E95F-C147DDAF9201}"/>
                </a:ext>
              </a:extLst>
            </p:cNvPr>
            <p:cNvSpPr/>
            <p:nvPr/>
          </p:nvSpPr>
          <p:spPr>
            <a:xfrm>
              <a:off x="9003463" y="551407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0A0A85-9B79-C699-EDC6-CC205AA54971}"/>
                </a:ext>
              </a:extLst>
            </p:cNvPr>
            <p:cNvSpPr txBox="1"/>
            <p:nvPr/>
          </p:nvSpPr>
          <p:spPr>
            <a:xfrm>
              <a:off x="8998819" y="1737965"/>
              <a:ext cx="1650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LTIFR</a:t>
              </a:r>
            </a:p>
          </p:txBody>
        </p:sp>
      </p:grpSp>
      <p:sp>
        <p:nvSpPr>
          <p:cNvPr id="72" name="Freeform: Shape 71">
            <a:hlinkClick r:id="rId8" action="ppaction://hlinksldjump"/>
            <a:extLst>
              <a:ext uri="{FF2B5EF4-FFF2-40B4-BE49-F238E27FC236}">
                <a16:creationId xmlns:a16="http://schemas.microsoft.com/office/drawing/2014/main" id="{C549C249-0688-7526-95F4-143069C9C043}"/>
              </a:ext>
            </a:extLst>
          </p:cNvPr>
          <p:cNvSpPr/>
          <p:nvPr/>
        </p:nvSpPr>
        <p:spPr>
          <a:xfrm>
            <a:off x="803364" y="2504929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Customer Connection Timeliness Index (CCTI)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8F30145-AA4F-9A72-F0C1-7B843D6779EC}"/>
              </a:ext>
            </a:extLst>
          </p:cNvPr>
          <p:cNvSpPr/>
          <p:nvPr/>
        </p:nvSpPr>
        <p:spPr>
          <a:xfrm>
            <a:off x="803364" y="3054602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PCA Conversion Rate</a:t>
            </a:r>
            <a:endParaRPr lang="en-US" sz="1300" kern="120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AC2513DA-78AD-A798-BF9E-9D86D1FE6086}"/>
              </a:ext>
            </a:extLst>
          </p:cNvPr>
          <p:cNvSpPr/>
          <p:nvPr/>
        </p:nvSpPr>
        <p:spPr>
          <a:xfrm>
            <a:off x="803364" y="3581686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Completion of Ageing PCAs</a:t>
            </a:r>
            <a:endParaRPr lang="en-US" sz="1300" kern="120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69E718BF-E5CD-3B41-1972-45711185D964}"/>
              </a:ext>
            </a:extLst>
          </p:cNvPr>
          <p:cNvSpPr/>
          <p:nvPr/>
        </p:nvSpPr>
        <p:spPr>
          <a:xfrm>
            <a:off x="801813" y="4123695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Adherence to approved PAI SAIDI</a:t>
            </a:r>
            <a:endParaRPr lang="en-US" sz="1300" kern="120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274193AE-54CB-2A50-44FB-8C32ABA24DBA}"/>
              </a:ext>
            </a:extLst>
          </p:cNvPr>
          <p:cNvSpPr/>
          <p:nvPr/>
        </p:nvSpPr>
        <p:spPr>
          <a:xfrm>
            <a:off x="801813" y="4663070"/>
            <a:ext cx="2025013" cy="543592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PCA Termination/ Modification APT</a:t>
            </a:r>
            <a:endParaRPr lang="en-US" sz="1300" kern="12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811FD29-C7BA-7916-9883-0798C64B6EF4}"/>
              </a:ext>
            </a:extLst>
          </p:cNvPr>
          <p:cNvSpPr/>
          <p:nvPr/>
        </p:nvSpPr>
        <p:spPr>
          <a:xfrm>
            <a:off x="801813" y="5302546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PCA Termination Resolution of Pending PCA</a:t>
            </a:r>
            <a:endParaRPr lang="en-US" sz="1300" kern="1200"/>
          </a:p>
        </p:txBody>
      </p:sp>
      <p:sp>
        <p:nvSpPr>
          <p:cNvPr id="79" name="Freeform: Shape 78">
            <a:hlinkClick r:id="rId9" action="ppaction://hlinksldjump"/>
            <a:extLst>
              <a:ext uri="{FF2B5EF4-FFF2-40B4-BE49-F238E27FC236}">
                <a16:creationId xmlns:a16="http://schemas.microsoft.com/office/drawing/2014/main" id="{F9095998-DF0A-B57A-9D5C-EC5C6E33F22E}"/>
              </a:ext>
            </a:extLst>
          </p:cNvPr>
          <p:cNvSpPr/>
          <p:nvPr/>
        </p:nvSpPr>
        <p:spPr>
          <a:xfrm>
            <a:off x="2944720" y="2504929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WO Cost Settlement to RAB (Mid-Year)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  <p:sp>
        <p:nvSpPr>
          <p:cNvPr id="81" name="Freeform: Shape 80">
            <a:hlinkClick r:id="rId10" action="ppaction://hlinksldjump"/>
            <a:extLst>
              <a:ext uri="{FF2B5EF4-FFF2-40B4-BE49-F238E27FC236}">
                <a16:creationId xmlns:a16="http://schemas.microsoft.com/office/drawing/2014/main" id="{564B0CE1-FC39-4ECC-2EF8-E4CFBF6AE237}"/>
              </a:ext>
            </a:extLst>
          </p:cNvPr>
          <p:cNvSpPr/>
          <p:nvPr/>
        </p:nvSpPr>
        <p:spPr>
          <a:xfrm>
            <a:off x="5093366" y="2505428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6674" tIns="58419" rIns="66674" bIns="58419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Quality Management Index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9F2CD731-9462-B44E-90F4-D390665EC6AF}"/>
              </a:ext>
            </a:extLst>
          </p:cNvPr>
          <p:cNvSpPr/>
          <p:nvPr/>
        </p:nvSpPr>
        <p:spPr>
          <a:xfrm>
            <a:off x="5093366" y="3831242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6674" tIns="58419" rIns="66674" bIns="58419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Completion of DPWH &amp; </a:t>
            </a:r>
            <a:br>
              <a:rPr lang="en-US" sz="1300" b="0" i="0" u="none" kern="1200"/>
            </a:br>
            <a:r>
              <a:rPr lang="en-US" sz="1300" b="0" i="0" u="none" kern="1200"/>
              <a:t>Priority Gov't </a:t>
            </a:r>
            <a:r>
              <a:rPr lang="en-US" sz="1300" b="0" i="0" u="none" kern="1200" err="1"/>
              <a:t>Reloc</a:t>
            </a:r>
            <a:r>
              <a:rPr lang="en-US" sz="1300" b="0" i="0" u="none" kern="1200"/>
              <a:t> Projects</a:t>
            </a:r>
            <a:endParaRPr lang="en-US" sz="1300" kern="120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B57F5505-CC23-7B63-69A4-D04E8123F0B9}"/>
              </a:ext>
            </a:extLst>
          </p:cNvPr>
          <p:cNvSpPr/>
          <p:nvPr/>
        </p:nvSpPr>
        <p:spPr>
          <a:xfrm>
            <a:off x="5093366" y="5121156"/>
            <a:ext cx="2029968" cy="1184937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6674" tIns="58419" rIns="66674" bIns="58419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Completion of BBB </a:t>
            </a:r>
            <a:r>
              <a:rPr lang="en-US" sz="1300" b="0" i="0" u="none" kern="1200" err="1"/>
              <a:t>Reloc</a:t>
            </a:r>
            <a:r>
              <a:rPr lang="en-US" sz="1300" b="0" i="0" u="none" kern="1200"/>
              <a:t> Projects</a:t>
            </a:r>
            <a:endParaRPr lang="en-US" sz="1300" kern="120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1E1FAF91-2B3C-81A1-D8D9-C859D4D4F56A}"/>
              </a:ext>
            </a:extLst>
          </p:cNvPr>
          <p:cNvSpPr/>
          <p:nvPr/>
        </p:nvSpPr>
        <p:spPr>
          <a:xfrm>
            <a:off x="7242012" y="2504929"/>
            <a:ext cx="2029968" cy="1763467"/>
          </a:xfrm>
          <a:custGeom>
            <a:avLst/>
            <a:gdLst>
              <a:gd name="connsiteX0" fmla="*/ 0 w 1686324"/>
              <a:gd name="connsiteY0" fmla="*/ 168632 h 1763467"/>
              <a:gd name="connsiteX1" fmla="*/ 168632 w 1686324"/>
              <a:gd name="connsiteY1" fmla="*/ 0 h 1763467"/>
              <a:gd name="connsiteX2" fmla="*/ 1517692 w 1686324"/>
              <a:gd name="connsiteY2" fmla="*/ 0 h 1763467"/>
              <a:gd name="connsiteX3" fmla="*/ 1686324 w 1686324"/>
              <a:gd name="connsiteY3" fmla="*/ 168632 h 1763467"/>
              <a:gd name="connsiteX4" fmla="*/ 1686324 w 1686324"/>
              <a:gd name="connsiteY4" fmla="*/ 1594835 h 1763467"/>
              <a:gd name="connsiteX5" fmla="*/ 1517692 w 1686324"/>
              <a:gd name="connsiteY5" fmla="*/ 1763467 h 1763467"/>
              <a:gd name="connsiteX6" fmla="*/ 168632 w 1686324"/>
              <a:gd name="connsiteY6" fmla="*/ 1763467 h 1763467"/>
              <a:gd name="connsiteX7" fmla="*/ 0 w 1686324"/>
              <a:gd name="connsiteY7" fmla="*/ 1594835 h 1763467"/>
              <a:gd name="connsiteX8" fmla="*/ 0 w 1686324"/>
              <a:gd name="connsiteY8" fmla="*/ 168632 h 176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763467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1594835"/>
                </a:lnTo>
                <a:cubicBezTo>
                  <a:pt x="1686324" y="1687968"/>
                  <a:pt x="1610825" y="1763467"/>
                  <a:pt x="1517692" y="1763467"/>
                </a:cubicBezTo>
                <a:lnTo>
                  <a:pt x="168632" y="1763467"/>
                </a:lnTo>
                <a:cubicBezTo>
                  <a:pt x="75499" y="1763467"/>
                  <a:pt x="0" y="1687968"/>
                  <a:pt x="0" y="1594835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Lost Time Incidents</a:t>
            </a:r>
            <a:endParaRPr lang="en-US" sz="1300" b="1" kern="1200">
              <a:latin typeface="Trade Gothic LT Std" panose="020B0503020502020204" pitchFamily="34" charset="0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70AE2EAB-B215-A5C3-5395-765A114B13A5}"/>
              </a:ext>
            </a:extLst>
          </p:cNvPr>
          <p:cNvSpPr/>
          <p:nvPr/>
        </p:nvSpPr>
        <p:spPr>
          <a:xfrm>
            <a:off x="7242012" y="4480562"/>
            <a:ext cx="2029968" cy="1824318"/>
          </a:xfrm>
          <a:custGeom>
            <a:avLst/>
            <a:gdLst>
              <a:gd name="connsiteX0" fmla="*/ 0 w 1686324"/>
              <a:gd name="connsiteY0" fmla="*/ 168632 h 1763467"/>
              <a:gd name="connsiteX1" fmla="*/ 168632 w 1686324"/>
              <a:gd name="connsiteY1" fmla="*/ 0 h 1763467"/>
              <a:gd name="connsiteX2" fmla="*/ 1517692 w 1686324"/>
              <a:gd name="connsiteY2" fmla="*/ 0 h 1763467"/>
              <a:gd name="connsiteX3" fmla="*/ 1686324 w 1686324"/>
              <a:gd name="connsiteY3" fmla="*/ 168632 h 1763467"/>
              <a:gd name="connsiteX4" fmla="*/ 1686324 w 1686324"/>
              <a:gd name="connsiteY4" fmla="*/ 1594835 h 1763467"/>
              <a:gd name="connsiteX5" fmla="*/ 1517692 w 1686324"/>
              <a:gd name="connsiteY5" fmla="*/ 1763467 h 1763467"/>
              <a:gd name="connsiteX6" fmla="*/ 168632 w 1686324"/>
              <a:gd name="connsiteY6" fmla="*/ 1763467 h 1763467"/>
              <a:gd name="connsiteX7" fmla="*/ 0 w 1686324"/>
              <a:gd name="connsiteY7" fmla="*/ 1594835 h 1763467"/>
              <a:gd name="connsiteX8" fmla="*/ 0 w 1686324"/>
              <a:gd name="connsiteY8" fmla="*/ 168632 h 176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763467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1594835"/>
                </a:lnTo>
                <a:cubicBezTo>
                  <a:pt x="1686324" y="1687968"/>
                  <a:pt x="1610825" y="1763467"/>
                  <a:pt x="1517692" y="1763467"/>
                </a:cubicBezTo>
                <a:lnTo>
                  <a:pt x="168632" y="1763467"/>
                </a:lnTo>
                <a:cubicBezTo>
                  <a:pt x="75499" y="1763467"/>
                  <a:pt x="0" y="1687968"/>
                  <a:pt x="0" y="1594835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Fatality</a:t>
            </a:r>
            <a:endParaRPr lang="en-US" sz="1300" b="1" kern="1200">
              <a:latin typeface="Trade Gothic LT Std" panose="020B0503020502020204" pitchFamily="34" charset="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3C09D8E-A54E-498D-B30D-A2C7FE683386}"/>
              </a:ext>
            </a:extLst>
          </p:cNvPr>
          <p:cNvSpPr/>
          <p:nvPr/>
        </p:nvSpPr>
        <p:spPr>
          <a:xfrm>
            <a:off x="9395667" y="2504929"/>
            <a:ext cx="2029968" cy="3801664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Natural Ester-oil Pole Mounted DTs Installation</a:t>
            </a:r>
            <a:endParaRPr lang="en-US" sz="1300" kern="1200"/>
          </a:p>
        </p:txBody>
      </p:sp>
      <p:pic>
        <p:nvPicPr>
          <p:cNvPr id="94" name="Graphic 93" descr="Sustainability with solid fill">
            <a:extLst>
              <a:ext uri="{FF2B5EF4-FFF2-40B4-BE49-F238E27FC236}">
                <a16:creationId xmlns:a16="http://schemas.microsoft.com/office/drawing/2014/main" id="{2221A523-CB35-ACCB-FE4D-3F59F316C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3451" y="1072351"/>
            <a:ext cx="914400" cy="914400"/>
          </a:xfrm>
          <a:prstGeom prst="rect">
            <a:avLst/>
          </a:prstGeom>
        </p:spPr>
      </p:pic>
      <p:pic>
        <p:nvPicPr>
          <p:cNvPr id="95" name="Graphic 94" descr="Fluorescent Light Bulb with solid fill">
            <a:extLst>
              <a:ext uri="{FF2B5EF4-FFF2-40B4-BE49-F238E27FC236}">
                <a16:creationId xmlns:a16="http://schemas.microsoft.com/office/drawing/2014/main" id="{9B8EEDCD-EED3-C608-6259-154C6AB813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pic>
        <p:nvPicPr>
          <p:cNvPr id="96" name="Graphic 95" descr="Coins with solid fill">
            <a:extLst>
              <a:ext uri="{FF2B5EF4-FFF2-40B4-BE49-F238E27FC236}">
                <a16:creationId xmlns:a16="http://schemas.microsoft.com/office/drawing/2014/main" id="{AA2BE09A-712B-80EB-46CC-384F86841C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9905" y="1079096"/>
            <a:ext cx="914400" cy="914400"/>
          </a:xfrm>
          <a:prstGeom prst="rect">
            <a:avLst/>
          </a:prstGeom>
        </p:spPr>
      </p:pic>
      <p:pic>
        <p:nvPicPr>
          <p:cNvPr id="97" name="Graphic 96" descr="Ribbon with solid fill">
            <a:extLst>
              <a:ext uri="{FF2B5EF4-FFF2-40B4-BE49-F238E27FC236}">
                <a16:creationId xmlns:a16="http://schemas.microsoft.com/office/drawing/2014/main" id="{EF4B83BA-23D2-F463-EDA7-157771D8DAE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8912" y="1080138"/>
            <a:ext cx="914400" cy="914400"/>
          </a:xfrm>
          <a:prstGeom prst="rect">
            <a:avLst/>
          </a:prstGeom>
        </p:spPr>
      </p:pic>
      <p:pic>
        <p:nvPicPr>
          <p:cNvPr id="98" name="Graphic 97" descr="Construction worker male with solid fill">
            <a:extLst>
              <a:ext uri="{FF2B5EF4-FFF2-40B4-BE49-F238E27FC236}">
                <a16:creationId xmlns:a16="http://schemas.microsoft.com/office/drawing/2014/main" id="{97670AE0-226B-ED4C-454D-DD34171BC09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86016" y="1120138"/>
            <a:ext cx="914400" cy="914400"/>
          </a:xfrm>
          <a:prstGeom prst="rect">
            <a:avLst/>
          </a:prstGeom>
        </p:spPr>
      </p:pic>
      <p:pic>
        <p:nvPicPr>
          <p:cNvPr id="99" name="Graphic 98" descr="Coins with solid fill">
            <a:extLst>
              <a:ext uri="{FF2B5EF4-FFF2-40B4-BE49-F238E27FC236}">
                <a16:creationId xmlns:a16="http://schemas.microsoft.com/office/drawing/2014/main" id="{6D06AA14-21E0-3847-A043-9D39E105AD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9905" y="1080138"/>
            <a:ext cx="914400" cy="914400"/>
          </a:xfrm>
          <a:prstGeom prst="rect">
            <a:avLst/>
          </a:prstGeom>
        </p:spPr>
      </p:pic>
      <p:sp>
        <p:nvSpPr>
          <p:cNvPr id="3" name="Freeform: Shape 2">
            <a:hlinkClick r:id="rId9" action="ppaction://hlinksldjump"/>
            <a:extLst>
              <a:ext uri="{FF2B5EF4-FFF2-40B4-BE49-F238E27FC236}">
                <a16:creationId xmlns:a16="http://schemas.microsoft.com/office/drawing/2014/main" id="{F320B1C0-78A5-9FAE-4114-FB4E93C80A24}"/>
              </a:ext>
            </a:extLst>
          </p:cNvPr>
          <p:cNvSpPr/>
          <p:nvPr/>
        </p:nvSpPr>
        <p:spPr>
          <a:xfrm>
            <a:off x="2950513" y="4447242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WO Cost Settlement to RAB (Year-End)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  <p:sp>
        <p:nvSpPr>
          <p:cNvPr id="4" name="Freeform: Shape 3">
            <a:hlinkClick r:id="rId8" action="ppaction://hlinksldjump"/>
            <a:extLst>
              <a:ext uri="{FF2B5EF4-FFF2-40B4-BE49-F238E27FC236}">
                <a16:creationId xmlns:a16="http://schemas.microsoft.com/office/drawing/2014/main" id="{4C30D13F-0715-2503-306E-F9796734719D}"/>
              </a:ext>
            </a:extLst>
          </p:cNvPr>
          <p:cNvSpPr/>
          <p:nvPr/>
        </p:nvSpPr>
        <p:spPr>
          <a:xfrm>
            <a:off x="809437" y="5855630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Project Resolution Duration Index (PRDI)</a:t>
            </a:r>
          </a:p>
        </p:txBody>
      </p:sp>
      <p:sp>
        <p:nvSpPr>
          <p:cNvPr id="5" name="Freeform: Shape 4">
            <a:hlinkClick r:id="rId8" action="ppaction://hlinksldjump"/>
            <a:extLst>
              <a:ext uri="{FF2B5EF4-FFF2-40B4-BE49-F238E27FC236}">
                <a16:creationId xmlns:a16="http://schemas.microsoft.com/office/drawing/2014/main" id="{4E9938D2-302D-712F-CC30-E86EB8309B46}"/>
              </a:ext>
            </a:extLst>
          </p:cNvPr>
          <p:cNvSpPr/>
          <p:nvPr/>
        </p:nvSpPr>
        <p:spPr>
          <a:xfrm>
            <a:off x="806768" y="2504929"/>
            <a:ext cx="2025013" cy="45720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9467" tIns="41212" rIns="49467" bIns="4121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Customer Connection Timeliness Index (CCTI)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28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EFA442-5A6B-EAF4-17AB-278218DFC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570687"/>
              </p:ext>
            </p:extLst>
          </p:nvPr>
        </p:nvGraphicFramePr>
        <p:xfrm>
          <a:off x="1012532" y="106879"/>
          <a:ext cx="10166936" cy="6400487"/>
        </p:xfrm>
        <a:graphic>
          <a:graphicData uri="http://schemas.openxmlformats.org/drawingml/2006/table">
            <a:tbl>
              <a:tblPr bandRow="1"/>
              <a:tblGrid>
                <a:gridCol w="1150660">
                  <a:extLst>
                    <a:ext uri="{9D8B030D-6E8A-4147-A177-3AD203B41FA5}">
                      <a16:colId xmlns:a16="http://schemas.microsoft.com/office/drawing/2014/main" val="450472609"/>
                    </a:ext>
                  </a:extLst>
                </a:gridCol>
                <a:gridCol w="368993">
                  <a:extLst>
                    <a:ext uri="{9D8B030D-6E8A-4147-A177-3AD203B41FA5}">
                      <a16:colId xmlns:a16="http://schemas.microsoft.com/office/drawing/2014/main" val="2950019602"/>
                    </a:ext>
                  </a:extLst>
                </a:gridCol>
                <a:gridCol w="4169573">
                  <a:extLst>
                    <a:ext uri="{9D8B030D-6E8A-4147-A177-3AD203B41FA5}">
                      <a16:colId xmlns:a16="http://schemas.microsoft.com/office/drawing/2014/main" val="4049362914"/>
                    </a:ext>
                  </a:extLst>
                </a:gridCol>
                <a:gridCol w="1051619">
                  <a:extLst>
                    <a:ext uri="{9D8B030D-6E8A-4147-A177-3AD203B41FA5}">
                      <a16:colId xmlns:a16="http://schemas.microsoft.com/office/drawing/2014/main" val="1696379551"/>
                    </a:ext>
                  </a:extLst>
                </a:gridCol>
                <a:gridCol w="1414069">
                  <a:extLst>
                    <a:ext uri="{9D8B030D-6E8A-4147-A177-3AD203B41FA5}">
                      <a16:colId xmlns:a16="http://schemas.microsoft.com/office/drawing/2014/main" val="1323916377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99710791"/>
                    </a:ext>
                  </a:extLst>
                </a:gridCol>
                <a:gridCol w="956945">
                  <a:extLst>
                    <a:ext uri="{9D8B030D-6E8A-4147-A177-3AD203B41FA5}">
                      <a16:colId xmlns:a16="http://schemas.microsoft.com/office/drawing/2014/main" val="28322415"/>
                    </a:ext>
                  </a:extLst>
                </a:gridCol>
              </a:tblGrid>
              <a:tr h="368443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 C1 GAINS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Paranaque C1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702681"/>
                  </a:ext>
                </a:extLst>
              </a:tr>
              <a:tr h="368443"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76712"/>
                  </a:ext>
                </a:extLst>
              </a:tr>
              <a:tr h="368443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 Sales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Customer Connection Timeliness Index (CCTI)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617688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Conversion Rate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908978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Ageing PCAs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786475"/>
                  </a:ext>
                </a:extLst>
              </a:tr>
              <a:tr h="4026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Adherence to approved PAI SAIDI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adherence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within ±10%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within ±5%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3240"/>
                  </a:ext>
                </a:extLst>
              </a:tr>
              <a:tr h="4026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Termination/Modification APT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86572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AE2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Termination Resolution of Pending PCA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44307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 Resolution Duration Index (PRDI)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815288"/>
                  </a:ext>
                </a:extLst>
              </a:tr>
              <a:tr h="3684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CAPEX </a:t>
                      </a:r>
                      <a:b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7AE21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WO Cost Settlement to RAB (Mid-Year)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3.300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281160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WO Cost Settlement to RAB (Year-End)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6.470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6.590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972222"/>
                  </a:ext>
                </a:extLst>
              </a:tr>
              <a:tr h="36844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Quality Management Index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8739"/>
                  </a:ext>
                </a:extLst>
              </a:tr>
              <a:tr h="4026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DPWH &amp;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Priority Gov't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345032"/>
                  </a:ext>
                </a:extLst>
              </a:tr>
              <a:tr h="4026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BBB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38272"/>
                  </a:ext>
                </a:extLst>
              </a:tr>
              <a:tr h="3684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Lost Time Incident Frequency Ratio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Lost Time Incidents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984717"/>
                  </a:ext>
                </a:extLst>
              </a:tr>
              <a:tr h="368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Fatality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58757"/>
                  </a:ext>
                </a:extLst>
              </a:tr>
              <a:tr h="368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Sustainability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Natural Ester-oil Pole Mounted DTs Installation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341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70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1" y="822784"/>
            <a:ext cx="11155699" cy="5674098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807105" y="336929"/>
            <a:ext cx="4476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3697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sp>
        <p:nvSpPr>
          <p:cNvPr id="36" name="Freeform: Shape 35">
            <a:hlinkClick r:id="rId12" action="ppaction://hlinksldjump"/>
            <a:extLst>
              <a:ext uri="{FF2B5EF4-FFF2-40B4-BE49-F238E27FC236}">
                <a16:creationId xmlns:a16="http://schemas.microsoft.com/office/drawing/2014/main" id="{99DA3D3B-0A5E-ADF6-3663-4A494646C878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CC23FE3-3141-293B-B832-C54AA2245B1A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AC0490-6D4B-83EE-2DC2-2CC4AD81703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34297E3-2084-2E8B-7B1D-2181C4651C92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4812BA7-5754-5284-9C04-4C596320581C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8054E7F-11DF-5045-9511-5A566FC58C36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CF00F38-E464-5B0B-11F4-FB20B6A06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30743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  <p:sp>
        <p:nvSpPr>
          <p:cNvPr id="51" name="TextBox 10">
            <a:extLst>
              <a:ext uri="{FF2B5EF4-FFF2-40B4-BE49-F238E27FC236}">
                <a16:creationId xmlns:a16="http://schemas.microsoft.com/office/drawing/2014/main" id="{74AA2DF4-2E63-02B9-451D-5AF5EEDC1B21}"/>
              </a:ext>
            </a:extLst>
          </p:cNvPr>
          <p:cNvSpPr txBox="1"/>
          <p:nvPr/>
        </p:nvSpPr>
        <p:spPr>
          <a:xfrm>
            <a:off x="7384802" y="4893438"/>
            <a:ext cx="3488857" cy="1341107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Scope:</a:t>
            </a:r>
            <a:endParaRPr lang="en-US" sz="1200" dirty="0"/>
          </a:p>
          <a:p>
            <a:pPr marL="171450" indent="-171450">
              <a:buFontTx/>
              <a:buChar char="-"/>
              <a:defRPr/>
            </a:pPr>
            <a:r>
              <a:rPr lang="en-US" sz="1200" dirty="0"/>
              <a:t>NEW (CC-type)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/>
              <a:t>Latest WMTRL Date and FCOMP Date are in the current year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/>
              <a:t>Latest WMTRL Date is in the current year, not yet FCOMP and is already beyond SPT based on Manhour and Applied Load clusters</a:t>
            </a:r>
            <a:endParaRPr lang="en-US" sz="1200">
              <a:effectLst/>
            </a:endParaRPr>
          </a:p>
        </p:txBody>
      </p:sp>
      <p:pic>
        <p:nvPicPr>
          <p:cNvPr id="52" name="Graphic 19" descr="Lightbulb with solid fill">
            <a:extLst>
              <a:ext uri="{FF2B5EF4-FFF2-40B4-BE49-F238E27FC236}">
                <a16:creationId xmlns:a16="http://schemas.microsoft.com/office/drawing/2014/main" id="{034A1AE5-BD26-DEAD-871A-9106C0C6890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61571" y="4556167"/>
            <a:ext cx="949944" cy="91440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AA433C6-BEA5-4DCF-1AC3-FE7A7896E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479067"/>
              </p:ext>
            </p:extLst>
          </p:nvPr>
        </p:nvGraphicFramePr>
        <p:xfrm>
          <a:off x="3223187" y="4415334"/>
          <a:ext cx="3255328" cy="1956567"/>
        </p:xfrm>
        <a:graphic>
          <a:graphicData uri="http://schemas.openxmlformats.org/drawingml/2006/table">
            <a:tbl>
              <a:tblPr/>
              <a:tblGrid>
                <a:gridCol w="895364">
                  <a:extLst>
                    <a:ext uri="{9D8B030D-6E8A-4147-A177-3AD203B41FA5}">
                      <a16:colId xmlns:a16="http://schemas.microsoft.com/office/drawing/2014/main" val="984954762"/>
                    </a:ext>
                  </a:extLst>
                </a:gridCol>
                <a:gridCol w="1052368">
                  <a:extLst>
                    <a:ext uri="{9D8B030D-6E8A-4147-A177-3AD203B41FA5}">
                      <a16:colId xmlns:a16="http://schemas.microsoft.com/office/drawing/2014/main" val="2316925551"/>
                    </a:ext>
                  </a:extLst>
                </a:gridCol>
                <a:gridCol w="1307596">
                  <a:extLst>
                    <a:ext uri="{9D8B030D-6E8A-4147-A177-3AD203B41FA5}">
                      <a16:colId xmlns:a16="http://schemas.microsoft.com/office/drawing/2014/main" val="1831230998"/>
                    </a:ext>
                  </a:extLst>
                </a:gridCol>
              </a:tblGrid>
              <a:tr h="4186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MNHRS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(JULY 1-11, 2025)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705248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16,730.75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1,163.74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172714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8,107.68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213.19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66324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3,129.50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38.52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12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6,352.93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358.19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250458"/>
                  </a:ext>
                </a:extLst>
              </a:tr>
              <a:tr h="1557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18,146.58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128.69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546796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351.76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63.34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69681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307.60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952749"/>
                  </a:ext>
                </a:extLst>
              </a:tr>
              <a:tr h="15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STA. ROSA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725.83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124988"/>
                  </a:ext>
                </a:extLst>
              </a:tr>
              <a:tr h="1967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53,852.63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1,965.67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55253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3295C3-0047-0556-0393-CB13E0702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606845"/>
              </p:ext>
            </p:extLst>
          </p:nvPr>
        </p:nvGraphicFramePr>
        <p:xfrm>
          <a:off x="3086674" y="1753242"/>
          <a:ext cx="8064500" cy="2606040"/>
        </p:xfrm>
        <a:graphic>
          <a:graphicData uri="http://schemas.openxmlformats.org/drawingml/2006/table">
            <a:tbl>
              <a:tblPr/>
              <a:tblGrid>
                <a:gridCol w="1054100">
                  <a:extLst>
                    <a:ext uri="{9D8B030D-6E8A-4147-A177-3AD203B41FA5}">
                      <a16:colId xmlns:a16="http://schemas.microsoft.com/office/drawing/2014/main" val="42372339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14287895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5342338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94881445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403877048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83156259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19508599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690741514"/>
                    </a:ext>
                  </a:extLst>
                </a:gridCol>
              </a:tblGrid>
              <a:tr h="114426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650652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100" b="1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WITH EXCLUSION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7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86947"/>
                  </a:ext>
                </a:extLst>
              </a:tr>
              <a:tr h="343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VENDOR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PCA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JULY 12-18,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CCTI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(FCOMP)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CCTI 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(less than FCOMP)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CCTI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(FCOMP)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CCTI 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(less than FCOMP)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Count of beyond SPT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532134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2.73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038115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1.07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1.66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001152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2.36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157719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2.02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2.16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750157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1.26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1.48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381551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0.50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623188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1.38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0598"/>
                  </a:ext>
                </a:extLst>
              </a:tr>
              <a:tr h="11442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STA. ROSA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984576"/>
                  </a:ext>
                </a:extLst>
              </a:tr>
              <a:tr h="14563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1.25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2.22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08490"/>
                  </a:ext>
                </a:extLst>
              </a:tr>
              <a:tr h="153473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4472C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248009"/>
                  </a:ext>
                </a:extLst>
              </a:tr>
            </a:tbl>
          </a:graphicData>
        </a:graphic>
      </p:graphicFrame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5823F-AB5C-ADDF-CBA9-467C8F2295B8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sp>
        <p:nvSpPr>
          <p:cNvPr id="53" name="Freeform: Shape 52">
            <a:hlinkClick r:id="rId12" action="ppaction://hlinksldjump"/>
            <a:extLst>
              <a:ext uri="{FF2B5EF4-FFF2-40B4-BE49-F238E27FC236}">
                <a16:creationId xmlns:a16="http://schemas.microsoft.com/office/drawing/2014/main" id="{C23DA000-BC8D-8EBF-204D-8D9D4285AA67}"/>
              </a:ext>
            </a:extLst>
          </p:cNvPr>
          <p:cNvSpPr/>
          <p:nvPr/>
        </p:nvSpPr>
        <p:spPr>
          <a:xfrm>
            <a:off x="6958211" y="4171112"/>
            <a:ext cx="860403" cy="209578"/>
          </a:xfrm>
          <a:custGeom>
            <a:avLst/>
            <a:gdLst>
              <a:gd name="connsiteX0" fmla="*/ 0 w 1457101"/>
              <a:gd name="connsiteY0" fmla="*/ 61459 h 614589"/>
              <a:gd name="connsiteX1" fmla="*/ 61459 w 1457101"/>
              <a:gd name="connsiteY1" fmla="*/ 0 h 614589"/>
              <a:gd name="connsiteX2" fmla="*/ 1395642 w 1457101"/>
              <a:gd name="connsiteY2" fmla="*/ 0 h 614589"/>
              <a:gd name="connsiteX3" fmla="*/ 1457101 w 1457101"/>
              <a:gd name="connsiteY3" fmla="*/ 61459 h 614589"/>
              <a:gd name="connsiteX4" fmla="*/ 1457101 w 1457101"/>
              <a:gd name="connsiteY4" fmla="*/ 553130 h 614589"/>
              <a:gd name="connsiteX5" fmla="*/ 1395642 w 1457101"/>
              <a:gd name="connsiteY5" fmla="*/ 614589 h 614589"/>
              <a:gd name="connsiteX6" fmla="*/ 61459 w 1457101"/>
              <a:gd name="connsiteY6" fmla="*/ 614589 h 614589"/>
              <a:gd name="connsiteX7" fmla="*/ 0 w 1457101"/>
              <a:gd name="connsiteY7" fmla="*/ 553130 h 614589"/>
              <a:gd name="connsiteX8" fmla="*/ 0 w 1457101"/>
              <a:gd name="connsiteY8" fmla="*/ 61459 h 614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7101" h="614589">
                <a:moveTo>
                  <a:pt x="0" y="61459"/>
                </a:moveTo>
                <a:cubicBezTo>
                  <a:pt x="0" y="27516"/>
                  <a:pt x="27516" y="0"/>
                  <a:pt x="61459" y="0"/>
                </a:cubicBezTo>
                <a:lnTo>
                  <a:pt x="1395642" y="0"/>
                </a:lnTo>
                <a:cubicBezTo>
                  <a:pt x="1429585" y="0"/>
                  <a:pt x="1457101" y="27516"/>
                  <a:pt x="1457101" y="61459"/>
                </a:cubicBezTo>
                <a:lnTo>
                  <a:pt x="1457101" y="553130"/>
                </a:lnTo>
                <a:cubicBezTo>
                  <a:pt x="1457101" y="587073"/>
                  <a:pt x="1429585" y="614589"/>
                  <a:pt x="1395642" y="614589"/>
                </a:cubicBezTo>
                <a:lnTo>
                  <a:pt x="61459" y="614589"/>
                </a:lnTo>
                <a:cubicBezTo>
                  <a:pt x="27516" y="614589"/>
                  <a:pt x="0" y="587073"/>
                  <a:pt x="0" y="553130"/>
                </a:cubicBezTo>
                <a:lnTo>
                  <a:pt x="0" y="61459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401" tIns="37051" rIns="43401" bIns="37051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kern="1200">
              <a:latin typeface="Trade Gothic LT Std" panose="020B0503020502020204" pitchFamily="34" charset="0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9E95F29-18D9-ACA1-A3A6-B4F4F0948C7F}"/>
              </a:ext>
            </a:extLst>
          </p:cNvPr>
          <p:cNvSpPr/>
          <p:nvPr/>
        </p:nvSpPr>
        <p:spPr>
          <a:xfrm rot="10800000" flipV="1">
            <a:off x="7847658" y="4171625"/>
            <a:ext cx="344042" cy="13128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1EA4122-FECD-4E53-A9B7-979400A191D7}"/>
              </a:ext>
            </a:extLst>
          </p:cNvPr>
          <p:cNvSpPr/>
          <p:nvPr/>
        </p:nvSpPr>
        <p:spPr>
          <a:xfrm flipV="1">
            <a:off x="11127531" y="7162669"/>
            <a:ext cx="344042" cy="131287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4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CCTI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6E63AF-6920-C76D-8469-3DA0CCB16AC8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64A913-C01C-B127-A6DE-C01B58D4C63C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0497FAF6-086D-142D-F537-E41F32E411BA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81CB25C-1E33-AE60-5026-7D015DCD2DD8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DD49D852-F061-71D5-6CD6-F798C40FFE55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A22C29-07BD-875B-905A-3FEAC9FF84FB}"/>
              </a:ext>
            </a:extLst>
          </p:cNvPr>
          <p:cNvGrpSpPr/>
          <p:nvPr/>
        </p:nvGrpSpPr>
        <p:grpSpPr>
          <a:xfrm>
            <a:off x="381760" y="829486"/>
            <a:ext cx="6006339" cy="461665"/>
            <a:chOff x="228599" y="829486"/>
            <a:chExt cx="6006339" cy="46166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166523A-7544-8FED-0ADE-512B80DE26CD}"/>
                </a:ext>
              </a:extLst>
            </p:cNvPr>
            <p:cNvSpPr/>
            <p:nvPr/>
          </p:nvSpPr>
          <p:spPr>
            <a:xfrm>
              <a:off x="228599" y="829486"/>
              <a:ext cx="6006339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09E70B22-B58C-29FC-740F-20FD2EA29FB4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32EC9F-C81C-446A-972F-8C3D68835572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A367D-0924-33C8-5C70-963F6EBACADE}"/>
              </a:ext>
            </a:extLst>
          </p:cNvPr>
          <p:cNvSpPr txBox="1"/>
          <p:nvPr/>
        </p:nvSpPr>
        <p:spPr>
          <a:xfrm>
            <a:off x="1147434" y="878811"/>
            <a:ext cx="5615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Connection Construction Timeliness Index (CCTI)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A18B5-0FE8-75F2-6C54-D9F30600DA31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452B1-E8B8-0CA7-69FC-C8F6AFA07EF9}"/>
              </a:ext>
            </a:extLst>
          </p:cNvPr>
          <p:cNvSpPr txBox="1"/>
          <p:nvPr/>
        </p:nvSpPr>
        <p:spPr>
          <a:xfrm>
            <a:off x="2041502" y="1622569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P&amp;S OL3, Scheduler</a:t>
            </a:r>
          </a:p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Sector OL3, Construction 1, Underground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5B4CE-5B14-C0C8-EB46-1C86DD8E294F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D1BD78-5370-C4D2-9BA7-0964EE71E188}"/>
              </a:ext>
            </a:extLst>
          </p:cNvPr>
          <p:cNvGrpSpPr/>
          <p:nvPr/>
        </p:nvGrpSpPr>
        <p:grpSpPr>
          <a:xfrm>
            <a:off x="373313" y="2643322"/>
            <a:ext cx="11445374" cy="3577370"/>
            <a:chOff x="220152" y="2643322"/>
            <a:chExt cx="11445374" cy="35773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8715F6A-F498-E022-768F-B8D1EA5883F7}"/>
                </a:ext>
              </a:extLst>
            </p:cNvPr>
            <p:cNvGrpSpPr/>
            <p:nvPr/>
          </p:nvGrpSpPr>
          <p:grpSpPr>
            <a:xfrm>
              <a:off x="228597" y="2643326"/>
              <a:ext cx="11436929" cy="3577366"/>
              <a:chOff x="228599" y="1434543"/>
              <a:chExt cx="2575561" cy="1070606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B42F0E0-525A-A25A-C92F-81ED7BA20686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4343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F57AE95-1D67-DA88-F4EF-99BAE980C0F3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29975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E6CB205B-5339-ECCF-4AA0-A4652110B26F}"/>
                </a:ext>
              </a:extLst>
            </p:cNvPr>
            <p:cNvSpPr/>
            <p:nvPr/>
          </p:nvSpPr>
          <p:spPr>
            <a:xfrm rot="10800000">
              <a:off x="732531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D129EA2A-A4E8-83DB-3B5E-03A921A3DB0F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0F5BB8-2540-D5F9-157D-7835BEBBB48A}"/>
              </a:ext>
            </a:extLst>
          </p:cNvPr>
          <p:cNvSpPr txBox="1"/>
          <p:nvPr/>
        </p:nvSpPr>
        <p:spPr>
          <a:xfrm>
            <a:off x="417172" y="2677520"/>
            <a:ext cx="120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Formula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C9132-C51E-1B45-DE27-DCEECFB30F51}"/>
              </a:ext>
            </a:extLst>
          </p:cNvPr>
          <p:cNvSpPr txBox="1"/>
          <p:nvPr/>
        </p:nvSpPr>
        <p:spPr>
          <a:xfrm>
            <a:off x="2433072" y="2791399"/>
            <a:ext cx="7802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59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CCTI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[30% (Project Duration/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SPTm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)] +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[ 70% (Project Duration/</a:t>
            </a:r>
            <a:r>
              <a:rPr lang="en-US" err="1">
                <a:latin typeface="Segoe UI" panose="020B0502040204020203" pitchFamily="34" charset="0"/>
                <a:cs typeface="Segoe UI" panose="020B0502040204020203" pitchFamily="34" charset="0"/>
              </a:rPr>
              <a:t>SPTr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)]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33A130-BD5D-AF24-9706-2505368AFF26}"/>
              </a:ext>
            </a:extLst>
          </p:cNvPr>
          <p:cNvCxnSpPr>
            <a:cxnSpLocks/>
          </p:cNvCxnSpPr>
          <p:nvPr/>
        </p:nvCxnSpPr>
        <p:spPr>
          <a:xfrm>
            <a:off x="3270867" y="3230204"/>
            <a:ext cx="69651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5F591E5-0EDE-BCB6-9F72-E9E4D037EF6E}"/>
              </a:ext>
            </a:extLst>
          </p:cNvPr>
          <p:cNvSpPr txBox="1"/>
          <p:nvPr/>
        </p:nvSpPr>
        <p:spPr>
          <a:xfrm>
            <a:off x="3883801" y="3203142"/>
            <a:ext cx="4994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Total Project 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B7252F-3D01-0DE7-399E-6A09D332CD8B}"/>
              </a:ext>
            </a:extLst>
          </p:cNvPr>
          <p:cNvSpPr/>
          <p:nvPr/>
        </p:nvSpPr>
        <p:spPr>
          <a:xfrm>
            <a:off x="2433072" y="3675442"/>
            <a:ext cx="47794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where:  Project Duration = FCOMP Status – WMTRL Status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7B3091-01B3-003E-15CF-8E3B92B01C45}"/>
              </a:ext>
            </a:extLst>
          </p:cNvPr>
          <p:cNvGraphicFramePr>
            <a:graphicFrameLocks noGrp="1"/>
          </p:cNvGraphicFramePr>
          <p:nvPr/>
        </p:nvGraphicFramePr>
        <p:xfrm>
          <a:off x="7060830" y="4025709"/>
          <a:ext cx="2171700" cy="190500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863115935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162068716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SPT based on Applied Load Cluster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600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APPLIED LOAD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3504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0 - 50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186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51 - 100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2726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101 - 200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71278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201 - 300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158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301 - 400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084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401 - 500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6675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501 - 1000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310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above 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12565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FEB167-DCB7-D63A-94FB-792A9D4D4245}"/>
              </a:ext>
            </a:extLst>
          </p:cNvPr>
          <p:cNvGraphicFramePr>
            <a:graphicFrameLocks noGrp="1"/>
          </p:cNvGraphicFramePr>
          <p:nvPr/>
        </p:nvGraphicFramePr>
        <p:xfrm>
          <a:off x="2954885" y="4025709"/>
          <a:ext cx="2615504" cy="2080260"/>
        </p:xfrm>
        <a:graphic>
          <a:graphicData uri="http://schemas.openxmlformats.org/drawingml/2006/table">
            <a:tbl>
              <a:tblPr/>
              <a:tblGrid>
                <a:gridCol w="1247527">
                  <a:extLst>
                    <a:ext uri="{9D8B030D-6E8A-4147-A177-3AD203B41FA5}">
                      <a16:colId xmlns:a16="http://schemas.microsoft.com/office/drawing/2014/main" val="1213697169"/>
                    </a:ext>
                  </a:extLst>
                </a:gridCol>
                <a:gridCol w="1367977">
                  <a:extLst>
                    <a:ext uri="{9D8B030D-6E8A-4147-A177-3AD203B41FA5}">
                      <a16:colId xmlns:a16="http://schemas.microsoft.com/office/drawing/2014/main" val="1752391206"/>
                    </a:ext>
                  </a:extLst>
                </a:gridCol>
              </a:tblGrid>
              <a:tr h="15406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05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SPT based on Manhour Cluster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117760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MANHOURS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15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SPT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075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0 - 50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36361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51 - 100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185214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101 - 200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191605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201 - 300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926937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301 - 400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310952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401 - 500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806419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501 - 1000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641985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1001 - 1500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151517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1501 - 2000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435600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Above 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50.00*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944119"/>
                  </a:ext>
                </a:extLst>
              </a:tr>
              <a:tr h="154062"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*or within target date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78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66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0917" y="842944"/>
            <a:ext cx="11155699" cy="5653938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3697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1EA4122-FECD-4E53-A9B7-979400A191D7}"/>
              </a:ext>
            </a:extLst>
          </p:cNvPr>
          <p:cNvSpPr/>
          <p:nvPr/>
        </p:nvSpPr>
        <p:spPr>
          <a:xfrm flipV="1">
            <a:off x="11450227" y="6933555"/>
            <a:ext cx="344042" cy="131287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hlinkClick r:id="rId14" action="ppaction://hlinksldjump"/>
            <a:extLst>
              <a:ext uri="{FF2B5EF4-FFF2-40B4-BE49-F238E27FC236}">
                <a16:creationId xmlns:a16="http://schemas.microsoft.com/office/drawing/2014/main" id="{608618F8-70BD-938E-CCFE-4D620DADA274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DB92CC-C45F-795E-F634-9DBCEC1D6A5A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C4509-DB90-027E-1A78-5E9027039F36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4D639A-D309-607D-99B1-6328A449411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6BDCDC-521A-542B-34E9-BE2BBDDFD176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5D4D0E3-B0C2-882E-5CD7-8C43A20CB29D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2A0D378-83C5-E9DA-F2F0-4338679CA935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039AA8-F48C-A567-53E9-18D447F65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603070"/>
              </p:ext>
            </p:extLst>
          </p:nvPr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Crew workload, pole location issues, third-party refusal and customer compliance, and insufficient contractual manpower leading to backlogs in PCA execution, causing delays in energization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69E0D4-7215-E14F-FD81-A4477B82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44619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Prioritization of both revenue and non-revenue PCA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518752-7D4B-703E-B72D-FB0A0788D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30426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32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25384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Trade Gothic LT Std" panose="020B0503020502020204" pitchFamily="34" charset="0"/>
              </a:rPr>
              <a:t>aasf</a:t>
            </a:r>
            <a:endParaRPr lang="en-US" sz="1400" b="1" dirty="0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9163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1EA4122-FECD-4E53-A9B7-979400A191D7}"/>
              </a:ext>
            </a:extLst>
          </p:cNvPr>
          <p:cNvSpPr/>
          <p:nvPr/>
        </p:nvSpPr>
        <p:spPr>
          <a:xfrm flipV="1">
            <a:off x="11450227" y="7380790"/>
            <a:ext cx="344042" cy="131287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hlinkClick r:id="rId14" action="ppaction://hlinksldjump"/>
            <a:extLst>
              <a:ext uri="{FF2B5EF4-FFF2-40B4-BE49-F238E27FC236}">
                <a16:creationId xmlns:a16="http://schemas.microsoft.com/office/drawing/2014/main" id="{939C8342-A2DB-FA75-70FD-4A10A9B6C308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8AF8245-04A9-75D2-7D17-9EDDB017129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54FE762-4E10-B74A-6819-BA79DAC6320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19CE56-C32E-9461-AF2C-6D54D9D34722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ABD04B-8A4B-32EB-FEA5-B5C6622C8829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200EF42-E32C-940F-DAA4-85D0486F3126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FFD35F-3A00-9740-54F3-88FE981B3A7F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6C3ECA-7080-04CA-67E6-9DA5813304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53860" y="1923921"/>
            <a:ext cx="5276414" cy="274778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1FCF5A3-0319-DAFA-BBEB-016EE065CEEE}"/>
              </a:ext>
            </a:extLst>
          </p:cNvPr>
          <p:cNvSpPr txBox="1"/>
          <p:nvPr/>
        </p:nvSpPr>
        <p:spPr>
          <a:xfrm>
            <a:off x="8502454" y="2528104"/>
            <a:ext cx="2881629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1600" b="1" i="1" dirty="0">
                <a:ln/>
                <a:solidFill>
                  <a:schemeClr val="accent4"/>
                </a:solidFill>
              </a:rPr>
              <a:t>ACCOMPLISHMENT </a:t>
            </a:r>
          </a:p>
          <a:p>
            <a:r>
              <a:rPr lang="en-US" sz="1600" b="1" i="1" dirty="0">
                <a:ln/>
                <a:solidFill>
                  <a:schemeClr val="accent4"/>
                </a:solidFill>
              </a:rPr>
              <a:t>(ON-SITE MANHOURS)</a:t>
            </a:r>
          </a:p>
          <a:p>
            <a:endParaRPr lang="en-US" sz="1600" b="1" i="1" dirty="0">
              <a:ln/>
              <a:solidFill>
                <a:schemeClr val="accent4"/>
              </a:solidFill>
            </a:endParaRPr>
          </a:p>
          <a:p>
            <a:r>
              <a:rPr lang="en-US" sz="1600" b="1" dirty="0">
                <a:ln/>
                <a:solidFill>
                  <a:schemeClr val="accent4"/>
                </a:solidFill>
              </a:rPr>
              <a:t>C1 CREWS: 		</a:t>
            </a:r>
            <a:r>
              <a:rPr lang="en-US" sz="1600" dirty="0">
                <a:ln/>
                <a:solidFill>
                  <a:schemeClr val="tx1"/>
                </a:solidFill>
              </a:rPr>
              <a:t>4,429.99</a:t>
            </a:r>
          </a:p>
          <a:p>
            <a:r>
              <a:rPr lang="en-US" sz="1600" b="1" dirty="0">
                <a:ln/>
                <a:solidFill>
                  <a:schemeClr val="accent4"/>
                </a:solidFill>
              </a:rPr>
              <a:t>C2, MN, SRO: 		    </a:t>
            </a:r>
            <a:r>
              <a:rPr lang="en-US" sz="1600" dirty="0">
                <a:ln/>
                <a:solidFill>
                  <a:schemeClr val="tx1"/>
                </a:solidFill>
              </a:rPr>
              <a:t>637.88</a:t>
            </a:r>
            <a:r>
              <a:rPr lang="en-US" sz="1600" b="1" dirty="0">
                <a:ln/>
                <a:solidFill>
                  <a:schemeClr val="accent4"/>
                </a:solidFill>
              </a:rPr>
              <a:t>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F5E29BF-C7B6-1DAC-CB5D-7ECDFE146E0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53860" y="4758448"/>
            <a:ext cx="5708650" cy="16129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CC6EBDF-C18B-1591-6922-C0D42BDF0346}"/>
              </a:ext>
            </a:extLst>
          </p:cNvPr>
          <p:cNvSpPr txBox="1"/>
          <p:nvPr/>
        </p:nvSpPr>
        <p:spPr>
          <a:xfrm>
            <a:off x="10182016" y="3836206"/>
            <a:ext cx="1098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0" u="none" strike="noStrike" dirty="0">
                <a:solidFill>
                  <a:schemeClr val="accent4"/>
                </a:solidFill>
                <a:effectLst/>
                <a:latin typeface="Calibri" panose="020F0502020204030204" pitchFamily="34" charset="0"/>
              </a:rPr>
              <a:t>5,067.87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A108C92-B31B-FA82-DBF2-91E569C85595}"/>
              </a:ext>
            </a:extLst>
          </p:cNvPr>
          <p:cNvSpPr/>
          <p:nvPr/>
        </p:nvSpPr>
        <p:spPr>
          <a:xfrm>
            <a:off x="9450760" y="4750288"/>
            <a:ext cx="1461080" cy="886636"/>
          </a:xfrm>
          <a:prstGeom prst="roundRect">
            <a:avLst/>
          </a:prstGeom>
          <a:gradFill flip="none" rotWithShape="1">
            <a:gsLst>
              <a:gs pos="0">
                <a:srgbClr val="1F4E78">
                  <a:shade val="30000"/>
                  <a:satMod val="115000"/>
                </a:srgbClr>
              </a:gs>
              <a:gs pos="50000">
                <a:srgbClr val="1F4E78">
                  <a:shade val="67500"/>
                  <a:satMod val="115000"/>
                </a:srgbClr>
              </a:gs>
              <a:gs pos="100000">
                <a:srgbClr val="1F4E78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90.16%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74ED27D-07EC-D30C-1310-D6A278A3186B}"/>
              </a:ext>
            </a:extLst>
          </p:cNvPr>
          <p:cNvCxnSpPr>
            <a:cxnSpLocks/>
          </p:cNvCxnSpPr>
          <p:nvPr/>
        </p:nvCxnSpPr>
        <p:spPr>
          <a:xfrm flipV="1">
            <a:off x="5908185" y="6431355"/>
            <a:ext cx="932684" cy="55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25D2D89-1D72-9422-3366-4B0E30F272D7}"/>
              </a:ext>
            </a:extLst>
          </p:cNvPr>
          <p:cNvCxnSpPr>
            <a:cxnSpLocks/>
          </p:cNvCxnSpPr>
          <p:nvPr/>
        </p:nvCxnSpPr>
        <p:spPr>
          <a:xfrm flipV="1">
            <a:off x="10248910" y="4236316"/>
            <a:ext cx="932684" cy="55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row: Right 67">
            <a:hlinkClick r:id="rId17" action="ppaction://hlinksldjump"/>
            <a:extLst>
              <a:ext uri="{FF2B5EF4-FFF2-40B4-BE49-F238E27FC236}">
                <a16:creationId xmlns:a16="http://schemas.microsoft.com/office/drawing/2014/main" id="{E9CF5DE3-F4A2-04D3-262E-B41474DD7A85}"/>
              </a:ext>
            </a:extLst>
          </p:cNvPr>
          <p:cNvSpPr/>
          <p:nvPr/>
        </p:nvSpPr>
        <p:spPr>
          <a:xfrm flipH="1">
            <a:off x="8805597" y="6186919"/>
            <a:ext cx="944133" cy="198618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89F3B2-15B7-C253-92C5-FB40AEF93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30426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11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/>
      <p:bldP spid="44" grpId="0" animBg="1"/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CD348FD-4AAE-C496-C034-B247E56BB175}"/>
              </a:ext>
            </a:extLst>
          </p:cNvPr>
          <p:cNvSpPr/>
          <p:nvPr/>
        </p:nvSpPr>
        <p:spPr>
          <a:xfrm>
            <a:off x="525384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9163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1EA4122-FECD-4E53-A9B7-979400A191D7}"/>
              </a:ext>
            </a:extLst>
          </p:cNvPr>
          <p:cNvSpPr/>
          <p:nvPr/>
        </p:nvSpPr>
        <p:spPr>
          <a:xfrm flipV="1">
            <a:off x="11450227" y="7380790"/>
            <a:ext cx="344042" cy="131287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hlinkClick r:id="rId14" action="ppaction://hlinksldjump"/>
            <a:extLst>
              <a:ext uri="{FF2B5EF4-FFF2-40B4-BE49-F238E27FC236}">
                <a16:creationId xmlns:a16="http://schemas.microsoft.com/office/drawing/2014/main" id="{939C8342-A2DB-FA75-70FD-4A10A9B6C308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8AF8245-04A9-75D2-7D17-9EDDB017129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54FE762-4E10-B74A-6819-BA79DAC6320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A19CE56-C32E-9461-AF2C-6D54D9D34722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ABD04B-8A4B-32EB-FEA5-B5C6622C8829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200EF42-E32C-940F-DAA4-85D0486F3126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FFD35F-3A00-9740-54F3-88FE981B3A7F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F5E29BF-C7B6-1DAC-CB5D-7ECDFE146E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0773" y="2318008"/>
            <a:ext cx="5708650" cy="1612900"/>
          </a:xfrm>
          <a:prstGeom prst="rect">
            <a:avLst/>
          </a:prstGeom>
        </p:spPr>
      </p:pic>
      <p:pic>
        <p:nvPicPr>
          <p:cNvPr id="2050" name="Picture 2" descr="No work Generic color outline icon">
            <a:extLst>
              <a:ext uri="{FF2B5EF4-FFF2-40B4-BE49-F238E27FC236}">
                <a16:creationId xmlns:a16="http://schemas.microsoft.com/office/drawing/2014/main" id="{EC094676-5654-08DB-8789-A714A60ED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047" y="4431133"/>
            <a:ext cx="700194" cy="70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Transparency ">
            <a:extLst>
              <a:ext uri="{FF2B5EF4-FFF2-40B4-BE49-F238E27FC236}">
                <a16:creationId xmlns:a16="http://schemas.microsoft.com/office/drawing/2014/main" id="{1470A429-6D05-7CB0-0514-856244DED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121" y="4431133"/>
            <a:ext cx="700194" cy="70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Mover truck ">
            <a:extLst>
              <a:ext uri="{FF2B5EF4-FFF2-40B4-BE49-F238E27FC236}">
                <a16:creationId xmlns:a16="http://schemas.microsoft.com/office/drawing/2014/main" id="{A75FAF0E-9EE3-53B9-E9AF-71A1309B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881" y="4431133"/>
            <a:ext cx="700194" cy="70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Trimming ">
            <a:extLst>
              <a:ext uri="{FF2B5EF4-FFF2-40B4-BE49-F238E27FC236}">
                <a16:creationId xmlns:a16="http://schemas.microsoft.com/office/drawing/2014/main" id="{CE810B06-F394-8FDC-116A-B50F2562C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92" y="4358772"/>
            <a:ext cx="823488" cy="82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Corrected ">
            <a:extLst>
              <a:ext uri="{FF2B5EF4-FFF2-40B4-BE49-F238E27FC236}">
                <a16:creationId xmlns:a16="http://schemas.microsoft.com/office/drawing/2014/main" id="{81318DA6-756C-2EA9-31D4-B29C3ABA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325" y="4418130"/>
            <a:ext cx="700195" cy="70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BE8654D-D246-30CA-42F1-3F28A535CE4B}"/>
              </a:ext>
            </a:extLst>
          </p:cNvPr>
          <p:cNvSpPr txBox="1"/>
          <p:nvPr/>
        </p:nvSpPr>
        <p:spPr>
          <a:xfrm>
            <a:off x="3811886" y="5282740"/>
            <a:ext cx="997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NO DUTY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HOLIDAYS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3AD3B1-405C-79EE-DFC8-DB2F038CE882}"/>
              </a:ext>
            </a:extLst>
          </p:cNvPr>
          <p:cNvSpPr txBox="1"/>
          <p:nvPr/>
        </p:nvSpPr>
        <p:spPr>
          <a:xfrm>
            <a:off x="5007028" y="5273973"/>
            <a:ext cx="1582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C2 PAI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OPS TROUBLE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ASSIST TO OTHER 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SECTORS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35FD5D-E48E-6C5C-6ECC-138E322E3903}"/>
              </a:ext>
            </a:extLst>
          </p:cNvPr>
          <p:cNvSpPr txBox="1"/>
          <p:nvPr/>
        </p:nvSpPr>
        <p:spPr>
          <a:xfrm>
            <a:off x="6357016" y="5273973"/>
            <a:ext cx="1489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TRUCK TROUBLE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B08471-EAF8-F9E7-4EAA-63A8AF748B94}"/>
              </a:ext>
            </a:extLst>
          </p:cNvPr>
          <p:cNvSpPr txBox="1"/>
          <p:nvPr/>
        </p:nvSpPr>
        <p:spPr>
          <a:xfrm>
            <a:off x="7939629" y="5273973"/>
            <a:ext cx="1393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MAINTENANCE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OTBT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6AB0E2-892D-486D-842F-6C7B27A56797}"/>
              </a:ext>
            </a:extLst>
          </p:cNvPr>
          <p:cNvSpPr txBox="1"/>
          <p:nvPr/>
        </p:nvSpPr>
        <p:spPr>
          <a:xfrm>
            <a:off x="9460679" y="5240367"/>
            <a:ext cx="121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BACK JOB </a:t>
            </a:r>
          </a:p>
          <a:p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CORRECTION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4C79C9-9C5D-DAB9-1CFC-E29778F92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30426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93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36" grpId="0"/>
      <p:bldP spid="38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Trade Gothic LT Std" panose="020B050302050202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9163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10" name="Freeform: Shape 9">
            <a:hlinkClick r:id="rId14" action="ppaction://hlinksldjump"/>
            <a:extLst>
              <a:ext uri="{FF2B5EF4-FFF2-40B4-BE49-F238E27FC236}">
                <a16:creationId xmlns:a16="http://schemas.microsoft.com/office/drawing/2014/main" id="{5740FDBA-F8FD-0649-E417-8D1B7F7E623C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938F9D-F990-2023-9FD5-A3707200D54F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88F5917-448A-884D-5F7A-10A754563A8C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05FFE6-BBA1-91B8-F3D5-6DF7706A0ABD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B6C7A64-6487-44F2-031D-25971F50E9D9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E8926E-EC7F-4BC2-C1AD-3E61E231974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D4E5110-B007-E448-BE4F-19E052CEBE60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CE003-C17A-A1C9-E688-DA935DA1343E}"/>
              </a:ext>
            </a:extLst>
          </p:cNvPr>
          <p:cNvSpPr txBox="1"/>
          <p:nvPr/>
        </p:nvSpPr>
        <p:spPr>
          <a:xfrm>
            <a:off x="2936403" y="1905461"/>
            <a:ext cx="4082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171C8F"/>
                </a:solidFill>
                <a:latin typeface="Trade Gothic LT Std" panose="020B0503020502020204" pitchFamily="34" charset="0"/>
              </a:rPr>
              <a:t>PENDING AS OF JUNE 30, 2025 (WO Released 2025)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19AE608-98E4-4DB1-12CD-5856636A8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144400"/>
              </p:ext>
            </p:extLst>
          </p:nvPr>
        </p:nvGraphicFramePr>
        <p:xfrm>
          <a:off x="3517910" y="2339254"/>
          <a:ext cx="7391388" cy="1862296"/>
        </p:xfrm>
        <a:graphic>
          <a:graphicData uri="http://schemas.openxmlformats.org/drawingml/2006/table">
            <a:tbl>
              <a:tblPr/>
              <a:tblGrid>
                <a:gridCol w="1231898">
                  <a:extLst>
                    <a:ext uri="{9D8B030D-6E8A-4147-A177-3AD203B41FA5}">
                      <a16:colId xmlns:a16="http://schemas.microsoft.com/office/drawing/2014/main" val="2270046910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832838799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444315256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499907686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3704523408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1902913654"/>
                    </a:ext>
                  </a:extLst>
                </a:gridCol>
              </a:tblGrid>
              <a:tr h="235592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MODIFICATION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TERMINATION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06894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163929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312270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990903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45651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03047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358575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755275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87690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054D164-3D79-3CEC-3BC8-C535E0F3D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271330"/>
              </p:ext>
            </p:extLst>
          </p:nvPr>
        </p:nvGraphicFramePr>
        <p:xfrm>
          <a:off x="3517910" y="4418067"/>
          <a:ext cx="7391388" cy="1862296"/>
        </p:xfrm>
        <a:graphic>
          <a:graphicData uri="http://schemas.openxmlformats.org/drawingml/2006/table">
            <a:tbl>
              <a:tblPr/>
              <a:tblGrid>
                <a:gridCol w="1231898">
                  <a:extLst>
                    <a:ext uri="{9D8B030D-6E8A-4147-A177-3AD203B41FA5}">
                      <a16:colId xmlns:a16="http://schemas.microsoft.com/office/drawing/2014/main" val="3785948285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691899648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2267427437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618380922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4001061817"/>
                    </a:ext>
                  </a:extLst>
                </a:gridCol>
                <a:gridCol w="1231898">
                  <a:extLst>
                    <a:ext uri="{9D8B030D-6E8A-4147-A177-3AD203B41FA5}">
                      <a16:colId xmlns:a16="http://schemas.microsoft.com/office/drawing/2014/main" val="3968882595"/>
                    </a:ext>
                  </a:extLst>
                </a:gridCol>
              </a:tblGrid>
              <a:tr h="235592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MODIFICATION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TERMINATION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387798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3,905.03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595.33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3,249.62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175.63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7,925.61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1699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1,200.05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669.61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1,286.31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7.67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3,163.65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369869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2,692.82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462.56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283.02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139.15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3,577.54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610654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2,259.71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1,398.49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473.88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193.80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4,325.87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029376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2,433.60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556.10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165.94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3,155.64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005844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139.70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12.43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152.13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929031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578.65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42.68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621.33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187936"/>
                  </a:ext>
                </a:extLst>
              </a:tr>
              <a:tr h="20333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13,209.55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3,737.20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5,458.76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516.25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22,921.77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08661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1F2845-D865-D6A3-335B-EC3CA4B64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30426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79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Trade Gothic LT Std" panose="020B050302050202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FD388-B232-C666-DBBC-BA5201FA8896}"/>
              </a:ext>
            </a:extLst>
          </p:cNvPr>
          <p:cNvGrpSpPr/>
          <p:nvPr/>
        </p:nvGrpSpPr>
        <p:grpSpPr>
          <a:xfrm>
            <a:off x="802223" y="1079163"/>
            <a:ext cx="2024603" cy="1289015"/>
            <a:chOff x="11978068" y="403669"/>
            <a:chExt cx="1650562" cy="1645921"/>
          </a:xfrm>
        </p:grpSpPr>
        <p:sp>
          <p:nvSpPr>
            <p:cNvPr id="33" name="Rectangle: Rounded Corners 32">
              <a:hlinkClick r:id="rId11" action="ppaction://hlinksldjump"/>
              <a:extLst>
                <a:ext uri="{FF2B5EF4-FFF2-40B4-BE49-F238E27FC236}">
                  <a16:creationId xmlns:a16="http://schemas.microsoft.com/office/drawing/2014/main" id="{5FDF0C06-300F-6596-4F14-9BFA680AEE4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80127AF-AEAE-3612-B941-35F742E12FD5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42" name="Graphic 41" descr="Fluorescent Light Bulb with solid fill">
            <a:extLst>
              <a:ext uri="{FF2B5EF4-FFF2-40B4-BE49-F238E27FC236}">
                <a16:creationId xmlns:a16="http://schemas.microsoft.com/office/drawing/2014/main" id="{76B9D6E2-4BC4-F373-4383-4583F9B576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10" name="Freeform: Shape 9">
            <a:hlinkClick r:id="rId14" action="ppaction://hlinksldjump"/>
            <a:extLst>
              <a:ext uri="{FF2B5EF4-FFF2-40B4-BE49-F238E27FC236}">
                <a16:creationId xmlns:a16="http://schemas.microsoft.com/office/drawing/2014/main" id="{5740FDBA-F8FD-0649-E417-8D1B7F7E623C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938F9D-F990-2023-9FD5-A3707200D54F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88F5917-448A-884D-5F7A-10A754563A8C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05FFE6-BBA1-91B8-F3D5-6DF7706A0ABD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B6C7A64-6487-44F2-031D-25971F50E9D9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E8926E-EC7F-4BC2-C1AD-3E61E231974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D4E5110-B007-E448-BE4F-19E052CEBE60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CE003-C17A-A1C9-E688-DA935DA1343E}"/>
              </a:ext>
            </a:extLst>
          </p:cNvPr>
          <p:cNvSpPr txBox="1"/>
          <p:nvPr/>
        </p:nvSpPr>
        <p:spPr>
          <a:xfrm>
            <a:off x="2936404" y="1905461"/>
            <a:ext cx="2237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171C8F"/>
                </a:solidFill>
                <a:latin typeface="Trade Gothic LT Std" panose="020B0503020502020204" pitchFamily="34" charset="0"/>
              </a:rPr>
              <a:t>PENDING AS OF JUNE 30, 2025 (WO Released 2025)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31C400-B56A-879D-726F-26430634F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249133"/>
              </p:ext>
            </p:extLst>
          </p:nvPr>
        </p:nvGraphicFramePr>
        <p:xfrm>
          <a:off x="5044488" y="1869592"/>
          <a:ext cx="4493597" cy="4591412"/>
        </p:xfrm>
        <a:graphic>
          <a:graphicData uri="http://schemas.openxmlformats.org/drawingml/2006/table">
            <a:tbl>
              <a:tblPr/>
              <a:tblGrid>
                <a:gridCol w="1130291">
                  <a:extLst>
                    <a:ext uri="{9D8B030D-6E8A-4147-A177-3AD203B41FA5}">
                      <a16:colId xmlns:a16="http://schemas.microsoft.com/office/drawing/2014/main" val="148910071"/>
                    </a:ext>
                  </a:extLst>
                </a:gridCol>
                <a:gridCol w="813258">
                  <a:extLst>
                    <a:ext uri="{9D8B030D-6E8A-4147-A177-3AD203B41FA5}">
                      <a16:colId xmlns:a16="http://schemas.microsoft.com/office/drawing/2014/main" val="2598332185"/>
                    </a:ext>
                  </a:extLst>
                </a:gridCol>
                <a:gridCol w="909746">
                  <a:extLst>
                    <a:ext uri="{9D8B030D-6E8A-4147-A177-3AD203B41FA5}">
                      <a16:colId xmlns:a16="http://schemas.microsoft.com/office/drawing/2014/main" val="956535965"/>
                    </a:ext>
                  </a:extLst>
                </a:gridCol>
                <a:gridCol w="661634">
                  <a:extLst>
                    <a:ext uri="{9D8B030D-6E8A-4147-A177-3AD203B41FA5}">
                      <a16:colId xmlns:a16="http://schemas.microsoft.com/office/drawing/2014/main" val="1068802353"/>
                    </a:ext>
                  </a:extLst>
                </a:gridCol>
                <a:gridCol w="978668">
                  <a:extLst>
                    <a:ext uri="{9D8B030D-6E8A-4147-A177-3AD203B41FA5}">
                      <a16:colId xmlns:a16="http://schemas.microsoft.com/office/drawing/2014/main" val="2408649041"/>
                    </a:ext>
                  </a:extLst>
                </a:gridCol>
              </a:tblGrid>
              <a:tr h="1659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&lt;100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100-500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&gt;500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038619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71.00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115.00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416979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19.00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774443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5.00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9.00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775231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6.00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20.00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2190215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14.00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24.00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709231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14.00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6.00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21.00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214964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38112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28395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MODIFICATION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25.00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37.00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071075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321330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081557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594299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8.00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90744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992867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375820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52727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7.00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3.00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95481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7.00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11.00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087389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4.00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359095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315293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495158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2.00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023969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TERMINATION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14.00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16.00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121265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7.00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437320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454896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3.00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598277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77243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5.00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-  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5.00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820704"/>
                  </a:ext>
                </a:extLst>
              </a:tr>
              <a:tr h="1580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122.00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61.00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7.00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190.00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7015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6FC3C0-2746-FDED-0841-099D2375D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30426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51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6C49-BEF4-636E-0373-E37BBD58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20" y="487572"/>
            <a:ext cx="5653280" cy="709139"/>
          </a:xfrm>
        </p:spPr>
        <p:txBody>
          <a:bodyPr>
            <a:noAutofit/>
          </a:bodyPr>
          <a:lstStyle/>
          <a:p>
            <a:r>
              <a:rPr lang="en-US" sz="2000" b="1"/>
              <a:t>Connection Construction Timeliness Index (CCTI)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08175E-B0CF-4D00-8CFD-47CD9DBA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3" y="1383772"/>
            <a:ext cx="4887594" cy="20452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615F93-08B1-4161-822E-1406C3F64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3" y="3803121"/>
            <a:ext cx="5336523" cy="20452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7421667-FD4A-4497-B5AF-A2D047599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924" y="651934"/>
            <a:ext cx="5557356" cy="405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4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88760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8C47DB-B656-F1AA-84B7-DDE73421F985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6FDC43-03EC-DDC1-6E20-3C6941A894B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6048E-335A-2418-ED36-52E9445C1358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70D716-127E-F812-1158-2627F70755AB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98AF6CA9-E5C6-EB4A-1125-36BDE3F612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0899C1-EFAA-9347-5215-367DEEBF3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831527"/>
              </p:ext>
            </p:extLst>
          </p:nvPr>
        </p:nvGraphicFramePr>
        <p:xfrm>
          <a:off x="5767514" y="2073978"/>
          <a:ext cx="2791951" cy="1042416"/>
        </p:xfrm>
        <a:graphic>
          <a:graphicData uri="http://schemas.openxmlformats.org/drawingml/2006/table">
            <a:tbl>
              <a:tblPr/>
              <a:tblGrid>
                <a:gridCol w="2040421">
                  <a:extLst>
                    <a:ext uri="{9D8B030D-6E8A-4147-A177-3AD203B41FA5}">
                      <a16:colId xmlns:a16="http://schemas.microsoft.com/office/drawing/2014/main" val="172608780"/>
                    </a:ext>
                  </a:extLst>
                </a:gridCol>
                <a:gridCol w="751530">
                  <a:extLst>
                    <a:ext uri="{9D8B030D-6E8A-4147-A177-3AD203B41FA5}">
                      <a16:colId xmlns:a16="http://schemas.microsoft.com/office/drawing/2014/main" val="2243651178"/>
                    </a:ext>
                  </a:extLst>
                </a:gridCol>
              </a:tblGrid>
              <a:tr h="2561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YTD ENERGIZED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51230"/>
                  </a:ext>
                </a:extLst>
              </a:tr>
              <a:tr h="2738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CARRY-OVER FROM 2024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08850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FOR CANCELLATION/CANCELLED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42333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WMTRL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65318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4AF266-6E19-4ECE-006B-68913AC34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42755"/>
              </p:ext>
            </p:extLst>
          </p:nvPr>
        </p:nvGraphicFramePr>
        <p:xfrm>
          <a:off x="4671555" y="3404095"/>
          <a:ext cx="4983871" cy="1039128"/>
        </p:xfrm>
        <a:graphic>
          <a:graphicData uri="http://schemas.openxmlformats.org/drawingml/2006/table">
            <a:tbl>
              <a:tblPr/>
              <a:tblGrid>
                <a:gridCol w="2021926">
                  <a:extLst>
                    <a:ext uri="{9D8B030D-6E8A-4147-A177-3AD203B41FA5}">
                      <a16:colId xmlns:a16="http://schemas.microsoft.com/office/drawing/2014/main" val="1032693814"/>
                    </a:ext>
                  </a:extLst>
                </a:gridCol>
                <a:gridCol w="1702675">
                  <a:extLst>
                    <a:ext uri="{9D8B030D-6E8A-4147-A177-3AD203B41FA5}">
                      <a16:colId xmlns:a16="http://schemas.microsoft.com/office/drawing/2014/main" val="1288836497"/>
                    </a:ext>
                  </a:extLst>
                </a:gridCol>
                <a:gridCol w="1259270">
                  <a:extLst>
                    <a:ext uri="{9D8B030D-6E8A-4147-A177-3AD203B41FA5}">
                      <a16:colId xmlns:a16="http://schemas.microsoft.com/office/drawing/2014/main" val="2699152547"/>
                    </a:ext>
                  </a:extLst>
                </a:gridCol>
              </a:tblGrid>
              <a:tr h="3385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COUNT 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CONVERSION RATE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PERFORMANCE COMPLETION 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490286"/>
                  </a:ext>
                </a:extLst>
              </a:tr>
              <a:tr h="3619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1" u="none" strike="noStrike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Completed vs Goal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1" u="none" strike="noStrike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Completed vs Released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74492"/>
                  </a:ext>
                </a:extLst>
              </a:tr>
              <a:tr h="3385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90.52%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69.42%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77.86%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11756"/>
                  </a:ext>
                </a:extLst>
              </a:tr>
            </a:tbl>
          </a:graphicData>
        </a:graphic>
      </p:graphicFrame>
      <p:sp>
        <p:nvSpPr>
          <p:cNvPr id="14" name="Freeform: Shape 13">
            <a:hlinkClick r:id="rId14" action="ppaction://hlinksldjump"/>
            <a:extLst>
              <a:ext uri="{FF2B5EF4-FFF2-40B4-BE49-F238E27FC236}">
                <a16:creationId xmlns:a16="http://schemas.microsoft.com/office/drawing/2014/main" id="{89E02DAC-297C-CA4B-A8F6-3A3F915ADE37}"/>
              </a:ext>
            </a:extLst>
          </p:cNvPr>
          <p:cNvSpPr/>
          <p:nvPr/>
        </p:nvSpPr>
        <p:spPr>
          <a:xfrm>
            <a:off x="7055911" y="4131064"/>
            <a:ext cx="949944" cy="268691"/>
          </a:xfrm>
          <a:custGeom>
            <a:avLst/>
            <a:gdLst>
              <a:gd name="connsiteX0" fmla="*/ 0 w 1457101"/>
              <a:gd name="connsiteY0" fmla="*/ 61459 h 614589"/>
              <a:gd name="connsiteX1" fmla="*/ 61459 w 1457101"/>
              <a:gd name="connsiteY1" fmla="*/ 0 h 614589"/>
              <a:gd name="connsiteX2" fmla="*/ 1395642 w 1457101"/>
              <a:gd name="connsiteY2" fmla="*/ 0 h 614589"/>
              <a:gd name="connsiteX3" fmla="*/ 1457101 w 1457101"/>
              <a:gd name="connsiteY3" fmla="*/ 61459 h 614589"/>
              <a:gd name="connsiteX4" fmla="*/ 1457101 w 1457101"/>
              <a:gd name="connsiteY4" fmla="*/ 553130 h 614589"/>
              <a:gd name="connsiteX5" fmla="*/ 1395642 w 1457101"/>
              <a:gd name="connsiteY5" fmla="*/ 614589 h 614589"/>
              <a:gd name="connsiteX6" fmla="*/ 61459 w 1457101"/>
              <a:gd name="connsiteY6" fmla="*/ 614589 h 614589"/>
              <a:gd name="connsiteX7" fmla="*/ 0 w 1457101"/>
              <a:gd name="connsiteY7" fmla="*/ 553130 h 614589"/>
              <a:gd name="connsiteX8" fmla="*/ 0 w 1457101"/>
              <a:gd name="connsiteY8" fmla="*/ 61459 h 614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57101" h="614589">
                <a:moveTo>
                  <a:pt x="0" y="61459"/>
                </a:moveTo>
                <a:cubicBezTo>
                  <a:pt x="0" y="27516"/>
                  <a:pt x="27516" y="0"/>
                  <a:pt x="61459" y="0"/>
                </a:cubicBezTo>
                <a:lnTo>
                  <a:pt x="1395642" y="0"/>
                </a:lnTo>
                <a:cubicBezTo>
                  <a:pt x="1429585" y="0"/>
                  <a:pt x="1457101" y="27516"/>
                  <a:pt x="1457101" y="61459"/>
                </a:cubicBezTo>
                <a:lnTo>
                  <a:pt x="1457101" y="553130"/>
                </a:lnTo>
                <a:cubicBezTo>
                  <a:pt x="1457101" y="587073"/>
                  <a:pt x="1429585" y="614589"/>
                  <a:pt x="1395642" y="614589"/>
                </a:cubicBezTo>
                <a:lnTo>
                  <a:pt x="61459" y="614589"/>
                </a:lnTo>
                <a:cubicBezTo>
                  <a:pt x="27516" y="614589"/>
                  <a:pt x="0" y="587073"/>
                  <a:pt x="0" y="553130"/>
                </a:cubicBezTo>
                <a:lnTo>
                  <a:pt x="0" y="61459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401" tIns="37051" rIns="43401" bIns="37051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000" b="0" kern="1200">
              <a:latin typeface="Trade Gothic LT Std" panose="020B0503020502020204" pitchFamily="34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1B08D9F-250A-8C40-C181-11CB4CA224C4}"/>
              </a:ext>
            </a:extLst>
          </p:cNvPr>
          <p:cNvSpPr/>
          <p:nvPr/>
        </p:nvSpPr>
        <p:spPr>
          <a:xfrm rot="10800000" flipV="1">
            <a:off x="8350625" y="4583976"/>
            <a:ext cx="344042" cy="131287"/>
          </a:xfrm>
          <a:prstGeom prst="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DBCC77-8B91-BCED-E21C-E4E2D89342B6}"/>
              </a:ext>
            </a:extLst>
          </p:cNvPr>
          <p:cNvSpPr txBox="1"/>
          <p:nvPr/>
        </p:nvSpPr>
        <p:spPr>
          <a:xfrm>
            <a:off x="6507434" y="4495732"/>
            <a:ext cx="18165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as of June 13– 61.03%</a:t>
            </a:r>
          </a:p>
        </p:txBody>
      </p:sp>
      <p:sp>
        <p:nvSpPr>
          <p:cNvPr id="7" name="Freeform: Shape 6">
            <a:hlinkClick r:id="rId14" action="ppaction://hlinksldjump"/>
            <a:extLst>
              <a:ext uri="{FF2B5EF4-FFF2-40B4-BE49-F238E27FC236}">
                <a16:creationId xmlns:a16="http://schemas.microsoft.com/office/drawing/2014/main" id="{7404E24F-CD23-B5ED-53C8-52EA0E665EE5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64A070F-D1F4-DA76-BAC8-076E89721506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E2A80E8-68F0-751C-74B9-C35E3BF8B616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D01D16C-3175-E222-6EA7-5074BFDF363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9AC4956-E502-F643-2E4A-A58143BF7EC7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EC8C760-FEF2-DE70-0DEE-5206AA49F58E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100427-B189-EC81-7488-35B13190689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BE44BE0-07A7-62D6-A7F1-7E07B54E6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399901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Conversion Rate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93.83%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95.69%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94%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93.8%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95.7%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(new KPI)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  <p:sp>
        <p:nvSpPr>
          <p:cNvPr id="42" name="TextBox 10">
            <a:extLst>
              <a:ext uri="{FF2B5EF4-FFF2-40B4-BE49-F238E27FC236}">
                <a16:creationId xmlns:a16="http://schemas.microsoft.com/office/drawing/2014/main" id="{4E3BD4A4-F97F-DC56-8835-06C872F82A50}"/>
              </a:ext>
            </a:extLst>
          </p:cNvPr>
          <p:cNvSpPr txBox="1"/>
          <p:nvPr/>
        </p:nvSpPr>
        <p:spPr>
          <a:xfrm>
            <a:off x="5548591" y="5016013"/>
            <a:ext cx="3194787" cy="1258523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Scope:</a:t>
            </a:r>
            <a:endParaRPr lang="en-US" sz="1200"/>
          </a:p>
          <a:p>
            <a:r>
              <a:rPr lang="en-US" sz="1200"/>
              <a:t>Count of WO from:</a:t>
            </a:r>
          </a:p>
          <a:p>
            <a:pPr marL="171450" indent="-171450">
              <a:buFontTx/>
              <a:buChar char="-"/>
            </a:pPr>
            <a:r>
              <a:rPr lang="en-US" sz="1200"/>
              <a:t>previous year carry over</a:t>
            </a:r>
          </a:p>
          <a:p>
            <a:pPr marL="171450" indent="-171450">
              <a:buFontTx/>
              <a:buChar char="-"/>
            </a:pPr>
            <a:r>
              <a:rPr lang="en-US" sz="1200"/>
              <a:t>WO received and completed this Dec. 2025 will be added to numerator and denominator.</a:t>
            </a:r>
          </a:p>
          <a:p>
            <a:pPr marL="171450" indent="-171450">
              <a:buFontTx/>
              <a:buChar char="-"/>
            </a:pPr>
            <a:r>
              <a:rPr lang="en-US" sz="1200"/>
              <a:t>CAN and PCAN WOs are excluded</a:t>
            </a:r>
          </a:p>
        </p:txBody>
      </p:sp>
      <p:pic>
        <p:nvPicPr>
          <p:cNvPr id="43" name="Graphic 19" descr="Lightbulb with solid fill">
            <a:extLst>
              <a:ext uri="{FF2B5EF4-FFF2-40B4-BE49-F238E27FC236}">
                <a16:creationId xmlns:a16="http://schemas.microsoft.com/office/drawing/2014/main" id="{E333E1C3-99A7-C2A6-3415-4E5C62ACEE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72270" y="4934938"/>
            <a:ext cx="94994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3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88760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8C47DB-B656-F1AA-84B7-DDE73421F985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6FDC43-03EC-DDC1-6E20-3C6941A894B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6048E-335A-2418-ED36-52E9445C1358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70D716-127E-F812-1158-2627F70755AB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98AF6CA9-E5C6-EB4A-1125-36BDE3F612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Freeform: Shape 6">
            <a:hlinkClick r:id="rId14" action="ppaction://hlinksldjump"/>
            <a:extLst>
              <a:ext uri="{FF2B5EF4-FFF2-40B4-BE49-F238E27FC236}">
                <a16:creationId xmlns:a16="http://schemas.microsoft.com/office/drawing/2014/main" id="{7404E24F-CD23-B5ED-53C8-52EA0E665EE5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64A070F-D1F4-DA76-BAC8-076E89721506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E2A80E8-68F0-751C-74B9-C35E3BF8B616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D01D16C-3175-E222-6EA7-5074BFDF363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9AC4956-E502-F643-2E4A-A58143BF7EC7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EC8C760-FEF2-DE70-0DEE-5206AA49F58E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100427-B189-EC81-7488-35B13190689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1E380E-A20A-A0B7-8B89-DF648B990346}"/>
              </a:ext>
            </a:extLst>
          </p:cNvPr>
          <p:cNvGraphicFramePr>
            <a:graphicFrameLocks noGrp="1"/>
          </p:cNvGraphicFramePr>
          <p:nvPr/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Crew workload, pole location issues, third-party refusal and customer compliance, and insufficient contractual manpower leading to backlogs in PCA execution, causing delays in energization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08E5B2-683D-01FA-9721-F0B108D7A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56890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assignment to regular crews of C2 and Maintenance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3410F7-8626-E4F8-D595-754E95BB9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32923"/>
              </p:ext>
            </p:extLst>
          </p:nvPr>
        </p:nvGraphicFramePr>
        <p:xfrm>
          <a:off x="3057666" y="1079163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3586183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Conversion Rate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93.83%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95.69%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94%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sz="10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93.8%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95.7%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(new KPI)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271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Conversion Rate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823D73-B713-C5A6-6FE2-E8BA461305CF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CCE147-5D2D-980F-33C3-FC0D36053324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CF6A2EA-31F9-D9C3-E1F4-EFB0BAAE508E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CB23B3B-DE8A-9F4D-259C-11D646A10833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9EA0C06-3CE9-4C5D-D12B-314503FF7C97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E0CDEC-0351-C274-6499-D26BF70A09E0}"/>
              </a:ext>
            </a:extLst>
          </p:cNvPr>
          <p:cNvGrpSpPr/>
          <p:nvPr/>
        </p:nvGrpSpPr>
        <p:grpSpPr>
          <a:xfrm>
            <a:off x="381761" y="829486"/>
            <a:ext cx="2651725" cy="461665"/>
            <a:chOff x="228600" y="829486"/>
            <a:chExt cx="2651725" cy="46166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3306D3-1C06-965C-AA43-D2AB7FB07BB6}"/>
                </a:ext>
              </a:extLst>
            </p:cNvPr>
            <p:cNvSpPr/>
            <p:nvPr/>
          </p:nvSpPr>
          <p:spPr>
            <a:xfrm>
              <a:off x="228600" y="829486"/>
              <a:ext cx="2651725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BB4B201C-6C10-2091-73C4-67306787CB1B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D6F205-62A7-4BB7-517B-5DD3235107C7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25B7CF-62B2-0840-3002-F44B3B232718}"/>
              </a:ext>
            </a:extLst>
          </p:cNvPr>
          <p:cNvSpPr txBox="1"/>
          <p:nvPr/>
        </p:nvSpPr>
        <p:spPr>
          <a:xfrm>
            <a:off x="1121395" y="878811"/>
            <a:ext cx="1886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Conversion Rate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D5912-B4CE-EE6E-FDE5-7F75110D4150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84F33B-E6F0-6C2C-0F91-A379BB714E81}"/>
              </a:ext>
            </a:extLst>
          </p:cNvPr>
          <p:cNvSpPr txBox="1"/>
          <p:nvPr/>
        </p:nvSpPr>
        <p:spPr>
          <a:xfrm>
            <a:off x="1980775" y="1613519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DS OL2/OL3, P&amp;S OL3, C1 &amp; UG OL4, Schedulers</a:t>
            </a:r>
            <a:endParaRPr lang="en-US" sz="1800"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59BC1-8405-B899-A77D-DF5F78191FE4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CD5EED-37E2-8426-9FDA-1BE2D6082661}"/>
              </a:ext>
            </a:extLst>
          </p:cNvPr>
          <p:cNvGrpSpPr/>
          <p:nvPr/>
        </p:nvGrpSpPr>
        <p:grpSpPr>
          <a:xfrm>
            <a:off x="373313" y="2584877"/>
            <a:ext cx="11445374" cy="3656266"/>
            <a:chOff x="220152" y="2643322"/>
            <a:chExt cx="11445374" cy="365626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000A04C-0A2D-B22B-B52D-9F2910E965E2}"/>
                </a:ext>
              </a:extLst>
            </p:cNvPr>
            <p:cNvGrpSpPr/>
            <p:nvPr/>
          </p:nvGrpSpPr>
          <p:grpSpPr>
            <a:xfrm>
              <a:off x="228597" y="2643325"/>
              <a:ext cx="11436929" cy="3656263"/>
              <a:chOff x="228599" y="1434543"/>
              <a:chExt cx="2575561" cy="1094218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9AFAA11-582F-D346-748F-412C91939CE5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94218"/>
              </a:xfrm>
              <a:prstGeom prst="roundRect">
                <a:avLst>
                  <a:gd name="adj" fmla="val 8929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A868FFF-5AE8-CAD8-DF72-CCCEBD51E99A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7F91A617-0CEC-6089-0AC3-53B222529D1B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01834D34-531F-024A-A481-03D428A482CC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AD22E1E-2132-F265-3241-1EBA1A2F5643}"/>
              </a:ext>
            </a:extLst>
          </p:cNvPr>
          <p:cNvSpPr txBox="1"/>
          <p:nvPr/>
        </p:nvSpPr>
        <p:spPr>
          <a:xfrm>
            <a:off x="417172" y="2598930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55B3FB-9856-D26E-A026-1E4966D93609}"/>
              </a:ext>
            </a:extLst>
          </p:cNvPr>
          <p:cNvSpPr txBox="1"/>
          <p:nvPr/>
        </p:nvSpPr>
        <p:spPr>
          <a:xfrm>
            <a:off x="615010" y="3143582"/>
            <a:ext cx="10952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CAPEX work orders with Customer Connection work type and Installation subtype (New Electric Service, Subdivision/Mass Housing, Temporary Electric Service)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5A1DE77-31B5-1BA7-E134-742F72D21240}"/>
              </a:ext>
            </a:extLst>
          </p:cNvPr>
          <p:cNvGrpSpPr/>
          <p:nvPr/>
        </p:nvGrpSpPr>
        <p:grpSpPr>
          <a:xfrm>
            <a:off x="1459658" y="4240216"/>
            <a:ext cx="9182132" cy="1466818"/>
            <a:chOff x="1500382" y="4855121"/>
            <a:chExt cx="9182132" cy="146681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6F1FE1E-DAE0-51C8-7C33-1A0E486E6C6D}"/>
                </a:ext>
              </a:extLst>
            </p:cNvPr>
            <p:cNvGrpSpPr/>
            <p:nvPr/>
          </p:nvGrpSpPr>
          <p:grpSpPr>
            <a:xfrm>
              <a:off x="3180179" y="4855121"/>
              <a:ext cx="6063001" cy="807044"/>
              <a:chOff x="2629649" y="4683766"/>
              <a:chExt cx="6063001" cy="80704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FCEE52-FF17-51A0-ECB1-CBFB2FB7C509}"/>
                  </a:ext>
                </a:extLst>
              </p:cNvPr>
              <p:cNvSpPr txBox="1"/>
              <p:nvPr/>
            </p:nvSpPr>
            <p:spPr>
              <a:xfrm>
                <a:off x="2629649" y="4683766"/>
                <a:ext cx="46690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>
                    <a:latin typeface="Segoe UI" panose="020B0502040204020203" pitchFamily="34" charset="0"/>
                    <a:cs typeface="Segoe UI" panose="020B0502040204020203" pitchFamily="34" charset="0"/>
                  </a:rPr>
                  <a:t>%</a:t>
                </a:r>
                <a:r>
                  <a:rPr lang="en-US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 = </a:t>
                </a: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  <a:sym typeface="Symbol" panose="05050102010706020507" pitchFamily="18" charset="2"/>
                  </a:rPr>
                  <a:t>Count of Energized DS PCA Sales WOs</a:t>
                </a:r>
                <a:endParaRPr lang="en-US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062391C-2905-D98D-D125-0DCE63515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3365" y="5121478"/>
                <a:ext cx="428538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6E712E8-BFC5-0079-1B30-EAC049078882}"/>
                  </a:ext>
                </a:extLst>
              </p:cNvPr>
              <p:cNvSpPr txBox="1"/>
              <p:nvPr/>
            </p:nvSpPr>
            <p:spPr>
              <a:xfrm>
                <a:off x="3553534" y="5121478"/>
                <a:ext cx="3205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Total WO Count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AE761F-BD09-C2EC-3880-CEC8A9D64583}"/>
                  </a:ext>
                </a:extLst>
              </p:cNvPr>
              <p:cNvSpPr txBox="1"/>
              <p:nvPr/>
            </p:nvSpPr>
            <p:spPr>
              <a:xfrm>
                <a:off x="6846698" y="4892352"/>
                <a:ext cx="18459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 x 100%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0022939-2908-13BD-33D7-44DBA931DE8F}"/>
                </a:ext>
              </a:extLst>
            </p:cNvPr>
            <p:cNvSpPr txBox="1"/>
            <p:nvPr/>
          </p:nvSpPr>
          <p:spPr>
            <a:xfrm>
              <a:off x="1500382" y="5583275"/>
              <a:ext cx="918213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Where:</a:t>
              </a:r>
            </a:p>
            <a:p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Total WO Count = Carryover WOs (WMTRL during previous years) + WMTRL during current year (Jan. 1 to Nov. 31)</a:t>
              </a:r>
            </a:p>
            <a:p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Note: </a:t>
              </a:r>
              <a:r>
                <a:rPr lang="en-US" sz="1400" i="1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Wos</a:t>
              </a:r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 received and </a:t>
              </a:r>
              <a:r>
                <a:rPr lang="en-US" sz="1400" i="1">
                  <a:latin typeface="Segoe UI" panose="020B0502040204020203" pitchFamily="34" charset="0"/>
                  <a:cs typeface="Segoe UI" panose="020B0502040204020203" pitchFamily="34" charset="0"/>
                </a:rPr>
                <a:t>completed in </a:t>
              </a:r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December will be included in both numerator and denominator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60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88760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8C47DB-B656-F1AA-84B7-DDE73421F985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6FDC43-03EC-DDC1-6E20-3C6941A894B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6048E-335A-2418-ED36-52E9445C1358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70D716-127E-F812-1158-2627F70755AB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98AF6CA9-E5C6-EB4A-1125-36BDE3F612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12" name="Freeform: Shape 11">
            <a:hlinkClick r:id="rId14" action="ppaction://hlinksldjump"/>
            <a:extLst>
              <a:ext uri="{FF2B5EF4-FFF2-40B4-BE49-F238E27FC236}">
                <a16:creationId xmlns:a16="http://schemas.microsoft.com/office/drawing/2014/main" id="{D908E69B-4F51-5994-9501-AF08DB8E6F75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41F02-F9A0-ABC0-65B9-F5559BCA71C8}"/>
              </a:ext>
            </a:extLst>
          </p:cNvPr>
          <p:cNvSpPr/>
          <p:nvPr/>
        </p:nvSpPr>
        <p:spPr>
          <a:xfrm>
            <a:off x="801813" y="3069249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0C4FFA-B3DA-BB12-113F-706963F6DD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435C52-3787-BD15-FE12-726F72E9CC79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EBF1DF8-25E2-900D-AB6E-9897D2F1273B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5FE395E-453B-1338-4C18-1E8C1DAAEF4A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A09AE3B-23E5-2FAD-6D4D-DDD1048F4DB6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5A4037F-991C-ADB7-8008-7F8A2A27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038234"/>
              </p:ext>
            </p:extLst>
          </p:nvPr>
        </p:nvGraphicFramePr>
        <p:xfrm>
          <a:off x="3057666" y="1079162"/>
          <a:ext cx="8227955" cy="616449"/>
        </p:xfrm>
        <a:graphic>
          <a:graphicData uri="http://schemas.openxmlformats.org/drawingml/2006/table">
            <a:tbl>
              <a:tblPr/>
              <a:tblGrid>
                <a:gridCol w="1138169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879242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879242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1794018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1624263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13021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APT/SPT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kumimoji="0" lang="en-US" sz="1000" b="1" i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For monitoring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95.69%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37.93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Count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For monitoring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1BE68E74-1621-1862-87D5-E156F351C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602476"/>
              </p:ext>
            </p:extLst>
          </p:nvPr>
        </p:nvGraphicFramePr>
        <p:xfrm>
          <a:off x="2968267" y="5541164"/>
          <a:ext cx="8533857" cy="809939"/>
        </p:xfrm>
        <a:graphic>
          <a:graphicData uri="http://schemas.openxmlformats.org/drawingml/2006/table">
            <a:tbl>
              <a:tblPr/>
              <a:tblGrid>
                <a:gridCol w="1049016">
                  <a:extLst>
                    <a:ext uri="{9D8B030D-6E8A-4147-A177-3AD203B41FA5}">
                      <a16:colId xmlns:a16="http://schemas.microsoft.com/office/drawing/2014/main" val="2615337818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3139480139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3159253884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2526159021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301286162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1107689375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2394629465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3228608788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1616459176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2418103529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1817000939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3161120728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183021049"/>
                    </a:ext>
                  </a:extLst>
                </a:gridCol>
                <a:gridCol w="575757">
                  <a:extLst>
                    <a:ext uri="{9D8B030D-6E8A-4147-A177-3AD203B41FA5}">
                      <a16:colId xmlns:a16="http://schemas.microsoft.com/office/drawing/2014/main" val="557827726"/>
                    </a:ext>
                  </a:extLst>
                </a:gridCol>
              </a:tblGrid>
              <a:tr h="3583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COUNT</a:t>
                      </a:r>
                    </a:p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(REVENUE ONLY)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958785"/>
                  </a:ext>
                </a:extLst>
              </a:tr>
              <a:tr h="22580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921159"/>
                  </a:ext>
                </a:extLst>
              </a:tr>
              <a:tr h="22580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2025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834986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E0F371B-B292-B4DD-198E-6E982754C55D}"/>
              </a:ext>
              <a:ext uri="{147F2762-F138-4A5C-976F-8EAC2B608ADB}">
                <a16:predDERef xmlns:a16="http://schemas.microsoft.com/office/drawing/2014/main" pred="{B1C180EA-9E24-47E3-AFC2-C9DAF94E8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354052"/>
              </p:ext>
            </p:extLst>
          </p:nvPr>
        </p:nvGraphicFramePr>
        <p:xfrm>
          <a:off x="3097971" y="1723146"/>
          <a:ext cx="8404153" cy="3816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  <p:extLst>
      <p:ext uri="{BB962C8B-B14F-4D97-AF65-F5344CB8AC3E}">
        <p14:creationId xmlns:p14="http://schemas.microsoft.com/office/powerpoint/2010/main" val="3041592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Count </a:t>
            </a:r>
            <a:r>
              <a:rPr 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Segoe UI Semibold" panose="020B0702040204020203" pitchFamily="34" charset="0"/>
              </a:rPr>
              <a:t>(for monitoring)</a:t>
            </a:r>
            <a:endParaRPr lang="en-US" sz="400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6E63AF-6920-C76D-8469-3DA0CCB16AC8}"/>
              </a:ext>
            </a:extLst>
          </p:cNvPr>
          <p:cNvGrpSpPr/>
          <p:nvPr/>
        </p:nvGrpSpPr>
        <p:grpSpPr>
          <a:xfrm>
            <a:off x="381759" y="1475757"/>
            <a:ext cx="6056695" cy="1001760"/>
            <a:chOff x="228598" y="1434544"/>
            <a:chExt cx="6056695" cy="10017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64A913-C01C-B127-A6DE-C01B58D4C63C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0497FAF6-086D-142D-F537-E41F32E411BA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81CB25C-1E33-AE60-5026-7D015DCD2DD8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DD49D852-F061-71D5-6CD6-F798C40FFE55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A22C29-07BD-875B-905A-3FEAC9FF84FB}"/>
              </a:ext>
            </a:extLst>
          </p:cNvPr>
          <p:cNvGrpSpPr/>
          <p:nvPr/>
        </p:nvGrpSpPr>
        <p:grpSpPr>
          <a:xfrm>
            <a:off x="381761" y="829486"/>
            <a:ext cx="2057400" cy="461665"/>
            <a:chOff x="228600" y="829486"/>
            <a:chExt cx="2057400" cy="46166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166523A-7544-8FED-0ADE-512B80DE26CD}"/>
                </a:ext>
              </a:extLst>
            </p:cNvPr>
            <p:cNvSpPr/>
            <p:nvPr/>
          </p:nvSpPr>
          <p:spPr>
            <a:xfrm>
              <a:off x="228600" y="829486"/>
              <a:ext cx="2057400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09E70B22-B58C-29FC-740F-20FD2EA29FB4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32EC9F-C81C-446A-972F-8C3D68835572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20383-82E1-4878-BB88-D1E2AEE50FD1}"/>
              </a:ext>
            </a:extLst>
          </p:cNvPr>
          <p:cNvSpPr txBox="1"/>
          <p:nvPr/>
        </p:nvSpPr>
        <p:spPr>
          <a:xfrm>
            <a:off x="556479" y="3188267"/>
            <a:ext cx="5133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DS and STL PCA Sales work orders with Customer Connection work type and Installation subtype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6800A-475D-437B-82A5-25636C338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40" y="4193557"/>
            <a:ext cx="4189368" cy="1785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A367D-0924-33C8-5C70-963F6EBACADE}"/>
              </a:ext>
            </a:extLst>
          </p:cNvPr>
          <p:cNvSpPr txBox="1"/>
          <p:nvPr/>
        </p:nvSpPr>
        <p:spPr>
          <a:xfrm>
            <a:off x="1147435" y="878811"/>
            <a:ext cx="127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PCA Count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A18B5-0FE8-75F2-6C54-D9F30600DA31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452B1-E8B8-0CA7-69FC-C8F6AFA07EF9}"/>
              </a:ext>
            </a:extLst>
          </p:cNvPr>
          <p:cNvSpPr txBox="1"/>
          <p:nvPr/>
        </p:nvSpPr>
        <p:spPr>
          <a:xfrm>
            <a:off x="2041502" y="1502496"/>
            <a:ext cx="4396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DS OL2</a:t>
            </a:r>
          </a:p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P&amp;S OL3, Scheduler</a:t>
            </a:r>
          </a:p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Sector OL3, Construction 1, Underground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5B4CE-5B14-C0C8-EB46-1C86DD8E294F}"/>
              </a:ext>
            </a:extLst>
          </p:cNvPr>
          <p:cNvSpPr txBox="1"/>
          <p:nvPr/>
        </p:nvSpPr>
        <p:spPr>
          <a:xfrm>
            <a:off x="417172" y="1617582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D1BD78-5370-C4D2-9BA7-0964EE71E188}"/>
              </a:ext>
            </a:extLst>
          </p:cNvPr>
          <p:cNvGrpSpPr/>
          <p:nvPr/>
        </p:nvGrpSpPr>
        <p:grpSpPr>
          <a:xfrm>
            <a:off x="373313" y="2643322"/>
            <a:ext cx="11445374" cy="3577370"/>
            <a:chOff x="220152" y="2643322"/>
            <a:chExt cx="11445374" cy="35773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8715F6A-F498-E022-768F-B8D1EA5883F7}"/>
                </a:ext>
              </a:extLst>
            </p:cNvPr>
            <p:cNvGrpSpPr/>
            <p:nvPr/>
          </p:nvGrpSpPr>
          <p:grpSpPr>
            <a:xfrm>
              <a:off x="228597" y="2643326"/>
              <a:ext cx="11436929" cy="3577366"/>
              <a:chOff x="228599" y="1434543"/>
              <a:chExt cx="2575561" cy="1070606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B42F0E0-525A-A25A-C92F-81ED7BA20686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4343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F57AE95-1D67-DA88-F4EF-99BAE980C0F3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E6CB205B-5339-ECCF-4AA0-A4652110B26F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D129EA2A-A4E8-83DB-3B5E-03A921A3DB0F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0F5BB8-2540-D5F9-157D-7835BEBBB48A}"/>
              </a:ext>
            </a:extLst>
          </p:cNvPr>
          <p:cNvSpPr txBox="1"/>
          <p:nvPr/>
        </p:nvSpPr>
        <p:spPr>
          <a:xfrm>
            <a:off x="417172" y="2677520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97F42-B9D6-DC92-53CB-ABCED58F043C}"/>
              </a:ext>
            </a:extLst>
          </p:cNvPr>
          <p:cNvSpPr txBox="1"/>
          <p:nvPr/>
        </p:nvSpPr>
        <p:spPr>
          <a:xfrm>
            <a:off x="6014454" y="3188267"/>
            <a:ext cx="5133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FCOMP Status Date – from January 1 to December 31, 2025, regardless of WMTRL date</a:t>
            </a:r>
          </a:p>
        </p:txBody>
      </p:sp>
    </p:spTree>
    <p:extLst>
      <p:ext uri="{BB962C8B-B14F-4D97-AF65-F5344CB8AC3E}">
        <p14:creationId xmlns:p14="http://schemas.microsoft.com/office/powerpoint/2010/main" val="954771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88760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D8C47DB-B656-F1AA-84B7-DDE73421F985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96FDC43-03EC-DDC1-6E20-3C6941A894B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7CC6048E-335A-2418-ED36-52E9445C1358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70D716-127E-F812-1158-2627F70755AB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98AF6CA9-E5C6-EB4A-1125-36BDE3F612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12" name="Freeform: Shape 11">
            <a:hlinkClick r:id="rId14" action="ppaction://hlinksldjump"/>
            <a:extLst>
              <a:ext uri="{FF2B5EF4-FFF2-40B4-BE49-F238E27FC236}">
                <a16:creationId xmlns:a16="http://schemas.microsoft.com/office/drawing/2014/main" id="{D908E69B-4F51-5994-9501-AF08DB8E6F75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41F02-F9A0-ABC0-65B9-F5559BCA71C8}"/>
              </a:ext>
            </a:extLst>
          </p:cNvPr>
          <p:cNvSpPr/>
          <p:nvPr/>
        </p:nvSpPr>
        <p:spPr>
          <a:xfrm>
            <a:off x="801813" y="3069249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0C4FFA-B3DA-BB12-113F-706963F6DD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435C52-3787-BD15-FE12-726F72E9CC79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EBF1DF8-25E2-900D-AB6E-9897D2F1273B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5FE395E-453B-1338-4C18-1E8C1DAAEF4A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A09AE3B-23E5-2FAD-6D4D-DDD1048F4DB6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5A4037F-991C-ADB7-8008-7F8A2A27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6270"/>
              </p:ext>
            </p:extLst>
          </p:nvPr>
        </p:nvGraphicFramePr>
        <p:xfrm>
          <a:off x="3057666" y="1079162"/>
          <a:ext cx="8069867" cy="616449"/>
        </p:xfrm>
        <a:graphic>
          <a:graphicData uri="http://schemas.openxmlformats.org/drawingml/2006/table">
            <a:tbl>
              <a:tblPr/>
              <a:tblGrid>
                <a:gridCol w="1138169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879242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879242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157463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1650670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7907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APT/SPT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kumimoji="0" lang="en-US" sz="1000" b="1" i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For monitoring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95.69%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37.93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2054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Count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For monitoring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t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96%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2AF088-723D-EE18-EB7D-E3FCE8F57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552710"/>
              </p:ext>
            </p:extLst>
          </p:nvPr>
        </p:nvGraphicFramePr>
        <p:xfrm>
          <a:off x="4151350" y="2619204"/>
          <a:ext cx="6029950" cy="2952245"/>
        </p:xfrm>
        <a:graphic>
          <a:graphicData uri="http://schemas.openxmlformats.org/drawingml/2006/table">
            <a:tbl>
              <a:tblPr/>
              <a:tblGrid>
                <a:gridCol w="1169359">
                  <a:extLst>
                    <a:ext uri="{9D8B030D-6E8A-4147-A177-3AD203B41FA5}">
                      <a16:colId xmlns:a16="http://schemas.microsoft.com/office/drawing/2014/main" val="2467454240"/>
                    </a:ext>
                  </a:extLst>
                </a:gridCol>
                <a:gridCol w="1225714">
                  <a:extLst>
                    <a:ext uri="{9D8B030D-6E8A-4147-A177-3AD203B41FA5}">
                      <a16:colId xmlns:a16="http://schemas.microsoft.com/office/drawing/2014/main" val="2526219309"/>
                    </a:ext>
                  </a:extLst>
                </a:gridCol>
                <a:gridCol w="1394779">
                  <a:extLst>
                    <a:ext uri="{9D8B030D-6E8A-4147-A177-3AD203B41FA5}">
                      <a16:colId xmlns:a16="http://schemas.microsoft.com/office/drawing/2014/main" val="991064618"/>
                    </a:ext>
                  </a:extLst>
                </a:gridCol>
                <a:gridCol w="943941">
                  <a:extLst>
                    <a:ext uri="{9D8B030D-6E8A-4147-A177-3AD203B41FA5}">
                      <a16:colId xmlns:a16="http://schemas.microsoft.com/office/drawing/2014/main" val="542519129"/>
                    </a:ext>
                  </a:extLst>
                </a:gridCol>
                <a:gridCol w="1296157">
                  <a:extLst>
                    <a:ext uri="{9D8B030D-6E8A-4147-A177-3AD203B41FA5}">
                      <a16:colId xmlns:a16="http://schemas.microsoft.com/office/drawing/2014/main" val="2310726056"/>
                    </a:ext>
                  </a:extLst>
                </a:gridCol>
              </a:tblGrid>
              <a:tr h="721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PCA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 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(JUNE 1-30, 2025)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YTD APT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JUNE APT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432021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90.49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151674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59.55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97236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49.40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100486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97.44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954008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90.88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689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14.47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913920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36.93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456623"/>
                  </a:ext>
                </a:extLst>
              </a:tr>
              <a:tr h="24049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STA. ROSA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196.97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653591"/>
                  </a:ext>
                </a:extLst>
              </a:tr>
              <a:tr h="30683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73.92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262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967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APT </a:t>
            </a:r>
            <a:r>
              <a:rPr 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Segoe UI Semibold" panose="020B0702040204020203" pitchFamily="34" charset="0"/>
              </a:rPr>
              <a:t>(for monitoring)</a:t>
            </a:r>
            <a:endParaRPr lang="en-US" sz="400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5D5F86-8696-E542-55F4-FFEF23BE0F6A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2FC099-91DF-CE3C-5513-43397A55CB2E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4A19098-DF06-DF9E-D951-D150EB39C04C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741F0EE-83E8-D072-09D5-DADEBF6F2112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E16E9424-3F89-FEA2-FFD1-A32E48ACA122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DAC85B-56D6-5228-4B16-4B5494B9DE00}"/>
              </a:ext>
            </a:extLst>
          </p:cNvPr>
          <p:cNvGrpSpPr/>
          <p:nvPr/>
        </p:nvGrpSpPr>
        <p:grpSpPr>
          <a:xfrm>
            <a:off x="381761" y="829486"/>
            <a:ext cx="2057400" cy="461665"/>
            <a:chOff x="228600" y="829486"/>
            <a:chExt cx="2057400" cy="46166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711CFB4-32C3-F7EA-1E99-A93E3644B5BA}"/>
                </a:ext>
              </a:extLst>
            </p:cNvPr>
            <p:cNvSpPr/>
            <p:nvPr/>
          </p:nvSpPr>
          <p:spPr>
            <a:xfrm>
              <a:off x="228600" y="829486"/>
              <a:ext cx="2057400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Top Corners Rounded 27">
              <a:extLst>
                <a:ext uri="{FF2B5EF4-FFF2-40B4-BE49-F238E27FC236}">
                  <a16:creationId xmlns:a16="http://schemas.microsoft.com/office/drawing/2014/main" id="{4C4B3A9B-684F-8E8C-C0F9-4ED1ECBFC31A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5C2DF8-9006-0F5D-52DD-C498D72766E5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76BC1-B5F1-8C82-7BB9-1673A054C5EF}"/>
              </a:ext>
            </a:extLst>
          </p:cNvPr>
          <p:cNvSpPr txBox="1"/>
          <p:nvPr/>
        </p:nvSpPr>
        <p:spPr>
          <a:xfrm>
            <a:off x="1147435" y="878811"/>
            <a:ext cx="127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PCA APT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9C39FF-B17A-164F-3FFB-AF3370E448CD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D5631A-6067-F6B8-D1C9-64ADC6D678E9}"/>
              </a:ext>
            </a:extLst>
          </p:cNvPr>
          <p:cNvSpPr txBox="1"/>
          <p:nvPr/>
        </p:nvSpPr>
        <p:spPr>
          <a:xfrm>
            <a:off x="2041502" y="1461283"/>
            <a:ext cx="4396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DS OL2</a:t>
            </a:r>
          </a:p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P&amp;S OL3, Scheduler</a:t>
            </a:r>
          </a:p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DS OL3, Construction 1, Underground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5B1BCB-E94C-EDAE-AD27-20E571C8663F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CEF601-78A7-85AE-C95D-8E76F6F22DE6}"/>
              </a:ext>
            </a:extLst>
          </p:cNvPr>
          <p:cNvSpPr txBox="1"/>
          <p:nvPr/>
        </p:nvSpPr>
        <p:spPr>
          <a:xfrm>
            <a:off x="556479" y="3188267"/>
            <a:ext cx="5655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DS PCA Sales work orders with Customer Connection work type and Installation subtype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based on PCA Application types: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A052EA-FEC6-38D5-50D7-045839F310AF}"/>
              </a:ext>
            </a:extLst>
          </p:cNvPr>
          <p:cNvGrpSpPr/>
          <p:nvPr/>
        </p:nvGrpSpPr>
        <p:grpSpPr>
          <a:xfrm>
            <a:off x="373313" y="2643322"/>
            <a:ext cx="11445374" cy="3577370"/>
            <a:chOff x="220152" y="2643322"/>
            <a:chExt cx="11445374" cy="357737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A81B174-F57D-8C42-9E05-AAD2E45559BC}"/>
                </a:ext>
              </a:extLst>
            </p:cNvPr>
            <p:cNvGrpSpPr/>
            <p:nvPr/>
          </p:nvGrpSpPr>
          <p:grpSpPr>
            <a:xfrm>
              <a:off x="228597" y="2643326"/>
              <a:ext cx="11436929" cy="3577366"/>
              <a:chOff x="228599" y="1434543"/>
              <a:chExt cx="2575561" cy="1070606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E17B159B-6B00-22B8-7621-A6889ADB6DA8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4343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5D301A2D-C064-27C4-3679-BEE4E4BF7AC5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D7888E7F-FDF4-AE1C-28F5-0FB8A6050B17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5807938A-B89A-F3CD-3E1C-D8224C65F9DA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F537A3F-5BB2-F9F5-297D-A078263D9287}"/>
              </a:ext>
            </a:extLst>
          </p:cNvPr>
          <p:cNvSpPr txBox="1"/>
          <p:nvPr/>
        </p:nvSpPr>
        <p:spPr>
          <a:xfrm>
            <a:off x="417172" y="2677520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89024A9-EB86-17EE-E8DE-E78239AD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40" y="4202469"/>
            <a:ext cx="4168457" cy="1776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644C69-8493-39BA-CA01-E1E6B51C0755}"/>
              </a:ext>
            </a:extLst>
          </p:cNvPr>
          <p:cNvSpPr txBox="1"/>
          <p:nvPr/>
        </p:nvSpPr>
        <p:spPr>
          <a:xfrm>
            <a:off x="5928575" y="3188267"/>
            <a:ext cx="4736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FCOMP Status Date – from January 1 to December 31, 2025, regardless of WMTRL date</a:t>
            </a:r>
          </a:p>
        </p:txBody>
      </p:sp>
    </p:spTree>
    <p:extLst>
      <p:ext uri="{BB962C8B-B14F-4D97-AF65-F5344CB8AC3E}">
        <p14:creationId xmlns:p14="http://schemas.microsoft.com/office/powerpoint/2010/main" val="3690480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APT </a:t>
            </a:r>
            <a:r>
              <a:rPr 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Segoe UI Semibold" panose="020B0702040204020203" pitchFamily="34" charset="0"/>
              </a:rPr>
              <a:t>(for monitoring)</a:t>
            </a:r>
            <a:endParaRPr lang="en-US" sz="400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A9861-2585-4090-922E-866E0AD5ABAD}"/>
              </a:ext>
            </a:extLst>
          </p:cNvPr>
          <p:cNvSpPr txBox="1"/>
          <p:nvPr/>
        </p:nvSpPr>
        <p:spPr>
          <a:xfrm>
            <a:off x="381762" y="1688710"/>
            <a:ext cx="10215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Design PT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=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sz="160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Earliest DPRG-PCR - Earliest WAPPR + Transfer of Days from Other Milestones – Excluded Days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320674-229A-4467-9647-BF01E818E967}"/>
              </a:ext>
            </a:extLst>
          </p:cNvPr>
          <p:cNvCxnSpPr>
            <a:cxnSpLocks/>
          </p:cNvCxnSpPr>
          <p:nvPr/>
        </p:nvCxnSpPr>
        <p:spPr>
          <a:xfrm>
            <a:off x="1710793" y="2095337"/>
            <a:ext cx="8880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BC4A14-8FA4-490F-B19E-3C92953CDD16}"/>
              </a:ext>
            </a:extLst>
          </p:cNvPr>
          <p:cNvSpPr txBox="1"/>
          <p:nvPr/>
        </p:nvSpPr>
        <p:spPr>
          <a:xfrm>
            <a:off x="2991987" y="2088820"/>
            <a:ext cx="4994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Total Project Count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61953E-B4D4-4535-A8F5-B4F1ECD176BD}"/>
              </a:ext>
            </a:extLst>
          </p:cNvPr>
          <p:cNvSpPr txBox="1"/>
          <p:nvPr/>
        </p:nvSpPr>
        <p:spPr>
          <a:xfrm>
            <a:off x="381762" y="2427374"/>
            <a:ext cx="9776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PROW PT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=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sz="160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Latest DCOMP - Earliest DAPPR + Transfer of Days from Other Milestones – Excluded Days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72D6D4-EC89-4300-B52B-71B0B4461BC6}"/>
              </a:ext>
            </a:extLst>
          </p:cNvPr>
          <p:cNvCxnSpPr>
            <a:cxnSpLocks/>
          </p:cNvCxnSpPr>
          <p:nvPr/>
        </p:nvCxnSpPr>
        <p:spPr>
          <a:xfrm>
            <a:off x="1697691" y="2834001"/>
            <a:ext cx="84609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299D33-281C-436D-B714-0BFBA3B0E5F1}"/>
              </a:ext>
            </a:extLst>
          </p:cNvPr>
          <p:cNvSpPr txBox="1"/>
          <p:nvPr/>
        </p:nvSpPr>
        <p:spPr>
          <a:xfrm>
            <a:off x="2991987" y="2827484"/>
            <a:ext cx="4994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Total Project Count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FA3DAA-C25B-4C66-B069-1EC88723847C}"/>
              </a:ext>
            </a:extLst>
          </p:cNvPr>
          <p:cNvSpPr txBox="1"/>
          <p:nvPr/>
        </p:nvSpPr>
        <p:spPr>
          <a:xfrm>
            <a:off x="381762" y="3147251"/>
            <a:ext cx="11677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Release to Construction PT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=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sz="160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Earliest WMTRL - Earliest AUTHZD + Transfer of Days from Other Milestones – Excluded Days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C05538-E907-47DE-A225-CC8F7732E09C}"/>
              </a:ext>
            </a:extLst>
          </p:cNvPr>
          <p:cNvCxnSpPr>
            <a:cxnSpLocks/>
          </p:cNvCxnSpPr>
          <p:nvPr/>
        </p:nvCxnSpPr>
        <p:spPr>
          <a:xfrm>
            <a:off x="3278286" y="3553878"/>
            <a:ext cx="85974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0AAD01F-1F35-463D-9855-0894C0E96B51}"/>
              </a:ext>
            </a:extLst>
          </p:cNvPr>
          <p:cNvSpPr txBox="1"/>
          <p:nvPr/>
        </p:nvSpPr>
        <p:spPr>
          <a:xfrm>
            <a:off x="4319144" y="3547361"/>
            <a:ext cx="4994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Total Project Count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CB1025-FDE0-4400-96C6-FBE8339410CE}"/>
              </a:ext>
            </a:extLst>
          </p:cNvPr>
          <p:cNvSpPr txBox="1"/>
          <p:nvPr/>
        </p:nvSpPr>
        <p:spPr>
          <a:xfrm>
            <a:off x="381762" y="3885915"/>
            <a:ext cx="1042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Construction PT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=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  <a:sym typeface="Symbol" panose="05050102010706020507" pitchFamily="18" charset="2"/>
              </a:rPr>
              <a:t>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lang="en-US" sz="160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Latest FCOMP - Earliest WMTRL + Transfer of Days from Other Milestones – Excluded Days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4BE422C-5D48-46D2-B4EF-221218FA33EB}"/>
              </a:ext>
            </a:extLst>
          </p:cNvPr>
          <p:cNvCxnSpPr>
            <a:cxnSpLocks/>
          </p:cNvCxnSpPr>
          <p:nvPr/>
        </p:nvCxnSpPr>
        <p:spPr>
          <a:xfrm>
            <a:off x="2254735" y="4292542"/>
            <a:ext cx="8420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C54357C-BB7F-4AAF-BECA-A22A51FEE794}"/>
              </a:ext>
            </a:extLst>
          </p:cNvPr>
          <p:cNvSpPr txBox="1"/>
          <p:nvPr/>
        </p:nvSpPr>
        <p:spPr>
          <a:xfrm>
            <a:off x="4033394" y="4286025"/>
            <a:ext cx="4994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Total Project Count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7C363-51F5-4140-A899-9DB1465DDF3F}"/>
              </a:ext>
            </a:extLst>
          </p:cNvPr>
          <p:cNvSpPr txBox="1"/>
          <p:nvPr/>
        </p:nvSpPr>
        <p:spPr>
          <a:xfrm>
            <a:off x="381762" y="4799958"/>
            <a:ext cx="1121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Networks End- to- End APT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= Design APT + PROW APT + Release to Construction APT + Construction APT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8998D1-9840-A2AA-8EC3-2B3189ED698E}"/>
              </a:ext>
            </a:extLst>
          </p:cNvPr>
          <p:cNvGrpSpPr/>
          <p:nvPr/>
        </p:nvGrpSpPr>
        <p:grpSpPr>
          <a:xfrm>
            <a:off x="186657" y="1010518"/>
            <a:ext cx="11818687" cy="4826233"/>
            <a:chOff x="373313" y="1394460"/>
            <a:chExt cx="11445374" cy="482623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92F76A1-5E86-C7D2-B60D-10DF8AF7F51B}"/>
                </a:ext>
              </a:extLst>
            </p:cNvPr>
            <p:cNvSpPr/>
            <p:nvPr/>
          </p:nvSpPr>
          <p:spPr>
            <a:xfrm>
              <a:off x="381762" y="1394460"/>
              <a:ext cx="11436925" cy="4826233"/>
            </a:xfrm>
            <a:prstGeom prst="roundRect">
              <a:avLst>
                <a:gd name="adj" fmla="val 4343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4D036D83-8EE3-EDB5-8AB5-CB8FC15ADA12}"/>
                </a:ext>
              </a:extLst>
            </p:cNvPr>
            <p:cNvSpPr/>
            <p:nvPr/>
          </p:nvSpPr>
          <p:spPr>
            <a:xfrm rot="10800000">
              <a:off x="885692" y="13979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5AAC244F-B8A4-30D0-86E9-FF164F0544E1}"/>
                </a:ext>
              </a:extLst>
            </p:cNvPr>
            <p:cNvSpPr/>
            <p:nvPr/>
          </p:nvSpPr>
          <p:spPr>
            <a:xfrm>
              <a:off x="373313" y="1397924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2F00C7-F117-378A-070C-F49AA0FF4FAD}"/>
                </a:ext>
              </a:extLst>
            </p:cNvPr>
            <p:cNvSpPr txBox="1"/>
            <p:nvPr/>
          </p:nvSpPr>
          <p:spPr>
            <a:xfrm>
              <a:off x="417172" y="1432121"/>
              <a:ext cx="12012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Formula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8551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430E0E-4E24-6B66-297A-768A84F1DE79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E54DB3-CEED-69B2-966F-C2FBA527B828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9EBFD339-C11F-83AD-1ECE-3A113B262FB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6288F2-FB36-E3BF-654E-731E6415D6EF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7265127-5CE5-3CA8-44FC-106BC8F03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D09C33-B694-C5AE-247D-C236BAD64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425813"/>
              </p:ext>
            </p:extLst>
          </p:nvPr>
        </p:nvGraphicFramePr>
        <p:xfrm>
          <a:off x="3184927" y="1077622"/>
          <a:ext cx="8049378" cy="836650"/>
        </p:xfrm>
        <a:graphic>
          <a:graphicData uri="http://schemas.openxmlformats.org/drawingml/2006/table">
            <a:tbl>
              <a:tblPr/>
              <a:tblGrid>
                <a:gridCol w="2641442">
                  <a:extLst>
                    <a:ext uri="{9D8B030D-6E8A-4147-A177-3AD203B41FA5}">
                      <a16:colId xmlns:a16="http://schemas.microsoft.com/office/drawing/2014/main" val="2569652526"/>
                    </a:ext>
                  </a:extLst>
                </a:gridCol>
                <a:gridCol w="834706">
                  <a:extLst>
                    <a:ext uri="{9D8B030D-6E8A-4147-A177-3AD203B41FA5}">
                      <a16:colId xmlns:a16="http://schemas.microsoft.com/office/drawing/2014/main" val="149865737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189407438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3175038680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2740136036"/>
                    </a:ext>
                  </a:extLst>
                </a:gridCol>
                <a:gridCol w="2580168">
                  <a:extLst>
                    <a:ext uri="{9D8B030D-6E8A-4147-A177-3AD203B41FA5}">
                      <a16:colId xmlns:a16="http://schemas.microsoft.com/office/drawing/2014/main" val="1282075164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03452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 of Ageing PCAs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044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1813890-F77A-3932-F3DE-DFCC8BB0F2B1}"/>
              </a:ext>
            </a:extLst>
          </p:cNvPr>
          <p:cNvSpPr txBox="1"/>
          <p:nvPr/>
        </p:nvSpPr>
        <p:spPr>
          <a:xfrm>
            <a:off x="3184925" y="2070209"/>
            <a:ext cx="8049379" cy="5232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4"/>
                </a:solidFill>
              </a:rPr>
              <a:t>COMPLETED</a:t>
            </a:r>
            <a:endParaRPr lang="en-US" sz="1200" b="1" dirty="0">
              <a:solidFill>
                <a:schemeClr val="accent4"/>
              </a:solidFill>
            </a:endParaRPr>
          </a:p>
          <a:p>
            <a:pPr algn="ctr"/>
            <a:r>
              <a:rPr lang="en-US" sz="1200" b="1" dirty="0">
                <a:solidFill>
                  <a:schemeClr val="accent4"/>
                </a:solidFill>
              </a:rPr>
              <a:t>(June 1-30, 2025)</a:t>
            </a:r>
            <a:endParaRPr lang="en-US" sz="1600" b="1" dirty="0">
              <a:solidFill>
                <a:schemeClr val="accent4"/>
              </a:solidFill>
            </a:endParaRPr>
          </a:p>
        </p:txBody>
      </p:sp>
      <p:graphicFrame>
        <p:nvGraphicFramePr>
          <p:cNvPr id="21" name="Table 23">
            <a:extLst>
              <a:ext uri="{FF2B5EF4-FFF2-40B4-BE49-F238E27FC236}">
                <a16:creationId xmlns:a16="http://schemas.microsoft.com/office/drawing/2014/main" id="{34DE1EF7-5E46-62A3-B42A-6FE33C1AF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59885"/>
              </p:ext>
            </p:extLst>
          </p:nvPr>
        </p:nvGraphicFramePr>
        <p:xfrm>
          <a:off x="3143492" y="2764890"/>
          <a:ext cx="1729714" cy="10058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90308">
                  <a:extLst>
                    <a:ext uri="{9D8B030D-6E8A-4147-A177-3AD203B41FA5}">
                      <a16:colId xmlns:a16="http://schemas.microsoft.com/office/drawing/2014/main" val="271296684"/>
                    </a:ext>
                  </a:extLst>
                </a:gridCol>
                <a:gridCol w="486681">
                  <a:extLst>
                    <a:ext uri="{9D8B030D-6E8A-4147-A177-3AD203B41FA5}">
                      <a16:colId xmlns:a16="http://schemas.microsoft.com/office/drawing/2014/main" val="2258144751"/>
                    </a:ext>
                  </a:extLst>
                </a:gridCol>
                <a:gridCol w="652725">
                  <a:extLst>
                    <a:ext uri="{9D8B030D-6E8A-4147-A177-3AD203B41FA5}">
                      <a16:colId xmlns:a16="http://schemas.microsoft.com/office/drawing/2014/main" val="1530905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MHRS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481679"/>
                  </a:ext>
                </a:extLst>
              </a:tr>
              <a:tr h="22685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300.84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4142827"/>
                  </a:ext>
                </a:extLst>
              </a:tr>
              <a:tr h="378083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NON-REV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993.53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35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9B482D-EBD8-1C42-0A9A-01453B475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13455"/>
              </p:ext>
            </p:extLst>
          </p:nvPr>
        </p:nvGraphicFramePr>
        <p:xfrm>
          <a:off x="5161231" y="2756674"/>
          <a:ext cx="6093244" cy="3563386"/>
        </p:xfrm>
        <a:graphic>
          <a:graphicData uri="http://schemas.openxmlformats.org/drawingml/2006/table">
            <a:tbl>
              <a:tblPr/>
              <a:tblGrid>
                <a:gridCol w="968794">
                  <a:extLst>
                    <a:ext uri="{9D8B030D-6E8A-4147-A177-3AD203B41FA5}">
                      <a16:colId xmlns:a16="http://schemas.microsoft.com/office/drawing/2014/main" val="2390749753"/>
                    </a:ext>
                  </a:extLst>
                </a:gridCol>
                <a:gridCol w="2769205">
                  <a:extLst>
                    <a:ext uri="{9D8B030D-6E8A-4147-A177-3AD203B41FA5}">
                      <a16:colId xmlns:a16="http://schemas.microsoft.com/office/drawing/2014/main" val="267394798"/>
                    </a:ext>
                  </a:extLst>
                </a:gridCol>
                <a:gridCol w="1204529">
                  <a:extLst>
                    <a:ext uri="{9D8B030D-6E8A-4147-A177-3AD203B41FA5}">
                      <a16:colId xmlns:a16="http://schemas.microsoft.com/office/drawing/2014/main" val="3790484777"/>
                    </a:ext>
                  </a:extLst>
                </a:gridCol>
                <a:gridCol w="1150716">
                  <a:extLst>
                    <a:ext uri="{9D8B030D-6E8A-4147-A177-3AD203B41FA5}">
                      <a16:colId xmlns:a16="http://schemas.microsoft.com/office/drawing/2014/main" val="2979148443"/>
                    </a:ext>
                  </a:extLst>
                </a:gridCol>
              </a:tblGrid>
              <a:tr h="2944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WORK ORDER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B7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B7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ASSIGNED CREW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B7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B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29211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X25041438275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GLOBE TELECOM INC.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18900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X25051872111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MARIA CRISTINA JOSE VENADAS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MODIFICATION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327141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X25020395161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JOSE CARLO CHANG MARQUEZ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46728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X25041438549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ROSELLER SYGENCO PIERAZ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527980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X25041167587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CITY GOVERNMENT OF PARAÑAQUE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636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X25030785870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8TERNITY, INC.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774476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X25051592853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CLEMENTE CAPITULO DOMINGO III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MODIFICATION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005162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X25051521575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PLATINUM PETROLEUM CORP.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52618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X25041378549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RAHUL DEVIDAS DARYANI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VJC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TERMINATION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937676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X25041097966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ROMAN CATHOLIC BISHOP OF PARANAQUE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MODIFICATION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425138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X25041175709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ROMAN CATHOLIC BISHOP OF PARANAQUE, INC.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MAINTENANCE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924764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X25030797111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CITY GOVERNMENT OF TAGUIG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916051"/>
                  </a:ext>
                </a:extLst>
              </a:tr>
              <a:tr h="249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R24098951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CAVITEX INFRASTRUCTURE CORP., CBG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RELOC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344545"/>
                  </a:ext>
                </a:extLst>
              </a:tr>
            </a:tbl>
          </a:graphicData>
        </a:graphic>
      </p:graphicFrame>
      <p:sp>
        <p:nvSpPr>
          <p:cNvPr id="7" name="Freeform: Shape 6">
            <a:hlinkClick r:id="rId14" action="ppaction://hlinksldjump"/>
            <a:extLst>
              <a:ext uri="{FF2B5EF4-FFF2-40B4-BE49-F238E27FC236}">
                <a16:creationId xmlns:a16="http://schemas.microsoft.com/office/drawing/2014/main" id="{D0533A09-6725-AFF8-A5FF-74AF361715DC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A4E912B-E9FB-BD96-A804-BFBFCAE1704C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57A57A-9E4D-5786-7173-A2BCF472F912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A6E97A-F981-8DD8-6F53-DE1AC535E363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3C7B40-1CD5-2142-81DB-1D81B005215E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756A53-6B71-D5A2-3953-56275058D0CE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CB8BA1E-8B97-FCB0-52B6-4F1964F6FF82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C98C6B-D375-8A2B-1503-58A6D5C4C23F}"/>
              </a:ext>
            </a:extLst>
          </p:cNvPr>
          <p:cNvSpPr txBox="1"/>
          <p:nvPr/>
        </p:nvSpPr>
        <p:spPr>
          <a:xfrm>
            <a:off x="3143492" y="4366620"/>
            <a:ext cx="1746303" cy="1477328"/>
          </a:xfrm>
          <a:custGeom>
            <a:avLst/>
            <a:gdLst>
              <a:gd name="connsiteX0" fmla="*/ 0 w 1746303"/>
              <a:gd name="connsiteY0" fmla="*/ 0 h 1477328"/>
              <a:gd name="connsiteX1" fmla="*/ 547175 w 1746303"/>
              <a:gd name="connsiteY1" fmla="*/ 0 h 1477328"/>
              <a:gd name="connsiteX2" fmla="*/ 1146739 w 1746303"/>
              <a:gd name="connsiteY2" fmla="*/ 0 h 1477328"/>
              <a:gd name="connsiteX3" fmla="*/ 1746303 w 1746303"/>
              <a:gd name="connsiteY3" fmla="*/ 0 h 1477328"/>
              <a:gd name="connsiteX4" fmla="*/ 1746303 w 1746303"/>
              <a:gd name="connsiteY4" fmla="*/ 477669 h 1477328"/>
              <a:gd name="connsiteX5" fmla="*/ 1746303 w 1746303"/>
              <a:gd name="connsiteY5" fmla="*/ 999659 h 1477328"/>
              <a:gd name="connsiteX6" fmla="*/ 1746303 w 1746303"/>
              <a:gd name="connsiteY6" fmla="*/ 1477328 h 1477328"/>
              <a:gd name="connsiteX7" fmla="*/ 1146739 w 1746303"/>
              <a:gd name="connsiteY7" fmla="*/ 1477328 h 1477328"/>
              <a:gd name="connsiteX8" fmla="*/ 599564 w 1746303"/>
              <a:gd name="connsiteY8" fmla="*/ 1477328 h 1477328"/>
              <a:gd name="connsiteX9" fmla="*/ 0 w 1746303"/>
              <a:gd name="connsiteY9" fmla="*/ 1477328 h 1477328"/>
              <a:gd name="connsiteX10" fmla="*/ 0 w 1746303"/>
              <a:gd name="connsiteY10" fmla="*/ 1029205 h 1477328"/>
              <a:gd name="connsiteX11" fmla="*/ 0 w 1746303"/>
              <a:gd name="connsiteY11" fmla="*/ 551536 h 1477328"/>
              <a:gd name="connsiteX12" fmla="*/ 0 w 1746303"/>
              <a:gd name="connsiteY12" fmla="*/ 0 h 1477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6303" h="1477328" fill="none" extrusionOk="0">
                <a:moveTo>
                  <a:pt x="0" y="0"/>
                </a:moveTo>
                <a:cubicBezTo>
                  <a:pt x="257268" y="-62514"/>
                  <a:pt x="360648" y="12397"/>
                  <a:pt x="547175" y="0"/>
                </a:cubicBezTo>
                <a:cubicBezTo>
                  <a:pt x="733703" y="-12397"/>
                  <a:pt x="860637" y="2045"/>
                  <a:pt x="1146739" y="0"/>
                </a:cubicBezTo>
                <a:cubicBezTo>
                  <a:pt x="1432841" y="-2045"/>
                  <a:pt x="1610370" y="21391"/>
                  <a:pt x="1746303" y="0"/>
                </a:cubicBezTo>
                <a:cubicBezTo>
                  <a:pt x="1794761" y="152321"/>
                  <a:pt x="1743836" y="243888"/>
                  <a:pt x="1746303" y="477669"/>
                </a:cubicBezTo>
                <a:cubicBezTo>
                  <a:pt x="1748770" y="711450"/>
                  <a:pt x="1744467" y="756110"/>
                  <a:pt x="1746303" y="999659"/>
                </a:cubicBezTo>
                <a:cubicBezTo>
                  <a:pt x="1748139" y="1243208"/>
                  <a:pt x="1695236" y="1266543"/>
                  <a:pt x="1746303" y="1477328"/>
                </a:cubicBezTo>
                <a:cubicBezTo>
                  <a:pt x="1483448" y="1497760"/>
                  <a:pt x="1294130" y="1474273"/>
                  <a:pt x="1146739" y="1477328"/>
                </a:cubicBezTo>
                <a:cubicBezTo>
                  <a:pt x="999348" y="1480383"/>
                  <a:pt x="794195" y="1475807"/>
                  <a:pt x="599564" y="1477328"/>
                </a:cubicBezTo>
                <a:cubicBezTo>
                  <a:pt x="404934" y="1478849"/>
                  <a:pt x="126825" y="1444173"/>
                  <a:pt x="0" y="1477328"/>
                </a:cubicBezTo>
                <a:cubicBezTo>
                  <a:pt x="-6462" y="1281487"/>
                  <a:pt x="27055" y="1154120"/>
                  <a:pt x="0" y="1029205"/>
                </a:cubicBezTo>
                <a:cubicBezTo>
                  <a:pt x="-27055" y="904290"/>
                  <a:pt x="6437" y="774591"/>
                  <a:pt x="0" y="551536"/>
                </a:cubicBezTo>
                <a:cubicBezTo>
                  <a:pt x="-6437" y="328481"/>
                  <a:pt x="29801" y="270620"/>
                  <a:pt x="0" y="0"/>
                </a:cubicBezTo>
                <a:close/>
              </a:path>
              <a:path w="1746303" h="1477328" stroke="0" extrusionOk="0">
                <a:moveTo>
                  <a:pt x="0" y="0"/>
                </a:moveTo>
                <a:cubicBezTo>
                  <a:pt x="151834" y="-17288"/>
                  <a:pt x="380423" y="22111"/>
                  <a:pt x="617027" y="0"/>
                </a:cubicBezTo>
                <a:cubicBezTo>
                  <a:pt x="853631" y="-22111"/>
                  <a:pt x="1021764" y="10303"/>
                  <a:pt x="1234054" y="0"/>
                </a:cubicBezTo>
                <a:cubicBezTo>
                  <a:pt x="1446344" y="-10303"/>
                  <a:pt x="1603120" y="50409"/>
                  <a:pt x="1746303" y="0"/>
                </a:cubicBezTo>
                <a:cubicBezTo>
                  <a:pt x="1793748" y="200134"/>
                  <a:pt x="1706015" y="233044"/>
                  <a:pt x="1746303" y="462896"/>
                </a:cubicBezTo>
                <a:cubicBezTo>
                  <a:pt x="1786591" y="692748"/>
                  <a:pt x="1698680" y="733138"/>
                  <a:pt x="1746303" y="970112"/>
                </a:cubicBezTo>
                <a:cubicBezTo>
                  <a:pt x="1793926" y="1207086"/>
                  <a:pt x="1713654" y="1225619"/>
                  <a:pt x="1746303" y="1477328"/>
                </a:cubicBezTo>
                <a:cubicBezTo>
                  <a:pt x="1510158" y="1479976"/>
                  <a:pt x="1455300" y="1467355"/>
                  <a:pt x="1181665" y="1477328"/>
                </a:cubicBezTo>
                <a:cubicBezTo>
                  <a:pt x="908030" y="1487301"/>
                  <a:pt x="792017" y="1454490"/>
                  <a:pt x="634490" y="1477328"/>
                </a:cubicBezTo>
                <a:cubicBezTo>
                  <a:pt x="476963" y="1500166"/>
                  <a:pt x="237283" y="1455171"/>
                  <a:pt x="0" y="1477328"/>
                </a:cubicBezTo>
                <a:cubicBezTo>
                  <a:pt x="-41944" y="1318922"/>
                  <a:pt x="17186" y="1207988"/>
                  <a:pt x="0" y="999659"/>
                </a:cubicBezTo>
                <a:cubicBezTo>
                  <a:pt x="-17186" y="791330"/>
                  <a:pt x="16923" y="694289"/>
                  <a:pt x="0" y="521989"/>
                </a:cubicBezTo>
                <a:cubicBezTo>
                  <a:pt x="-16923" y="349689"/>
                  <a:pt x="2491" y="182986"/>
                  <a:pt x="0" y="0"/>
                </a:cubicBezTo>
                <a:close/>
              </a:path>
            </a:pathLst>
          </a:custGeom>
          <a:solidFill>
            <a:srgbClr val="C6C7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072999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endParaRPr lang="en-US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COMPLETION OF AGEING PCA</a:t>
            </a:r>
          </a:p>
          <a:p>
            <a:pPr algn="ctr"/>
            <a:r>
              <a:rPr lang="en-US" sz="20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80.36%</a:t>
            </a:r>
            <a:endParaRPr lang="en-US" sz="20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8064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8FF099-B407-38D2-6BAB-47C8D97818B7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E54DB3-CEED-69B2-966F-C2FBA527B828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9EBFD339-C11F-83AD-1ECE-3A113B262FB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6288F2-FB36-E3BF-654E-731E6415D6EF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7265127-5CE5-3CA8-44FC-106BC8F03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456DD8-DF41-5368-97AA-27EDAD7B1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2280"/>
              </p:ext>
            </p:extLst>
          </p:nvPr>
        </p:nvGraphicFramePr>
        <p:xfrm>
          <a:off x="3192308" y="2480993"/>
          <a:ext cx="2129496" cy="1727194"/>
        </p:xfrm>
        <a:graphic>
          <a:graphicData uri="http://schemas.openxmlformats.org/drawingml/2006/table">
            <a:tbl>
              <a:tblPr/>
              <a:tblGrid>
                <a:gridCol w="894684">
                  <a:extLst>
                    <a:ext uri="{9D8B030D-6E8A-4147-A177-3AD203B41FA5}">
                      <a16:colId xmlns:a16="http://schemas.microsoft.com/office/drawing/2014/main" val="4152282236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1211620780"/>
                    </a:ext>
                  </a:extLst>
                </a:gridCol>
                <a:gridCol w="537582">
                  <a:extLst>
                    <a:ext uri="{9D8B030D-6E8A-4147-A177-3AD203B41FA5}">
                      <a16:colId xmlns:a16="http://schemas.microsoft.com/office/drawing/2014/main" val="2748122800"/>
                    </a:ext>
                  </a:extLst>
                </a:gridCol>
              </a:tblGrid>
              <a:tr h="309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EAM 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309755"/>
                  </a:ext>
                </a:extLst>
              </a:tr>
              <a:tr h="283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134773"/>
                  </a:ext>
                </a:extLst>
              </a:tr>
              <a:tr h="283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CLOSED-CAN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015792"/>
                  </a:ext>
                </a:extLst>
              </a:tr>
              <a:tr h="283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COMP-CAN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254464"/>
                  </a:ext>
                </a:extLst>
              </a:tr>
              <a:tr h="283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238500"/>
                  </a:ext>
                </a:extLst>
              </a:tr>
              <a:tr h="2835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1799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DB7576B-786D-6B5A-42D2-8E35A30FCC2D}"/>
              </a:ext>
            </a:extLst>
          </p:cNvPr>
          <p:cNvSpPr txBox="1"/>
          <p:nvPr/>
        </p:nvSpPr>
        <p:spPr>
          <a:xfrm>
            <a:off x="3126903" y="2108201"/>
            <a:ext cx="4082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>
                <a:solidFill>
                  <a:srgbClr val="171C8F"/>
                </a:solidFill>
                <a:latin typeface="Trade Gothic LT Std" panose="020B0503020502020204" pitchFamily="34" charset="0"/>
              </a:rPr>
              <a:t>2024 &amp; PRIOR WORK ORDERS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D09C33-B694-C5AE-247D-C236BAD64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23880"/>
              </p:ext>
            </p:extLst>
          </p:nvPr>
        </p:nvGraphicFramePr>
        <p:xfrm>
          <a:off x="3184927" y="1077622"/>
          <a:ext cx="8049378" cy="836650"/>
        </p:xfrm>
        <a:graphic>
          <a:graphicData uri="http://schemas.openxmlformats.org/drawingml/2006/table">
            <a:tbl>
              <a:tblPr/>
              <a:tblGrid>
                <a:gridCol w="2641442">
                  <a:extLst>
                    <a:ext uri="{9D8B030D-6E8A-4147-A177-3AD203B41FA5}">
                      <a16:colId xmlns:a16="http://schemas.microsoft.com/office/drawing/2014/main" val="2569652526"/>
                    </a:ext>
                  </a:extLst>
                </a:gridCol>
                <a:gridCol w="834706">
                  <a:extLst>
                    <a:ext uri="{9D8B030D-6E8A-4147-A177-3AD203B41FA5}">
                      <a16:colId xmlns:a16="http://schemas.microsoft.com/office/drawing/2014/main" val="149865737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189407438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3175038680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2740136036"/>
                    </a:ext>
                  </a:extLst>
                </a:gridCol>
                <a:gridCol w="2580168">
                  <a:extLst>
                    <a:ext uri="{9D8B030D-6E8A-4147-A177-3AD203B41FA5}">
                      <a16:colId xmlns:a16="http://schemas.microsoft.com/office/drawing/2014/main" val="1282075164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03452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 of Ageing PCAs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0447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597625D-88D3-1E15-85AC-70FE3D7CFBC1}"/>
              </a:ext>
            </a:extLst>
          </p:cNvPr>
          <p:cNvSpPr txBox="1"/>
          <p:nvPr/>
        </p:nvSpPr>
        <p:spPr>
          <a:xfrm>
            <a:off x="3126903" y="4593651"/>
            <a:ext cx="2194901" cy="1754326"/>
          </a:xfrm>
          <a:custGeom>
            <a:avLst/>
            <a:gdLst>
              <a:gd name="connsiteX0" fmla="*/ 0 w 2194901"/>
              <a:gd name="connsiteY0" fmla="*/ 0 h 1754326"/>
              <a:gd name="connsiteX1" fmla="*/ 526776 w 2194901"/>
              <a:gd name="connsiteY1" fmla="*/ 0 h 1754326"/>
              <a:gd name="connsiteX2" fmla="*/ 1053552 w 2194901"/>
              <a:gd name="connsiteY2" fmla="*/ 0 h 1754326"/>
              <a:gd name="connsiteX3" fmla="*/ 1646176 w 2194901"/>
              <a:gd name="connsiteY3" fmla="*/ 0 h 1754326"/>
              <a:gd name="connsiteX4" fmla="*/ 2194901 w 2194901"/>
              <a:gd name="connsiteY4" fmla="*/ 0 h 1754326"/>
              <a:gd name="connsiteX5" fmla="*/ 2194901 w 2194901"/>
              <a:gd name="connsiteY5" fmla="*/ 567232 h 1754326"/>
              <a:gd name="connsiteX6" fmla="*/ 2194901 w 2194901"/>
              <a:gd name="connsiteY6" fmla="*/ 1116921 h 1754326"/>
              <a:gd name="connsiteX7" fmla="*/ 2194901 w 2194901"/>
              <a:gd name="connsiteY7" fmla="*/ 1754326 h 1754326"/>
              <a:gd name="connsiteX8" fmla="*/ 1646176 w 2194901"/>
              <a:gd name="connsiteY8" fmla="*/ 1754326 h 1754326"/>
              <a:gd name="connsiteX9" fmla="*/ 1141349 w 2194901"/>
              <a:gd name="connsiteY9" fmla="*/ 1754326 h 1754326"/>
              <a:gd name="connsiteX10" fmla="*/ 614572 w 2194901"/>
              <a:gd name="connsiteY10" fmla="*/ 1754326 h 1754326"/>
              <a:gd name="connsiteX11" fmla="*/ 0 w 2194901"/>
              <a:gd name="connsiteY11" fmla="*/ 1754326 h 1754326"/>
              <a:gd name="connsiteX12" fmla="*/ 0 w 2194901"/>
              <a:gd name="connsiteY12" fmla="*/ 1169551 h 1754326"/>
              <a:gd name="connsiteX13" fmla="*/ 0 w 2194901"/>
              <a:gd name="connsiteY13" fmla="*/ 637405 h 1754326"/>
              <a:gd name="connsiteX14" fmla="*/ 0 w 2194901"/>
              <a:gd name="connsiteY14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94901" h="1754326" fill="none" extrusionOk="0">
                <a:moveTo>
                  <a:pt x="0" y="0"/>
                </a:moveTo>
                <a:cubicBezTo>
                  <a:pt x="214307" y="-8997"/>
                  <a:pt x="358777" y="39231"/>
                  <a:pt x="526776" y="0"/>
                </a:cubicBezTo>
                <a:cubicBezTo>
                  <a:pt x="694775" y="-39231"/>
                  <a:pt x="924312" y="3418"/>
                  <a:pt x="1053552" y="0"/>
                </a:cubicBezTo>
                <a:cubicBezTo>
                  <a:pt x="1182792" y="-3418"/>
                  <a:pt x="1424362" y="51788"/>
                  <a:pt x="1646176" y="0"/>
                </a:cubicBezTo>
                <a:cubicBezTo>
                  <a:pt x="1867990" y="-51788"/>
                  <a:pt x="1935257" y="55610"/>
                  <a:pt x="2194901" y="0"/>
                </a:cubicBezTo>
                <a:cubicBezTo>
                  <a:pt x="2216725" y="186265"/>
                  <a:pt x="2170238" y="341286"/>
                  <a:pt x="2194901" y="567232"/>
                </a:cubicBezTo>
                <a:cubicBezTo>
                  <a:pt x="2219564" y="793178"/>
                  <a:pt x="2179479" y="849355"/>
                  <a:pt x="2194901" y="1116921"/>
                </a:cubicBezTo>
                <a:cubicBezTo>
                  <a:pt x="2210323" y="1384487"/>
                  <a:pt x="2125149" y="1505344"/>
                  <a:pt x="2194901" y="1754326"/>
                </a:cubicBezTo>
                <a:cubicBezTo>
                  <a:pt x="1961432" y="1759285"/>
                  <a:pt x="1847194" y="1699725"/>
                  <a:pt x="1646176" y="1754326"/>
                </a:cubicBezTo>
                <a:cubicBezTo>
                  <a:pt x="1445158" y="1808927"/>
                  <a:pt x="1244988" y="1729298"/>
                  <a:pt x="1141349" y="1754326"/>
                </a:cubicBezTo>
                <a:cubicBezTo>
                  <a:pt x="1037710" y="1779354"/>
                  <a:pt x="742106" y="1729839"/>
                  <a:pt x="614572" y="1754326"/>
                </a:cubicBezTo>
                <a:cubicBezTo>
                  <a:pt x="487038" y="1778813"/>
                  <a:pt x="165140" y="1745268"/>
                  <a:pt x="0" y="1754326"/>
                </a:cubicBezTo>
                <a:cubicBezTo>
                  <a:pt x="-69888" y="1535399"/>
                  <a:pt x="4942" y="1393232"/>
                  <a:pt x="0" y="1169551"/>
                </a:cubicBezTo>
                <a:cubicBezTo>
                  <a:pt x="-4942" y="945870"/>
                  <a:pt x="2198" y="838516"/>
                  <a:pt x="0" y="637405"/>
                </a:cubicBezTo>
                <a:cubicBezTo>
                  <a:pt x="-2198" y="436294"/>
                  <a:pt x="72409" y="248502"/>
                  <a:pt x="0" y="0"/>
                </a:cubicBezTo>
                <a:close/>
              </a:path>
              <a:path w="2194901" h="1754326" stroke="0" extrusionOk="0">
                <a:moveTo>
                  <a:pt x="0" y="0"/>
                </a:moveTo>
                <a:cubicBezTo>
                  <a:pt x="141692" y="-27848"/>
                  <a:pt x="411044" y="44117"/>
                  <a:pt x="592623" y="0"/>
                </a:cubicBezTo>
                <a:cubicBezTo>
                  <a:pt x="774202" y="-44117"/>
                  <a:pt x="957042" y="10971"/>
                  <a:pt x="1185247" y="0"/>
                </a:cubicBezTo>
                <a:cubicBezTo>
                  <a:pt x="1413452" y="-10971"/>
                  <a:pt x="1529240" y="46168"/>
                  <a:pt x="1712023" y="0"/>
                </a:cubicBezTo>
                <a:cubicBezTo>
                  <a:pt x="1894806" y="-46168"/>
                  <a:pt x="2076584" y="50761"/>
                  <a:pt x="2194901" y="0"/>
                </a:cubicBezTo>
                <a:cubicBezTo>
                  <a:pt x="2228587" y="118801"/>
                  <a:pt x="2184093" y="356497"/>
                  <a:pt x="2194901" y="549689"/>
                </a:cubicBezTo>
                <a:cubicBezTo>
                  <a:pt x="2205709" y="742881"/>
                  <a:pt x="2138745" y="989139"/>
                  <a:pt x="2194901" y="1169551"/>
                </a:cubicBezTo>
                <a:cubicBezTo>
                  <a:pt x="2251057" y="1349963"/>
                  <a:pt x="2142424" y="1633222"/>
                  <a:pt x="2194901" y="1754326"/>
                </a:cubicBezTo>
                <a:cubicBezTo>
                  <a:pt x="1914791" y="1819281"/>
                  <a:pt x="1823412" y="1751668"/>
                  <a:pt x="1624227" y="1754326"/>
                </a:cubicBezTo>
                <a:cubicBezTo>
                  <a:pt x="1425042" y="1756984"/>
                  <a:pt x="1240659" y="1713419"/>
                  <a:pt x="1097451" y="1754326"/>
                </a:cubicBezTo>
                <a:cubicBezTo>
                  <a:pt x="954243" y="1795233"/>
                  <a:pt x="783584" y="1725871"/>
                  <a:pt x="570674" y="1754326"/>
                </a:cubicBezTo>
                <a:cubicBezTo>
                  <a:pt x="357764" y="1782781"/>
                  <a:pt x="179226" y="1707301"/>
                  <a:pt x="0" y="1754326"/>
                </a:cubicBezTo>
                <a:cubicBezTo>
                  <a:pt x="-15152" y="1549596"/>
                  <a:pt x="43404" y="1453541"/>
                  <a:pt x="0" y="1204637"/>
                </a:cubicBezTo>
                <a:cubicBezTo>
                  <a:pt x="-43404" y="955733"/>
                  <a:pt x="3764" y="880091"/>
                  <a:pt x="0" y="654948"/>
                </a:cubicBezTo>
                <a:cubicBezTo>
                  <a:pt x="-3764" y="429805"/>
                  <a:pt x="16336" y="221800"/>
                  <a:pt x="0" y="0"/>
                </a:cubicBezTo>
                <a:close/>
              </a:path>
            </a:pathLst>
          </a:custGeom>
          <a:solidFill>
            <a:srgbClr val="C6C7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072999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endParaRPr lang="en-US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COMPLETION OF PENDING FOR CANCELLATION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82.35</a:t>
            </a:r>
            <a:r>
              <a:rPr lang="en-US" sz="2000" b="1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%</a:t>
            </a:r>
            <a:endParaRPr lang="en-US" sz="2000" dirty="0"/>
          </a:p>
          <a:p>
            <a:endParaRPr lang="en-US" sz="1600" dirty="0"/>
          </a:p>
        </p:txBody>
      </p:sp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EEBB7EDE-D9DB-4341-4905-5D5F095BEC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3206" y="4238409"/>
            <a:ext cx="730411" cy="730411"/>
          </a:xfrm>
          <a:prstGeom prst="rect">
            <a:avLst/>
          </a:prstGeom>
        </p:spPr>
      </p:pic>
      <p:sp>
        <p:nvSpPr>
          <p:cNvPr id="10" name="Freeform: Shape 9">
            <a:hlinkClick r:id="rId16" action="ppaction://hlinksldjump"/>
            <a:extLst>
              <a:ext uri="{FF2B5EF4-FFF2-40B4-BE49-F238E27FC236}">
                <a16:creationId xmlns:a16="http://schemas.microsoft.com/office/drawing/2014/main" id="{23D990B5-6E6D-0FF7-0803-D6B2FEE61E29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3324705-E2C5-C072-9908-A9C08206F800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C592DA-0DA0-804A-2274-88CDE83EA597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9789693-6852-946A-CDE5-477AEB67ACA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29EE880-395A-F5C0-C5B2-EDE851F46BBB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BC6FD57-52E0-43F4-B2D5-26EDFF5E44DF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44463A6-C5B5-9F74-E22E-C09F004CEDDF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7F74891-2B6F-3A10-280E-92EA54E6E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657320"/>
              </p:ext>
            </p:extLst>
          </p:nvPr>
        </p:nvGraphicFramePr>
        <p:xfrm>
          <a:off x="5589141" y="2358203"/>
          <a:ext cx="5801045" cy="3989070"/>
        </p:xfrm>
        <a:graphic>
          <a:graphicData uri="http://schemas.openxmlformats.org/drawingml/2006/table">
            <a:tbl>
              <a:tblPr/>
              <a:tblGrid>
                <a:gridCol w="1602769">
                  <a:extLst>
                    <a:ext uri="{9D8B030D-6E8A-4147-A177-3AD203B41FA5}">
                      <a16:colId xmlns:a16="http://schemas.microsoft.com/office/drawing/2014/main" val="4203314408"/>
                    </a:ext>
                  </a:extLst>
                </a:gridCol>
                <a:gridCol w="948685">
                  <a:extLst>
                    <a:ext uri="{9D8B030D-6E8A-4147-A177-3AD203B41FA5}">
                      <a16:colId xmlns:a16="http://schemas.microsoft.com/office/drawing/2014/main" val="2439219718"/>
                    </a:ext>
                  </a:extLst>
                </a:gridCol>
                <a:gridCol w="1179055">
                  <a:extLst>
                    <a:ext uri="{9D8B030D-6E8A-4147-A177-3AD203B41FA5}">
                      <a16:colId xmlns:a16="http://schemas.microsoft.com/office/drawing/2014/main" val="2901421126"/>
                    </a:ext>
                  </a:extLst>
                </a:gridCol>
                <a:gridCol w="992132">
                  <a:extLst>
                    <a:ext uri="{9D8B030D-6E8A-4147-A177-3AD203B41FA5}">
                      <a16:colId xmlns:a16="http://schemas.microsoft.com/office/drawing/2014/main" val="1286325868"/>
                    </a:ext>
                  </a:extLst>
                </a:gridCol>
                <a:gridCol w="1078404">
                  <a:extLst>
                    <a:ext uri="{9D8B030D-6E8A-4147-A177-3AD203B41FA5}">
                      <a16:colId xmlns:a16="http://schemas.microsoft.com/office/drawing/2014/main" val="20301483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WMTRL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EAM STATUS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387037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X21104486609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11/18/2021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12519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X21030949643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721019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X22052042329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8/23/2022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218549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R21956925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12/9/2022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991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X22125127907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12/21/2022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6183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X22104175107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4/3/2023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82403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X23072866920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8/10/2023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4745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X23072873118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9/26/2023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9917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X23010135604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11/23/2023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711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X23010135483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11/23/2023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71457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X22114994258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11/29/2023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671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X23114600974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5/9/2024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733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X24051549285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5/30/2024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512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R23605089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11/12/2024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92936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X24062437670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12/13/2024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PCAN3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49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57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430E0E-4E24-6B66-297A-768A84F1DE79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E54DB3-CEED-69B2-966F-C2FBA527B828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9EBFD339-C11F-83AD-1ECE-3A113B262FB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6288F2-FB36-E3BF-654E-731E6415D6EF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7265127-5CE5-3CA8-44FC-106BC8F03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D09C33-B694-C5AE-247D-C236BAD64AF2}"/>
              </a:ext>
            </a:extLst>
          </p:cNvPr>
          <p:cNvGraphicFramePr>
            <a:graphicFrameLocks noGrp="1"/>
          </p:cNvGraphicFramePr>
          <p:nvPr/>
        </p:nvGraphicFramePr>
        <p:xfrm>
          <a:off x="3184927" y="1077622"/>
          <a:ext cx="8049378" cy="836650"/>
        </p:xfrm>
        <a:graphic>
          <a:graphicData uri="http://schemas.openxmlformats.org/drawingml/2006/table">
            <a:tbl>
              <a:tblPr/>
              <a:tblGrid>
                <a:gridCol w="2641442">
                  <a:extLst>
                    <a:ext uri="{9D8B030D-6E8A-4147-A177-3AD203B41FA5}">
                      <a16:colId xmlns:a16="http://schemas.microsoft.com/office/drawing/2014/main" val="2569652526"/>
                    </a:ext>
                  </a:extLst>
                </a:gridCol>
                <a:gridCol w="834706">
                  <a:extLst>
                    <a:ext uri="{9D8B030D-6E8A-4147-A177-3AD203B41FA5}">
                      <a16:colId xmlns:a16="http://schemas.microsoft.com/office/drawing/2014/main" val="149865737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189407438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3175038680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2740136036"/>
                    </a:ext>
                  </a:extLst>
                </a:gridCol>
                <a:gridCol w="2580168">
                  <a:extLst>
                    <a:ext uri="{9D8B030D-6E8A-4147-A177-3AD203B41FA5}">
                      <a16:colId xmlns:a16="http://schemas.microsoft.com/office/drawing/2014/main" val="1282075164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03452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 of Ageing PCAs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0447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FCC2B1-3C97-9EA5-99FC-1E1E2417E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497584"/>
              </p:ext>
            </p:extLst>
          </p:nvPr>
        </p:nvGraphicFramePr>
        <p:xfrm>
          <a:off x="3256870" y="2181472"/>
          <a:ext cx="7977434" cy="4044663"/>
        </p:xfrm>
        <a:graphic>
          <a:graphicData uri="http://schemas.openxmlformats.org/drawingml/2006/table">
            <a:tbl>
              <a:tblPr/>
              <a:tblGrid>
                <a:gridCol w="1367066">
                  <a:extLst>
                    <a:ext uri="{9D8B030D-6E8A-4147-A177-3AD203B41FA5}">
                      <a16:colId xmlns:a16="http://schemas.microsoft.com/office/drawing/2014/main" val="998971922"/>
                    </a:ext>
                  </a:extLst>
                </a:gridCol>
                <a:gridCol w="986363">
                  <a:extLst>
                    <a:ext uri="{9D8B030D-6E8A-4147-A177-3AD203B41FA5}">
                      <a16:colId xmlns:a16="http://schemas.microsoft.com/office/drawing/2014/main" val="1141215407"/>
                    </a:ext>
                  </a:extLst>
                </a:gridCol>
                <a:gridCol w="1574722">
                  <a:extLst>
                    <a:ext uri="{9D8B030D-6E8A-4147-A177-3AD203B41FA5}">
                      <a16:colId xmlns:a16="http://schemas.microsoft.com/office/drawing/2014/main" val="2017202408"/>
                    </a:ext>
                  </a:extLst>
                </a:gridCol>
                <a:gridCol w="1557416">
                  <a:extLst>
                    <a:ext uri="{9D8B030D-6E8A-4147-A177-3AD203B41FA5}">
                      <a16:colId xmlns:a16="http://schemas.microsoft.com/office/drawing/2014/main" val="3979686478"/>
                    </a:ext>
                  </a:extLst>
                </a:gridCol>
                <a:gridCol w="1470894">
                  <a:extLst>
                    <a:ext uri="{9D8B030D-6E8A-4147-A177-3AD203B41FA5}">
                      <a16:colId xmlns:a16="http://schemas.microsoft.com/office/drawing/2014/main" val="1618166366"/>
                    </a:ext>
                  </a:extLst>
                </a:gridCol>
                <a:gridCol w="1020973">
                  <a:extLst>
                    <a:ext uri="{9D8B030D-6E8A-4147-A177-3AD203B41FA5}">
                      <a16:colId xmlns:a16="http://schemas.microsoft.com/office/drawing/2014/main" val="3498547829"/>
                    </a:ext>
                  </a:extLst>
                </a:gridCol>
              </a:tblGrid>
              <a:tr h="349779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sng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SUMMARY: PENDING OH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204679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CLEAN-UP AGEING WOs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282655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900045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AGEING </a:t>
                      </a:r>
                      <a:b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(2024 &amp; PRIOR)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RELEASED 2025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0449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90 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0-90 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096576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84776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607234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540582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616289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MHRS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AGEING </a:t>
                      </a:r>
                      <a:b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(2024 &amp; PRIOR)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RELEASED 2025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795118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90 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0-90 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14210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4,166.74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3,327.63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9,881.93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17,376.29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464994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NON-REVENUE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7,102.15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2,316.45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4,178.87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13,597.47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475349"/>
                  </a:ext>
                </a:extLst>
              </a:tr>
              <a:tr h="274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11,268.88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5,644.08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14,060.80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30,973.76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706819"/>
                  </a:ext>
                </a:extLst>
              </a:tr>
            </a:tbl>
          </a:graphicData>
        </a:graphic>
      </p:graphicFrame>
      <p:sp>
        <p:nvSpPr>
          <p:cNvPr id="7" name="Freeform: Shape 6">
            <a:hlinkClick r:id="rId14" action="ppaction://hlinksldjump"/>
            <a:extLst>
              <a:ext uri="{FF2B5EF4-FFF2-40B4-BE49-F238E27FC236}">
                <a16:creationId xmlns:a16="http://schemas.microsoft.com/office/drawing/2014/main" id="{D0533A09-6725-AFF8-A5FF-74AF361715DC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A4E912B-E9FB-BD96-A804-BFBFCAE1704C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57A57A-9E4D-5786-7173-A2BCF472F912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A6E97A-F981-8DD8-6F53-DE1AC535E363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B3C7B40-1CD5-2142-81DB-1D81B005215E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756A53-6B71-D5A2-3953-56275058D0CE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CB8BA1E-8B97-FCB0-52B6-4F1964F6FF82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</p:spTree>
    <p:extLst>
      <p:ext uri="{BB962C8B-B14F-4D97-AF65-F5344CB8AC3E}">
        <p14:creationId xmlns:p14="http://schemas.microsoft.com/office/powerpoint/2010/main" val="1674861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8FF099-B407-38D2-6BAB-47C8D97818B7}"/>
              </a:ext>
            </a:extLst>
          </p:cNvPr>
          <p:cNvSpPr/>
          <p:nvPr/>
        </p:nvSpPr>
        <p:spPr>
          <a:xfrm>
            <a:off x="510917" y="821764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E54DB3-CEED-69B2-966F-C2FBA527B828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1" action="ppaction://hlinksldjump"/>
              <a:extLst>
                <a:ext uri="{FF2B5EF4-FFF2-40B4-BE49-F238E27FC236}">
                  <a16:creationId xmlns:a16="http://schemas.microsoft.com/office/drawing/2014/main" id="{9EBFD339-C11F-83AD-1ECE-3A113B262FBC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6288F2-FB36-E3BF-654E-731E6415D6EF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7265127-5CE5-3CA8-44FC-106BC8F03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D09C33-B694-C5AE-247D-C236BAD64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205313"/>
              </p:ext>
            </p:extLst>
          </p:nvPr>
        </p:nvGraphicFramePr>
        <p:xfrm>
          <a:off x="3184927" y="1077622"/>
          <a:ext cx="8049378" cy="836650"/>
        </p:xfrm>
        <a:graphic>
          <a:graphicData uri="http://schemas.openxmlformats.org/drawingml/2006/table">
            <a:tbl>
              <a:tblPr/>
              <a:tblGrid>
                <a:gridCol w="2641442">
                  <a:extLst>
                    <a:ext uri="{9D8B030D-6E8A-4147-A177-3AD203B41FA5}">
                      <a16:colId xmlns:a16="http://schemas.microsoft.com/office/drawing/2014/main" val="2569652526"/>
                    </a:ext>
                  </a:extLst>
                </a:gridCol>
                <a:gridCol w="834706">
                  <a:extLst>
                    <a:ext uri="{9D8B030D-6E8A-4147-A177-3AD203B41FA5}">
                      <a16:colId xmlns:a16="http://schemas.microsoft.com/office/drawing/2014/main" val="149865737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1894074382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3175038680"/>
                    </a:ext>
                  </a:extLst>
                </a:gridCol>
                <a:gridCol w="664354">
                  <a:extLst>
                    <a:ext uri="{9D8B030D-6E8A-4147-A177-3AD203B41FA5}">
                      <a16:colId xmlns:a16="http://schemas.microsoft.com/office/drawing/2014/main" val="2740136036"/>
                    </a:ext>
                  </a:extLst>
                </a:gridCol>
                <a:gridCol w="2580168">
                  <a:extLst>
                    <a:ext uri="{9D8B030D-6E8A-4147-A177-3AD203B41FA5}">
                      <a16:colId xmlns:a16="http://schemas.microsoft.com/office/drawing/2014/main" val="1282075164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03452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 of Ageing PCAs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04471"/>
                  </a:ext>
                </a:extLst>
              </a:tr>
            </a:tbl>
          </a:graphicData>
        </a:graphic>
      </p:graphicFrame>
      <p:sp>
        <p:nvSpPr>
          <p:cNvPr id="10" name="Freeform: Shape 9">
            <a:hlinkClick r:id="rId14" action="ppaction://hlinksldjump"/>
            <a:extLst>
              <a:ext uri="{FF2B5EF4-FFF2-40B4-BE49-F238E27FC236}">
                <a16:creationId xmlns:a16="http://schemas.microsoft.com/office/drawing/2014/main" id="{23D990B5-6E6D-0FF7-0803-D6B2FEE61E29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3324705-E2C5-C072-9908-A9C08206F800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C592DA-0DA0-804A-2274-88CDE83EA597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9789693-6852-946A-CDE5-477AEB67ACA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29EE880-395A-F5C0-C5B2-EDE851F46BBB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BC6FD57-52E0-43F4-B2D5-26EDFF5E44DF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44463A6-C5B5-9F74-E22E-C09F004CEDDF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407C91-491B-09B7-0BAB-299E6D862A24}"/>
              </a:ext>
            </a:extLst>
          </p:cNvPr>
          <p:cNvGraphicFramePr>
            <a:graphicFrameLocks noGrp="1"/>
          </p:cNvGraphicFramePr>
          <p:nvPr/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Crew workload, pole location issues, third-party refusal and customer compliance, and insufficient contractual manpower leading to backlogs in PCA execution, causing delays in energization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0D8171-FEFC-CD1C-D47D-9327FC713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153037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 assignment to regular crews of C2 and Maintenance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927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Completion of Ageing PCAs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6E63AF-6920-C76D-8469-3DA0CCB16AC8}"/>
              </a:ext>
            </a:extLst>
          </p:cNvPr>
          <p:cNvGrpSpPr/>
          <p:nvPr/>
        </p:nvGrpSpPr>
        <p:grpSpPr>
          <a:xfrm>
            <a:off x="381759" y="1374247"/>
            <a:ext cx="4927180" cy="1001760"/>
            <a:chOff x="228598" y="1434544"/>
            <a:chExt cx="4927180" cy="10017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64A913-C01C-B127-A6DE-C01B58D4C63C}"/>
                </a:ext>
              </a:extLst>
            </p:cNvPr>
            <p:cNvGrpSpPr/>
            <p:nvPr/>
          </p:nvGrpSpPr>
          <p:grpSpPr>
            <a:xfrm>
              <a:off x="228598" y="1434544"/>
              <a:ext cx="4927180" cy="1001760"/>
              <a:chOff x="228599" y="1434543"/>
              <a:chExt cx="2095244" cy="107060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0497FAF6-086D-142D-F537-E41F32E411BA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095243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81CB25C-1E33-AE60-5026-7D015DCD2DD8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DD49D852-F061-71D5-6CD6-F798C40FFE55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A22C29-07BD-875B-905A-3FEAC9FF84FB}"/>
              </a:ext>
            </a:extLst>
          </p:cNvPr>
          <p:cNvGrpSpPr/>
          <p:nvPr/>
        </p:nvGrpSpPr>
        <p:grpSpPr>
          <a:xfrm>
            <a:off x="381760" y="829486"/>
            <a:ext cx="3761615" cy="461665"/>
            <a:chOff x="228599" y="829486"/>
            <a:chExt cx="3761615" cy="46166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166523A-7544-8FED-0ADE-512B80DE26CD}"/>
                </a:ext>
              </a:extLst>
            </p:cNvPr>
            <p:cNvSpPr/>
            <p:nvPr/>
          </p:nvSpPr>
          <p:spPr>
            <a:xfrm>
              <a:off x="228599" y="829486"/>
              <a:ext cx="3761615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09E70B22-B58C-29FC-740F-20FD2EA29FB4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32EC9F-C81C-446A-972F-8C3D68835572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A367D-0924-33C8-5C70-963F6EBACADE}"/>
              </a:ext>
            </a:extLst>
          </p:cNvPr>
          <p:cNvSpPr txBox="1"/>
          <p:nvPr/>
        </p:nvSpPr>
        <p:spPr>
          <a:xfrm>
            <a:off x="1147434" y="878811"/>
            <a:ext cx="2995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Completion of Ageing PCAs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A18B5-0FE8-75F2-6C54-D9F30600DA31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452B1-E8B8-0CA7-69FC-C8F6AFA07EF9}"/>
              </a:ext>
            </a:extLst>
          </p:cNvPr>
          <p:cNvSpPr txBox="1"/>
          <p:nvPr/>
        </p:nvSpPr>
        <p:spPr>
          <a:xfrm>
            <a:off x="2041502" y="1653204"/>
            <a:ext cx="3267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Construction 1, Underground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5B4CE-5B14-C0C8-EB46-1C86DD8E294F}"/>
              </a:ext>
            </a:extLst>
          </p:cNvPr>
          <p:cNvSpPr txBox="1"/>
          <p:nvPr/>
        </p:nvSpPr>
        <p:spPr>
          <a:xfrm>
            <a:off x="417172" y="1516072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0F5BB8-2540-D5F9-157D-7835BEBBB48A}"/>
              </a:ext>
            </a:extLst>
          </p:cNvPr>
          <p:cNvSpPr txBox="1"/>
          <p:nvPr/>
        </p:nvSpPr>
        <p:spPr>
          <a:xfrm>
            <a:off x="416843" y="4945077"/>
            <a:ext cx="1192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Formula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2FB3B3A-54A5-1285-BCB0-F251D9C92929}"/>
              </a:ext>
            </a:extLst>
          </p:cNvPr>
          <p:cNvGrpSpPr/>
          <p:nvPr/>
        </p:nvGrpSpPr>
        <p:grpSpPr>
          <a:xfrm>
            <a:off x="381758" y="2477908"/>
            <a:ext cx="11436929" cy="3717359"/>
            <a:chOff x="228599" y="1434543"/>
            <a:chExt cx="2575561" cy="111250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28E8F22-3CAA-2F71-2BBB-7BAF2005EB66}"/>
                </a:ext>
              </a:extLst>
            </p:cNvPr>
            <p:cNvSpPr/>
            <p:nvPr/>
          </p:nvSpPr>
          <p:spPr>
            <a:xfrm>
              <a:off x="228600" y="1434543"/>
              <a:ext cx="2575560" cy="1112502"/>
            </a:xfrm>
            <a:prstGeom prst="roundRect">
              <a:avLst>
                <a:gd name="adj" fmla="val 5979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D2B63E7-BD30-FDA4-C234-2AA7347425D0}"/>
                </a:ext>
              </a:extLst>
            </p:cNvPr>
            <p:cNvSpPr/>
            <p:nvPr/>
          </p:nvSpPr>
          <p:spPr>
            <a:xfrm>
              <a:off x="228599" y="1434543"/>
              <a:ext cx="239149" cy="138163"/>
            </a:xfrm>
            <a:prstGeom prst="roundRect">
              <a:avLst>
                <a:gd name="adj" fmla="val 32422"/>
              </a:avLst>
            </a:prstGeom>
            <a:solidFill>
              <a:srgbClr val="F79151"/>
            </a:solidFill>
            <a:ln w="19050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D1C6D23F-ADA1-7A07-DAA8-11699953F2BA}"/>
              </a:ext>
            </a:extLst>
          </p:cNvPr>
          <p:cNvSpPr/>
          <p:nvPr/>
        </p:nvSpPr>
        <p:spPr>
          <a:xfrm rot="10800000">
            <a:off x="698167" y="2477903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33CABA9A-E5CC-E68F-C545-0FE4F650451C}"/>
              </a:ext>
            </a:extLst>
          </p:cNvPr>
          <p:cNvSpPr/>
          <p:nvPr/>
        </p:nvSpPr>
        <p:spPr>
          <a:xfrm>
            <a:off x="373313" y="2477904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82D205-7267-2AE5-788E-B13172B8BA86}"/>
              </a:ext>
            </a:extLst>
          </p:cNvPr>
          <p:cNvSpPr txBox="1"/>
          <p:nvPr/>
        </p:nvSpPr>
        <p:spPr>
          <a:xfrm>
            <a:off x="417172" y="2512101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304605-DE28-A1FC-CD41-22C9383911C1}"/>
              </a:ext>
            </a:extLst>
          </p:cNvPr>
          <p:cNvSpPr txBox="1"/>
          <p:nvPr/>
        </p:nvSpPr>
        <p:spPr>
          <a:xfrm>
            <a:off x="655869" y="2968715"/>
            <a:ext cx="5440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work orders with Customer Connection work type and installation subtype based on PCA Application types: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2FAFA18-1A0D-F70C-448D-EDF66345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73" y="4003390"/>
            <a:ext cx="4172971" cy="177864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C218F3-3A14-24FB-391B-01B541954438}"/>
              </a:ext>
            </a:extLst>
          </p:cNvPr>
          <p:cNvGrpSpPr/>
          <p:nvPr/>
        </p:nvGrpSpPr>
        <p:grpSpPr>
          <a:xfrm>
            <a:off x="6244435" y="4418137"/>
            <a:ext cx="5243241" cy="807044"/>
            <a:chOff x="746086" y="5367389"/>
            <a:chExt cx="5243241" cy="80704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B6DE5D9-E4D7-AAF2-22DE-4B0E47571635}"/>
                </a:ext>
              </a:extLst>
            </p:cNvPr>
            <p:cNvSpPr txBox="1"/>
            <p:nvPr/>
          </p:nvSpPr>
          <p:spPr>
            <a:xfrm>
              <a:off x="746086" y="5367389"/>
              <a:ext cx="39968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%</a:t>
              </a:r>
              <a:r>
                <a:rPr lang="en-US" sz="2000" dirty="0">
                  <a:latin typeface="Segoe UI" panose="020B0502040204020203" pitchFamily="34" charset="0"/>
                  <a:cs typeface="Segoe UI" panose="020B0502040204020203" pitchFamily="34" charset="0"/>
                </a:rPr>
                <a:t> = 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Count of </a:t>
              </a:r>
              <a:r>
                <a:rPr lang="en-US" dirty="0" err="1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FCOMPed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 Ageing PCA</a:t>
              </a: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FE5D21C-9717-149D-D993-650E0BE5E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089" y="5772074"/>
              <a:ext cx="3420369" cy="3302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4B422B4-13F5-C46E-3167-F407C4E70106}"/>
                </a:ext>
              </a:extLst>
            </p:cNvPr>
            <p:cNvSpPr txBox="1"/>
            <p:nvPr/>
          </p:nvSpPr>
          <p:spPr>
            <a:xfrm>
              <a:off x="1252089" y="5805101"/>
              <a:ext cx="3205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Total Ageing PCA Count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B97276-8695-7B8D-F6A0-319FB21948BD}"/>
                </a:ext>
              </a:extLst>
            </p:cNvPr>
            <p:cNvSpPr txBox="1"/>
            <p:nvPr/>
          </p:nvSpPr>
          <p:spPr>
            <a:xfrm>
              <a:off x="4143375" y="5585920"/>
              <a:ext cx="1845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 x 100%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5D96B2-C2D4-0EE5-F5E0-359F871EA99A}"/>
              </a:ext>
            </a:extLst>
          </p:cNvPr>
          <p:cNvSpPr txBox="1"/>
          <p:nvPr/>
        </p:nvSpPr>
        <p:spPr>
          <a:xfrm>
            <a:off x="6104449" y="3003622"/>
            <a:ext cx="4964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WMTRL prior January 1,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 yet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FCOMPed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beyond SPT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</p:spTree>
    <p:extLst>
      <p:ext uri="{BB962C8B-B14F-4D97-AF65-F5344CB8AC3E}">
        <p14:creationId xmlns:p14="http://schemas.microsoft.com/office/powerpoint/2010/main" val="1804136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9E4145-FC90-345C-0C77-DEF6E87FD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C2D222-FEDE-93B6-ED96-F2DB72E8852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3E8244-C3BF-0BE2-E530-70F99950FA95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C9B23C-5509-D451-26D9-0298B49B692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21ACA53E-13CC-CECC-71B3-B6A672158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45D114-34A7-78FE-FB92-6749D649400F}"/>
              </a:ext>
            </a:extLst>
          </p:cNvPr>
          <p:cNvSpPr txBox="1"/>
          <p:nvPr/>
        </p:nvSpPr>
        <p:spPr>
          <a:xfrm>
            <a:off x="9655426" y="6231725"/>
            <a:ext cx="60024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hlinkClick r:id="rId13"/>
              </a:rPr>
              <a:t>ADHERENCE C1 5-20-25.xlsx</a:t>
            </a:r>
            <a:endParaRPr lang="en-US" sz="1100"/>
          </a:p>
        </p:txBody>
      </p:sp>
      <p:sp>
        <p:nvSpPr>
          <p:cNvPr id="7" name="Freeform: Shape 6">
            <a:hlinkClick r:id="rId14" action="ppaction://hlinksldjump"/>
            <a:extLst>
              <a:ext uri="{FF2B5EF4-FFF2-40B4-BE49-F238E27FC236}">
                <a16:creationId xmlns:a16="http://schemas.microsoft.com/office/drawing/2014/main" id="{D67E1575-6F22-D48C-767D-CB196CC133E0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8CDD59-BFCF-3281-B701-4EAB86EEEB3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F90BB0-8C5E-C5C9-8A3B-36DFA49ECA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88BE79-98FE-EC18-6213-28C8EA3C0368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AE13D-D5ED-929D-94F9-4217B83D37FA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64D334-D06B-6503-1DF9-78344E5976E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5D5789-104A-593E-D24E-A6C043A847E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E625BF-5B68-5C22-DEEF-F99300F2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404890"/>
              </p:ext>
            </p:extLst>
          </p:nvPr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Adherence to approved PAI SAIDI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adherence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within ±10%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within ±5%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88F5E9F-CC97-516C-1673-110BE81DC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2307"/>
              </p:ext>
            </p:extLst>
          </p:nvPr>
        </p:nvGraphicFramePr>
        <p:xfrm>
          <a:off x="3015476" y="1980910"/>
          <a:ext cx="8469722" cy="4660529"/>
        </p:xfrm>
        <a:graphic>
          <a:graphicData uri="http://schemas.openxmlformats.org/drawingml/2006/table">
            <a:tbl>
              <a:tblPr/>
              <a:tblGrid>
                <a:gridCol w="796126">
                  <a:extLst>
                    <a:ext uri="{9D8B030D-6E8A-4147-A177-3AD203B41FA5}">
                      <a16:colId xmlns:a16="http://schemas.microsoft.com/office/drawing/2014/main" val="1533022540"/>
                    </a:ext>
                  </a:extLst>
                </a:gridCol>
                <a:gridCol w="380102">
                  <a:extLst>
                    <a:ext uri="{9D8B030D-6E8A-4147-A177-3AD203B41FA5}">
                      <a16:colId xmlns:a16="http://schemas.microsoft.com/office/drawing/2014/main" val="2490684784"/>
                    </a:ext>
                  </a:extLst>
                </a:gridCol>
                <a:gridCol w="375363">
                  <a:extLst>
                    <a:ext uri="{9D8B030D-6E8A-4147-A177-3AD203B41FA5}">
                      <a16:colId xmlns:a16="http://schemas.microsoft.com/office/drawing/2014/main" val="2679419562"/>
                    </a:ext>
                  </a:extLst>
                </a:gridCol>
                <a:gridCol w="606355">
                  <a:extLst>
                    <a:ext uri="{9D8B030D-6E8A-4147-A177-3AD203B41FA5}">
                      <a16:colId xmlns:a16="http://schemas.microsoft.com/office/drawing/2014/main" val="775127381"/>
                    </a:ext>
                  </a:extLst>
                </a:gridCol>
                <a:gridCol w="406276">
                  <a:extLst>
                    <a:ext uri="{9D8B030D-6E8A-4147-A177-3AD203B41FA5}">
                      <a16:colId xmlns:a16="http://schemas.microsoft.com/office/drawing/2014/main" val="58360853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13215052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8702265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417261018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46169067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1306556529"/>
                    </a:ext>
                  </a:extLst>
                </a:gridCol>
                <a:gridCol w="453702">
                  <a:extLst>
                    <a:ext uri="{9D8B030D-6E8A-4147-A177-3AD203B41FA5}">
                      <a16:colId xmlns:a16="http://schemas.microsoft.com/office/drawing/2014/main" val="378161235"/>
                    </a:ext>
                  </a:extLst>
                </a:gridCol>
                <a:gridCol w="394023">
                  <a:extLst>
                    <a:ext uri="{9D8B030D-6E8A-4147-A177-3AD203B41FA5}">
                      <a16:colId xmlns:a16="http://schemas.microsoft.com/office/drawing/2014/main" val="3061531288"/>
                    </a:ext>
                  </a:extLst>
                </a:gridCol>
                <a:gridCol w="529216">
                  <a:extLst>
                    <a:ext uri="{9D8B030D-6E8A-4147-A177-3AD203B41FA5}">
                      <a16:colId xmlns:a16="http://schemas.microsoft.com/office/drawing/2014/main" val="1163391787"/>
                    </a:ext>
                  </a:extLst>
                </a:gridCol>
                <a:gridCol w="499484">
                  <a:extLst>
                    <a:ext uri="{9D8B030D-6E8A-4147-A177-3AD203B41FA5}">
                      <a16:colId xmlns:a16="http://schemas.microsoft.com/office/drawing/2014/main" val="3779224738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107329469"/>
                    </a:ext>
                  </a:extLst>
                </a:gridCol>
                <a:gridCol w="355721">
                  <a:extLst>
                    <a:ext uri="{9D8B030D-6E8A-4147-A177-3AD203B41FA5}">
                      <a16:colId xmlns:a16="http://schemas.microsoft.com/office/drawing/2014/main" val="4197645288"/>
                    </a:ext>
                  </a:extLst>
                </a:gridCol>
                <a:gridCol w="425329">
                  <a:extLst>
                    <a:ext uri="{9D8B030D-6E8A-4147-A177-3AD203B41FA5}">
                      <a16:colId xmlns:a16="http://schemas.microsoft.com/office/drawing/2014/main" val="848713995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808426806"/>
                    </a:ext>
                  </a:extLst>
                </a:gridCol>
              </a:tblGrid>
              <a:tr h="3040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WORK REQUEST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CIRCUIT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TYPE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MOMENTARY/ STRAIGHT TIME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CUST. AFFECTED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DATE OF EXECUTION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DE-ENERGIZATION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ENERGIZATION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DURATION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SYSTEM SAIDI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CUSTOMER AFFECTED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DATE OF EXECUTION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DE-ENERGIZATION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ENERGIZATION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DURATION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SYSTEM SAIDI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RELATED INC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Trade Gothic LT Std" panose="020B0503020502020204"/>
                        </a:rPr>
                        <a:t>ADHERENCE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72121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WR 1219028085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426WX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2,096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1/24/25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180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0.04716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2,096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1/24/25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10:04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1:01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177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0.04620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11272970263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-2%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13917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WR 1219028259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425WU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Gov't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801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1/28/25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0.02996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   801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1/28/25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10:05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3:02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297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0.02963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11272976589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-1%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959427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WR 1220026968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421WG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Gov't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530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3/13/25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0.01977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   526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3/13/25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11:10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4:50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340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0.01897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11273044152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-4%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486435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WR 1220027001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55GG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252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9:00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240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0.00753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   252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9:06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1:02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236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0.00739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11273050822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-2%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958985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WR 1220027021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426WX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581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240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0.01737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   580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3/18/25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11:19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3:48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269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0.01644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11273051829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9C5700"/>
                          </a:solidFill>
                          <a:effectLst/>
                          <a:latin typeface="Trade Gothic LT Std" panose="020B0503020502020204"/>
                        </a:rPr>
                        <a:t>-5%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1098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WR 1220026814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415WX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1,309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3/20/25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6:00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0.04897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1,309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3/21/25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5:14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254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0.04243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11273055145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Trade Gothic LT Std" panose="020B0503020502020204"/>
                        </a:rPr>
                        <a:t>-13%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06029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WR 1219030026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57GG, 425FIL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7,183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4/5/25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12:30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5:30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0.05856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7,149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4/5/25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1:34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7:35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361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0.05402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11273079281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9C5700"/>
                          </a:solidFill>
                          <a:effectLst/>
                          <a:latin typeface="Trade Gothic LT Std" panose="020B0503020502020204"/>
                        </a:rPr>
                        <a:t>-8%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090928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WR 1219030285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425WU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Gov't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7,610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4/10/25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0.13266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8,007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4/10/25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11:14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4:24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310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0.09508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11273089570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9C0006"/>
                          </a:solidFill>
                          <a:effectLst/>
                          <a:latin typeface="Trade Gothic LT Std" panose="020B0503020502020204"/>
                        </a:rPr>
                        <a:t>-28%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118037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WR 1219030366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47XD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178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4/15/25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9:00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240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0.00533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   178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4/15/25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9:04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236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0.00521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11273100503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-2%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51066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70AD47"/>
                          </a:solidFill>
                          <a:effectLst/>
                          <a:latin typeface="Trade Gothic LT Std" panose="020B0503020502020204"/>
                        </a:rPr>
                        <a:t>WR 1219031005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47ZJ, 416VX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3,355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5/1/2025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8:00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0.12703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 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 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 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 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 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0.12359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11273134414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6100"/>
                          </a:solidFill>
                          <a:effectLst/>
                          <a:latin typeface="Trade Gothic LT Std" panose="020B0503020502020204"/>
                        </a:rPr>
                        <a:t>-3%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307658"/>
                  </a:ext>
                </a:extLst>
              </a:tr>
              <a:tr h="3054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WR 1219031198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47GG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CA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Straight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1,613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5/9/2025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10:00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3:00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300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0.06004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   1,613 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5/9/25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10:03 AM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3:19 PM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316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0.06312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INC 11273153238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9C5700"/>
                          </a:solidFill>
                          <a:effectLst/>
                          <a:latin typeface="Trade Gothic LT Std" panose="020B0503020502020204"/>
                        </a:rPr>
                        <a:t>5%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198254"/>
                  </a:ext>
                </a:extLst>
              </a:tr>
              <a:tr h="154691"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Trade Gothic LT Std" panose="020B0503020502020204"/>
                        </a:rPr>
                        <a:t>Total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-7%</a:t>
                      </a:r>
                    </a:p>
                  </a:txBody>
                  <a:tcPr marL="4153" marR="4153" marT="41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58633"/>
                  </a:ext>
                </a:extLst>
              </a:tr>
              <a:tr h="1187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4472C4"/>
                          </a:solidFill>
                          <a:effectLst/>
                          <a:latin typeface="Trade Gothic LT Std" panose="020B0503020502020204"/>
                        </a:rPr>
                        <a:t>Jen 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578884"/>
                  </a:ext>
                </a:extLst>
              </a:tr>
              <a:tr h="1187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Trade Gothic LT Std" panose="020B0503020502020204"/>
                        </a:rPr>
                        <a:t>Ronnie 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948521"/>
                  </a:ext>
                </a:extLst>
              </a:tr>
              <a:tr h="1187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375623"/>
                          </a:solidFill>
                          <a:effectLst/>
                          <a:latin typeface="Trade Gothic LT Std" panose="020B0503020502020204"/>
                        </a:rPr>
                        <a:t>Isan 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246872"/>
                  </a:ext>
                </a:extLst>
              </a:tr>
              <a:tr h="118791">
                <a:tc>
                  <a:txBody>
                    <a:bodyPr/>
                    <a:lstStyle/>
                    <a:p>
                      <a:pPr algn="ctr" fontAlgn="ctr"/>
                      <a:endParaRPr lang="en-US" sz="1000" b="1" i="0" u="none" strike="noStrike">
                        <a:solidFill>
                          <a:srgbClr val="375623"/>
                        </a:solidFill>
                        <a:effectLst/>
                        <a:latin typeface="Trade Gothic LT Std" panose="020B0503020502020204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37562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153" marR="4153" marT="41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67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676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9E4145-FC90-345C-0C77-DEF6E87FD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C2D222-FEDE-93B6-ED96-F2DB72E8852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3E8244-C3BF-0BE2-E530-70F99950FA95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C9B23C-5509-D451-26D9-0298B49B692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21ACA53E-13CC-CECC-71B3-B6A672158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Freeform: Shape 6">
            <a:hlinkClick r:id="rId13" action="ppaction://hlinksldjump"/>
            <a:extLst>
              <a:ext uri="{FF2B5EF4-FFF2-40B4-BE49-F238E27FC236}">
                <a16:creationId xmlns:a16="http://schemas.microsoft.com/office/drawing/2014/main" id="{D67E1575-6F22-D48C-767D-CB196CC133E0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8CDD59-BFCF-3281-B701-4EAB86EEEB3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F90BB0-8C5E-C5C9-8A3B-36DFA49ECA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88BE79-98FE-EC18-6213-28C8EA3C0368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AE13D-D5ED-929D-94F9-4217B83D37FA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64D334-D06B-6503-1DF9-78344E5976E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5D5789-104A-593E-D24E-A6C043A847E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E625BF-5B68-5C22-DEEF-F99300F2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802589"/>
              </p:ext>
            </p:extLst>
          </p:nvPr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Termination/Modification APT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KPI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sp>
        <p:nvSpPr>
          <p:cNvPr id="10" name="TextBox 10">
            <a:extLst>
              <a:ext uri="{FF2B5EF4-FFF2-40B4-BE49-F238E27FC236}">
                <a16:creationId xmlns:a16="http://schemas.microsoft.com/office/drawing/2014/main" id="{F18BFFC5-516E-E817-FD6B-B607A40853AE}"/>
              </a:ext>
            </a:extLst>
          </p:cNvPr>
          <p:cNvSpPr txBox="1"/>
          <p:nvPr/>
        </p:nvSpPr>
        <p:spPr>
          <a:xfrm>
            <a:off x="8517884" y="2105426"/>
            <a:ext cx="2670223" cy="4192251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Scope:</a:t>
            </a:r>
            <a:r>
              <a:rPr lang="en-US" sz="1400" b="1" baseline="0"/>
              <a:t> </a:t>
            </a:r>
          </a:p>
          <a:p>
            <a:pPr marL="285750" indent="-285750">
              <a:buFontTx/>
              <a:buChar char="-"/>
            </a:pPr>
            <a:r>
              <a:rPr lang="en-US" sz="1400"/>
              <a:t>2024/2025 Created WOs (WAPPR) routed to FCOMP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PCA Modification with </a:t>
            </a:r>
            <a:r>
              <a:rPr lang="en-US" sz="1400" b="1"/>
              <a:t>AOS-WT-ST: </a:t>
            </a:r>
          </a:p>
          <a:p>
            <a:r>
              <a:rPr lang="en-US" sz="1400"/>
              <a:t>	DS-CC</a:t>
            </a:r>
            <a:r>
              <a:rPr lang="en-US" sz="1400" b="1"/>
              <a:t>-</a:t>
            </a:r>
            <a:r>
              <a:rPr lang="en-US" sz="1400"/>
              <a:t>Installation with the 	following Service 	Application Subtypes: 	</a:t>
            </a:r>
            <a:r>
              <a:rPr lang="en-US" sz="1400" u="sng"/>
              <a:t>Modification of Electric </a:t>
            </a:r>
            <a:r>
              <a:rPr lang="en-US" sz="1400"/>
              <a:t>	</a:t>
            </a:r>
            <a:r>
              <a:rPr lang="en-US" sz="1400" u="sng"/>
              <a:t>Service, Transfer of Service, </a:t>
            </a:r>
            <a:r>
              <a:rPr lang="en-US" sz="1400"/>
              <a:t>	</a:t>
            </a:r>
            <a:r>
              <a:rPr lang="en-US" sz="1400" u="sng"/>
              <a:t>Relocation/Remodel</a:t>
            </a:r>
          </a:p>
          <a:p>
            <a:endParaRPr lang="en-US" sz="1400" u="sng"/>
          </a:p>
          <a:p>
            <a:pPr marL="285750" indent="-285750">
              <a:buFontTx/>
              <a:buChar char="-"/>
            </a:pPr>
            <a:r>
              <a:rPr lang="en-US" sz="1400"/>
              <a:t>PCA Termination with </a:t>
            </a:r>
            <a:r>
              <a:rPr lang="en-US" sz="1400" b="1"/>
              <a:t>AOS-WT-ST:</a:t>
            </a:r>
            <a:r>
              <a:rPr lang="en-US" sz="1400"/>
              <a:t> </a:t>
            </a:r>
          </a:p>
          <a:p>
            <a:r>
              <a:rPr lang="en-US" sz="1400"/>
              <a:t>	DS-CC-Retirement</a:t>
            </a:r>
          </a:p>
          <a:p>
            <a:endParaRPr lang="en-US" sz="1400"/>
          </a:p>
          <a:p>
            <a:pPr marL="285750" indent="-285750">
              <a:buFontTx/>
              <a:buChar char="-"/>
            </a:pPr>
            <a:r>
              <a:rPr lang="en-US" sz="1400"/>
              <a:t>FCOMP Date is in the current year</a:t>
            </a:r>
          </a:p>
        </p:txBody>
      </p:sp>
      <p:pic>
        <p:nvPicPr>
          <p:cNvPr id="12" name="Graphic 19" descr="Lightbulb with solid fill">
            <a:extLst>
              <a:ext uri="{FF2B5EF4-FFF2-40B4-BE49-F238E27FC236}">
                <a16:creationId xmlns:a16="http://schemas.microsoft.com/office/drawing/2014/main" id="{ED66FBDB-DE6E-6C2A-FE73-BC3E152DE4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01259" y="2048014"/>
            <a:ext cx="949944" cy="914400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F0E681A-4E99-5718-A7F2-0F6438AF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230561"/>
              </p:ext>
            </p:extLst>
          </p:nvPr>
        </p:nvGraphicFramePr>
        <p:xfrm>
          <a:off x="3197508" y="2378221"/>
          <a:ext cx="4949694" cy="1630094"/>
        </p:xfrm>
        <a:graphic>
          <a:graphicData uri="http://schemas.openxmlformats.org/drawingml/2006/table">
            <a:tbl>
              <a:tblPr/>
              <a:tblGrid>
                <a:gridCol w="2886839">
                  <a:extLst>
                    <a:ext uri="{9D8B030D-6E8A-4147-A177-3AD203B41FA5}">
                      <a16:colId xmlns:a16="http://schemas.microsoft.com/office/drawing/2014/main" val="2582010469"/>
                    </a:ext>
                  </a:extLst>
                </a:gridCol>
                <a:gridCol w="865349">
                  <a:extLst>
                    <a:ext uri="{9D8B030D-6E8A-4147-A177-3AD203B41FA5}">
                      <a16:colId xmlns:a16="http://schemas.microsoft.com/office/drawing/2014/main" val="1474308701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3753863619"/>
                    </a:ext>
                  </a:extLst>
                </a:gridCol>
              </a:tblGrid>
              <a:tr h="3958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WO COUNT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AVERAGE PROCESSING TIME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68532"/>
                  </a:ext>
                </a:extLst>
              </a:tr>
              <a:tr h="32788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Modification of Electric Service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833187"/>
                  </a:ext>
                </a:extLst>
              </a:tr>
              <a:tr h="32788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Termination of Electric Service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814385"/>
                  </a:ext>
                </a:extLst>
              </a:tr>
              <a:tr h="32788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1256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E3AE3AE-7968-C114-7F2E-6F8F935FC4B3}"/>
              </a:ext>
            </a:extLst>
          </p:cNvPr>
          <p:cNvSpPr txBox="1"/>
          <p:nvPr/>
        </p:nvSpPr>
        <p:spPr>
          <a:xfrm>
            <a:off x="4640183" y="4436922"/>
            <a:ext cx="2194901" cy="1200329"/>
          </a:xfrm>
          <a:custGeom>
            <a:avLst/>
            <a:gdLst>
              <a:gd name="connsiteX0" fmla="*/ 0 w 2194901"/>
              <a:gd name="connsiteY0" fmla="*/ 0 h 1200329"/>
              <a:gd name="connsiteX1" fmla="*/ 526776 w 2194901"/>
              <a:gd name="connsiteY1" fmla="*/ 0 h 1200329"/>
              <a:gd name="connsiteX2" fmla="*/ 1053552 w 2194901"/>
              <a:gd name="connsiteY2" fmla="*/ 0 h 1200329"/>
              <a:gd name="connsiteX3" fmla="*/ 1646176 w 2194901"/>
              <a:gd name="connsiteY3" fmla="*/ 0 h 1200329"/>
              <a:gd name="connsiteX4" fmla="*/ 2194901 w 2194901"/>
              <a:gd name="connsiteY4" fmla="*/ 0 h 1200329"/>
              <a:gd name="connsiteX5" fmla="*/ 2194901 w 2194901"/>
              <a:gd name="connsiteY5" fmla="*/ 388106 h 1200329"/>
              <a:gd name="connsiteX6" fmla="*/ 2194901 w 2194901"/>
              <a:gd name="connsiteY6" fmla="*/ 764209 h 1200329"/>
              <a:gd name="connsiteX7" fmla="*/ 2194901 w 2194901"/>
              <a:gd name="connsiteY7" fmla="*/ 1200329 h 1200329"/>
              <a:gd name="connsiteX8" fmla="*/ 1646176 w 2194901"/>
              <a:gd name="connsiteY8" fmla="*/ 1200329 h 1200329"/>
              <a:gd name="connsiteX9" fmla="*/ 1141349 w 2194901"/>
              <a:gd name="connsiteY9" fmla="*/ 1200329 h 1200329"/>
              <a:gd name="connsiteX10" fmla="*/ 614572 w 2194901"/>
              <a:gd name="connsiteY10" fmla="*/ 1200329 h 1200329"/>
              <a:gd name="connsiteX11" fmla="*/ 0 w 2194901"/>
              <a:gd name="connsiteY11" fmla="*/ 1200329 h 1200329"/>
              <a:gd name="connsiteX12" fmla="*/ 0 w 2194901"/>
              <a:gd name="connsiteY12" fmla="*/ 800219 h 1200329"/>
              <a:gd name="connsiteX13" fmla="*/ 0 w 2194901"/>
              <a:gd name="connsiteY13" fmla="*/ 436120 h 1200329"/>
              <a:gd name="connsiteX14" fmla="*/ 0 w 2194901"/>
              <a:gd name="connsiteY14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94901" h="1200329" fill="none" extrusionOk="0">
                <a:moveTo>
                  <a:pt x="0" y="0"/>
                </a:moveTo>
                <a:cubicBezTo>
                  <a:pt x="214307" y="-8997"/>
                  <a:pt x="358777" y="39231"/>
                  <a:pt x="526776" y="0"/>
                </a:cubicBezTo>
                <a:cubicBezTo>
                  <a:pt x="694775" y="-39231"/>
                  <a:pt x="924312" y="3418"/>
                  <a:pt x="1053552" y="0"/>
                </a:cubicBezTo>
                <a:cubicBezTo>
                  <a:pt x="1182792" y="-3418"/>
                  <a:pt x="1424362" y="51788"/>
                  <a:pt x="1646176" y="0"/>
                </a:cubicBezTo>
                <a:cubicBezTo>
                  <a:pt x="1867990" y="-51788"/>
                  <a:pt x="1935257" y="55610"/>
                  <a:pt x="2194901" y="0"/>
                </a:cubicBezTo>
                <a:cubicBezTo>
                  <a:pt x="2230277" y="90232"/>
                  <a:pt x="2148471" y="251065"/>
                  <a:pt x="2194901" y="388106"/>
                </a:cubicBezTo>
                <a:cubicBezTo>
                  <a:pt x="2241331" y="525147"/>
                  <a:pt x="2189895" y="607897"/>
                  <a:pt x="2194901" y="764209"/>
                </a:cubicBezTo>
                <a:cubicBezTo>
                  <a:pt x="2199907" y="920521"/>
                  <a:pt x="2155009" y="1035581"/>
                  <a:pt x="2194901" y="1200329"/>
                </a:cubicBezTo>
                <a:cubicBezTo>
                  <a:pt x="1961432" y="1205288"/>
                  <a:pt x="1847194" y="1145728"/>
                  <a:pt x="1646176" y="1200329"/>
                </a:cubicBezTo>
                <a:cubicBezTo>
                  <a:pt x="1445158" y="1254930"/>
                  <a:pt x="1244988" y="1175301"/>
                  <a:pt x="1141349" y="1200329"/>
                </a:cubicBezTo>
                <a:cubicBezTo>
                  <a:pt x="1037710" y="1225357"/>
                  <a:pt x="742106" y="1175842"/>
                  <a:pt x="614572" y="1200329"/>
                </a:cubicBezTo>
                <a:cubicBezTo>
                  <a:pt x="487038" y="1224816"/>
                  <a:pt x="165140" y="1191271"/>
                  <a:pt x="0" y="1200329"/>
                </a:cubicBezTo>
                <a:cubicBezTo>
                  <a:pt x="-22136" y="1051421"/>
                  <a:pt x="19632" y="947160"/>
                  <a:pt x="0" y="800219"/>
                </a:cubicBezTo>
                <a:cubicBezTo>
                  <a:pt x="-19632" y="653278"/>
                  <a:pt x="7862" y="512407"/>
                  <a:pt x="0" y="436120"/>
                </a:cubicBezTo>
                <a:cubicBezTo>
                  <a:pt x="-7862" y="359833"/>
                  <a:pt x="39067" y="150005"/>
                  <a:pt x="0" y="0"/>
                </a:cubicBezTo>
                <a:close/>
              </a:path>
              <a:path w="2194901" h="1200329" stroke="0" extrusionOk="0">
                <a:moveTo>
                  <a:pt x="0" y="0"/>
                </a:moveTo>
                <a:cubicBezTo>
                  <a:pt x="141692" y="-27848"/>
                  <a:pt x="411044" y="44117"/>
                  <a:pt x="592623" y="0"/>
                </a:cubicBezTo>
                <a:cubicBezTo>
                  <a:pt x="774202" y="-44117"/>
                  <a:pt x="957042" y="10971"/>
                  <a:pt x="1185247" y="0"/>
                </a:cubicBezTo>
                <a:cubicBezTo>
                  <a:pt x="1413452" y="-10971"/>
                  <a:pt x="1529240" y="46168"/>
                  <a:pt x="1712023" y="0"/>
                </a:cubicBezTo>
                <a:cubicBezTo>
                  <a:pt x="1894806" y="-46168"/>
                  <a:pt x="2076584" y="50761"/>
                  <a:pt x="2194901" y="0"/>
                </a:cubicBezTo>
                <a:cubicBezTo>
                  <a:pt x="2239003" y="89477"/>
                  <a:pt x="2194508" y="259234"/>
                  <a:pt x="2194901" y="376103"/>
                </a:cubicBezTo>
                <a:cubicBezTo>
                  <a:pt x="2195294" y="492972"/>
                  <a:pt x="2162015" y="685772"/>
                  <a:pt x="2194901" y="800219"/>
                </a:cubicBezTo>
                <a:cubicBezTo>
                  <a:pt x="2227787" y="914666"/>
                  <a:pt x="2192853" y="1058695"/>
                  <a:pt x="2194901" y="1200329"/>
                </a:cubicBezTo>
                <a:cubicBezTo>
                  <a:pt x="1914791" y="1265284"/>
                  <a:pt x="1823412" y="1197671"/>
                  <a:pt x="1624227" y="1200329"/>
                </a:cubicBezTo>
                <a:cubicBezTo>
                  <a:pt x="1425042" y="1202987"/>
                  <a:pt x="1240659" y="1159422"/>
                  <a:pt x="1097451" y="1200329"/>
                </a:cubicBezTo>
                <a:cubicBezTo>
                  <a:pt x="954243" y="1241236"/>
                  <a:pt x="783584" y="1171874"/>
                  <a:pt x="570674" y="1200329"/>
                </a:cubicBezTo>
                <a:cubicBezTo>
                  <a:pt x="357764" y="1228784"/>
                  <a:pt x="179226" y="1153304"/>
                  <a:pt x="0" y="1200329"/>
                </a:cubicBezTo>
                <a:cubicBezTo>
                  <a:pt x="-22095" y="1102400"/>
                  <a:pt x="19102" y="925767"/>
                  <a:pt x="0" y="824226"/>
                </a:cubicBezTo>
                <a:cubicBezTo>
                  <a:pt x="-19102" y="722685"/>
                  <a:pt x="14179" y="583379"/>
                  <a:pt x="0" y="448123"/>
                </a:cubicBezTo>
                <a:cubicBezTo>
                  <a:pt x="-14179" y="312867"/>
                  <a:pt x="36911" y="103374"/>
                  <a:pt x="0" y="0"/>
                </a:cubicBezTo>
                <a:close/>
              </a:path>
            </a:pathLst>
          </a:custGeom>
          <a:solidFill>
            <a:srgbClr val="C6C7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072999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endParaRPr lang="en-US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TOTAL APT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86 DAYS</a:t>
            </a:r>
            <a:endParaRPr lang="en-US" sz="2000" dirty="0"/>
          </a:p>
          <a:p>
            <a:endParaRPr lang="en-US" sz="1600" dirty="0"/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DACC3D94-2B11-FF76-389C-F347F6D2E0F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39343" y="5187701"/>
            <a:ext cx="730411" cy="7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62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9E4145-FC90-345C-0C77-DEF6E87FD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C2D222-FEDE-93B6-ED96-F2DB72E8852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3E8244-C3BF-0BE2-E530-70F99950FA95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C9B23C-5509-D451-26D9-0298B49B692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21ACA53E-13CC-CECC-71B3-B6A672158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Freeform: Shape 6">
            <a:hlinkClick r:id="rId13" action="ppaction://hlinksldjump"/>
            <a:extLst>
              <a:ext uri="{FF2B5EF4-FFF2-40B4-BE49-F238E27FC236}">
                <a16:creationId xmlns:a16="http://schemas.microsoft.com/office/drawing/2014/main" id="{D67E1575-6F22-D48C-767D-CB196CC133E0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8CDD59-BFCF-3281-B701-4EAB86EEEB3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F90BB0-8C5E-C5C9-8A3B-36DFA49ECA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88BE79-98FE-EC18-6213-28C8EA3C0368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AE13D-D5ED-929D-94F9-4217B83D37FA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64D334-D06B-6503-1DF9-78344E5976E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5D5789-104A-593E-D24E-A6C043A847E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E625BF-5B68-5C22-DEEF-F99300F202B9}"/>
              </a:ext>
            </a:extLst>
          </p:cNvPr>
          <p:cNvGraphicFramePr>
            <a:graphicFrameLocks noGrp="1"/>
          </p:cNvGraphicFramePr>
          <p:nvPr/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Termination/Modification APT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Days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KPI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00B4E2-C638-87C4-758A-60AFB33F8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69199"/>
              </p:ext>
            </p:extLst>
          </p:nvPr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Deprioritized to execute revenue work orders due to workload issues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2116CDC-4DFE-6608-5766-7AF697547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141299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Prioritization of WOs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536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9E4145-FC90-345C-0C77-DEF6E87FD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C2D222-FEDE-93B6-ED96-F2DB72E8852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3E8244-C3BF-0BE2-E530-70F99950FA95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C9B23C-5509-D451-26D9-0298B49B692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21ACA53E-13CC-CECC-71B3-B6A672158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Freeform: Shape 6">
            <a:hlinkClick r:id="rId13" action="ppaction://hlinksldjump"/>
            <a:extLst>
              <a:ext uri="{FF2B5EF4-FFF2-40B4-BE49-F238E27FC236}">
                <a16:creationId xmlns:a16="http://schemas.microsoft.com/office/drawing/2014/main" id="{D67E1575-6F22-D48C-767D-CB196CC133E0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8CDD59-BFCF-3281-B701-4EAB86EEEB3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F90BB0-8C5E-C5C9-8A3B-36DFA49ECA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88BE79-98FE-EC18-6213-28C8EA3C0368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AE13D-D5ED-929D-94F9-4217B83D37FA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64D334-D06B-6503-1DF9-78344E5976E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5D5789-104A-593E-D24E-A6C043A847E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E625BF-5B68-5C22-DEEF-F99300F2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568771"/>
              </p:ext>
            </p:extLst>
          </p:nvPr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Termination Resolution of Pending PCA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New KPI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sp>
        <p:nvSpPr>
          <p:cNvPr id="31" name="TextBox 10">
            <a:extLst>
              <a:ext uri="{FF2B5EF4-FFF2-40B4-BE49-F238E27FC236}">
                <a16:creationId xmlns:a16="http://schemas.microsoft.com/office/drawing/2014/main" id="{D1FDC69F-EB39-B782-0A53-E73BDC61D357}"/>
              </a:ext>
            </a:extLst>
          </p:cNvPr>
          <p:cNvSpPr txBox="1"/>
          <p:nvPr/>
        </p:nvSpPr>
        <p:spPr>
          <a:xfrm>
            <a:off x="3090333" y="2130079"/>
            <a:ext cx="2519358" cy="2302221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Scope:</a:t>
            </a:r>
            <a:r>
              <a:rPr lang="en-US" sz="1400" b="1" baseline="0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2023 and prior WAPPR Year pending WOs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PCA Termination with </a:t>
            </a:r>
            <a:r>
              <a:rPr lang="en-US" sz="1400" b="1" dirty="0"/>
              <a:t>AOS-WT-ST:</a:t>
            </a:r>
            <a:r>
              <a:rPr lang="en-US" sz="1400" dirty="0"/>
              <a:t> </a:t>
            </a:r>
          </a:p>
          <a:p>
            <a:r>
              <a:rPr lang="en-US" sz="1400" dirty="0"/>
              <a:t>	DS-CC-Retirement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Pending Status = </a:t>
            </a:r>
            <a:r>
              <a:rPr lang="en-US" sz="1400" u="sng" dirty="0"/>
              <a:t>WMTRL, APPR, INPRG, SCHED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C50C1E1-C681-E8B2-4D81-20636ADFA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761199"/>
              </p:ext>
            </p:extLst>
          </p:nvPr>
        </p:nvGraphicFramePr>
        <p:xfrm>
          <a:off x="6882973" y="2264963"/>
          <a:ext cx="2964047" cy="561340"/>
        </p:xfrm>
        <a:graphic>
          <a:graphicData uri="http://schemas.openxmlformats.org/drawingml/2006/table">
            <a:tbl>
              <a:tblPr/>
              <a:tblGrid>
                <a:gridCol w="1800940">
                  <a:extLst>
                    <a:ext uri="{9D8B030D-6E8A-4147-A177-3AD203B41FA5}">
                      <a16:colId xmlns:a16="http://schemas.microsoft.com/office/drawing/2014/main" val="400213873"/>
                    </a:ext>
                  </a:extLst>
                </a:gridCol>
                <a:gridCol w="1163107">
                  <a:extLst>
                    <a:ext uri="{9D8B030D-6E8A-4147-A177-3AD203B41FA5}">
                      <a16:colId xmlns:a16="http://schemas.microsoft.com/office/drawing/2014/main" val="109406302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0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1446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PARANAQUE</a:t>
                      </a:r>
                    </a:p>
                  </a:txBody>
                  <a:tcPr marL="952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6325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A17473-CF6B-03EA-D1D7-373CA0325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98534"/>
              </p:ext>
            </p:extLst>
          </p:nvPr>
        </p:nvGraphicFramePr>
        <p:xfrm>
          <a:off x="5737045" y="3188602"/>
          <a:ext cx="5809449" cy="1242218"/>
        </p:xfrm>
        <a:graphic>
          <a:graphicData uri="http://schemas.openxmlformats.org/drawingml/2006/table">
            <a:tbl>
              <a:tblPr/>
              <a:tblGrid>
                <a:gridCol w="1278545">
                  <a:extLst>
                    <a:ext uri="{9D8B030D-6E8A-4147-A177-3AD203B41FA5}">
                      <a16:colId xmlns:a16="http://schemas.microsoft.com/office/drawing/2014/main" val="2262240121"/>
                    </a:ext>
                  </a:extLst>
                </a:gridCol>
                <a:gridCol w="3421294">
                  <a:extLst>
                    <a:ext uri="{9D8B030D-6E8A-4147-A177-3AD203B41FA5}">
                      <a16:colId xmlns:a16="http://schemas.microsoft.com/office/drawing/2014/main" val="1664146815"/>
                    </a:ext>
                  </a:extLst>
                </a:gridCol>
                <a:gridCol w="1109610">
                  <a:extLst>
                    <a:ext uri="{9D8B030D-6E8A-4147-A177-3AD203B41FA5}">
                      <a16:colId xmlns:a16="http://schemas.microsoft.com/office/drawing/2014/main" val="2992927823"/>
                    </a:ext>
                  </a:extLst>
                </a:gridCol>
              </a:tblGrid>
              <a:tr h="376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WONUM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WMTRL DATE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9806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X23104085941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PCA, Termination of Electric Service, SME, D.L. CERVANTES CONSTRUCTION CORPORATION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10/29/2023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423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X21094255140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BD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PCA, Termination of Electric Service, BAYPRIME PROPERTIES INC.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BD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10/27/2021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B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019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6B3C474-A5C9-A349-5A50-B409B34356B7}"/>
              </a:ext>
            </a:extLst>
          </p:cNvPr>
          <p:cNvSpPr txBox="1"/>
          <p:nvPr/>
        </p:nvSpPr>
        <p:spPr>
          <a:xfrm>
            <a:off x="6096000" y="4904347"/>
            <a:ext cx="2194901" cy="1231106"/>
          </a:xfrm>
          <a:custGeom>
            <a:avLst/>
            <a:gdLst>
              <a:gd name="connsiteX0" fmla="*/ 0 w 2194901"/>
              <a:gd name="connsiteY0" fmla="*/ 0 h 1231106"/>
              <a:gd name="connsiteX1" fmla="*/ 526776 w 2194901"/>
              <a:gd name="connsiteY1" fmla="*/ 0 h 1231106"/>
              <a:gd name="connsiteX2" fmla="*/ 1053552 w 2194901"/>
              <a:gd name="connsiteY2" fmla="*/ 0 h 1231106"/>
              <a:gd name="connsiteX3" fmla="*/ 1646176 w 2194901"/>
              <a:gd name="connsiteY3" fmla="*/ 0 h 1231106"/>
              <a:gd name="connsiteX4" fmla="*/ 2194901 w 2194901"/>
              <a:gd name="connsiteY4" fmla="*/ 0 h 1231106"/>
              <a:gd name="connsiteX5" fmla="*/ 2194901 w 2194901"/>
              <a:gd name="connsiteY5" fmla="*/ 398058 h 1231106"/>
              <a:gd name="connsiteX6" fmla="*/ 2194901 w 2194901"/>
              <a:gd name="connsiteY6" fmla="*/ 783804 h 1231106"/>
              <a:gd name="connsiteX7" fmla="*/ 2194901 w 2194901"/>
              <a:gd name="connsiteY7" fmla="*/ 1231106 h 1231106"/>
              <a:gd name="connsiteX8" fmla="*/ 1646176 w 2194901"/>
              <a:gd name="connsiteY8" fmla="*/ 1231106 h 1231106"/>
              <a:gd name="connsiteX9" fmla="*/ 1141349 w 2194901"/>
              <a:gd name="connsiteY9" fmla="*/ 1231106 h 1231106"/>
              <a:gd name="connsiteX10" fmla="*/ 614572 w 2194901"/>
              <a:gd name="connsiteY10" fmla="*/ 1231106 h 1231106"/>
              <a:gd name="connsiteX11" fmla="*/ 0 w 2194901"/>
              <a:gd name="connsiteY11" fmla="*/ 1231106 h 1231106"/>
              <a:gd name="connsiteX12" fmla="*/ 0 w 2194901"/>
              <a:gd name="connsiteY12" fmla="*/ 820737 h 1231106"/>
              <a:gd name="connsiteX13" fmla="*/ 0 w 2194901"/>
              <a:gd name="connsiteY13" fmla="*/ 447302 h 1231106"/>
              <a:gd name="connsiteX14" fmla="*/ 0 w 2194901"/>
              <a:gd name="connsiteY14" fmla="*/ 0 h 123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94901" h="1231106" fill="none" extrusionOk="0">
                <a:moveTo>
                  <a:pt x="0" y="0"/>
                </a:moveTo>
                <a:cubicBezTo>
                  <a:pt x="214307" y="-8997"/>
                  <a:pt x="358777" y="39231"/>
                  <a:pt x="526776" y="0"/>
                </a:cubicBezTo>
                <a:cubicBezTo>
                  <a:pt x="694775" y="-39231"/>
                  <a:pt x="924312" y="3418"/>
                  <a:pt x="1053552" y="0"/>
                </a:cubicBezTo>
                <a:cubicBezTo>
                  <a:pt x="1182792" y="-3418"/>
                  <a:pt x="1424362" y="51788"/>
                  <a:pt x="1646176" y="0"/>
                </a:cubicBezTo>
                <a:cubicBezTo>
                  <a:pt x="1867990" y="-51788"/>
                  <a:pt x="1935257" y="55610"/>
                  <a:pt x="2194901" y="0"/>
                </a:cubicBezTo>
                <a:cubicBezTo>
                  <a:pt x="2200904" y="86051"/>
                  <a:pt x="2184522" y="261687"/>
                  <a:pt x="2194901" y="398058"/>
                </a:cubicBezTo>
                <a:cubicBezTo>
                  <a:pt x="2205280" y="534429"/>
                  <a:pt x="2159493" y="635602"/>
                  <a:pt x="2194901" y="783804"/>
                </a:cubicBezTo>
                <a:cubicBezTo>
                  <a:pt x="2230309" y="932006"/>
                  <a:pt x="2165916" y="1066303"/>
                  <a:pt x="2194901" y="1231106"/>
                </a:cubicBezTo>
                <a:cubicBezTo>
                  <a:pt x="1961432" y="1236065"/>
                  <a:pt x="1847194" y="1176505"/>
                  <a:pt x="1646176" y="1231106"/>
                </a:cubicBezTo>
                <a:cubicBezTo>
                  <a:pt x="1445158" y="1285707"/>
                  <a:pt x="1244988" y="1206078"/>
                  <a:pt x="1141349" y="1231106"/>
                </a:cubicBezTo>
                <a:cubicBezTo>
                  <a:pt x="1037710" y="1256134"/>
                  <a:pt x="742106" y="1206619"/>
                  <a:pt x="614572" y="1231106"/>
                </a:cubicBezTo>
                <a:cubicBezTo>
                  <a:pt x="487038" y="1255593"/>
                  <a:pt x="165140" y="1222048"/>
                  <a:pt x="0" y="1231106"/>
                </a:cubicBezTo>
                <a:cubicBezTo>
                  <a:pt x="-44400" y="1120788"/>
                  <a:pt x="37944" y="1016364"/>
                  <a:pt x="0" y="820737"/>
                </a:cubicBezTo>
                <a:cubicBezTo>
                  <a:pt x="-37944" y="625110"/>
                  <a:pt x="30128" y="578991"/>
                  <a:pt x="0" y="447302"/>
                </a:cubicBezTo>
                <a:cubicBezTo>
                  <a:pt x="-30128" y="315613"/>
                  <a:pt x="47910" y="198365"/>
                  <a:pt x="0" y="0"/>
                </a:cubicBezTo>
                <a:close/>
              </a:path>
              <a:path w="2194901" h="1231106" stroke="0" extrusionOk="0">
                <a:moveTo>
                  <a:pt x="0" y="0"/>
                </a:moveTo>
                <a:cubicBezTo>
                  <a:pt x="141692" y="-27848"/>
                  <a:pt x="411044" y="44117"/>
                  <a:pt x="592623" y="0"/>
                </a:cubicBezTo>
                <a:cubicBezTo>
                  <a:pt x="774202" y="-44117"/>
                  <a:pt x="957042" y="10971"/>
                  <a:pt x="1185247" y="0"/>
                </a:cubicBezTo>
                <a:cubicBezTo>
                  <a:pt x="1413452" y="-10971"/>
                  <a:pt x="1529240" y="46168"/>
                  <a:pt x="1712023" y="0"/>
                </a:cubicBezTo>
                <a:cubicBezTo>
                  <a:pt x="1894806" y="-46168"/>
                  <a:pt x="2076584" y="50761"/>
                  <a:pt x="2194901" y="0"/>
                </a:cubicBezTo>
                <a:cubicBezTo>
                  <a:pt x="2203395" y="180338"/>
                  <a:pt x="2181289" y="276118"/>
                  <a:pt x="2194901" y="385747"/>
                </a:cubicBezTo>
                <a:cubicBezTo>
                  <a:pt x="2208513" y="495376"/>
                  <a:pt x="2166977" y="709617"/>
                  <a:pt x="2194901" y="820737"/>
                </a:cubicBezTo>
                <a:cubicBezTo>
                  <a:pt x="2222825" y="931857"/>
                  <a:pt x="2166311" y="1089311"/>
                  <a:pt x="2194901" y="1231106"/>
                </a:cubicBezTo>
                <a:cubicBezTo>
                  <a:pt x="1914791" y="1296061"/>
                  <a:pt x="1823412" y="1228448"/>
                  <a:pt x="1624227" y="1231106"/>
                </a:cubicBezTo>
                <a:cubicBezTo>
                  <a:pt x="1425042" y="1233764"/>
                  <a:pt x="1240659" y="1190199"/>
                  <a:pt x="1097451" y="1231106"/>
                </a:cubicBezTo>
                <a:cubicBezTo>
                  <a:pt x="954243" y="1272013"/>
                  <a:pt x="783584" y="1202651"/>
                  <a:pt x="570674" y="1231106"/>
                </a:cubicBezTo>
                <a:cubicBezTo>
                  <a:pt x="357764" y="1259561"/>
                  <a:pt x="179226" y="1184081"/>
                  <a:pt x="0" y="1231106"/>
                </a:cubicBezTo>
                <a:cubicBezTo>
                  <a:pt x="-21328" y="1116490"/>
                  <a:pt x="29287" y="1029879"/>
                  <a:pt x="0" y="845359"/>
                </a:cubicBezTo>
                <a:cubicBezTo>
                  <a:pt x="-29287" y="660839"/>
                  <a:pt x="14014" y="613158"/>
                  <a:pt x="0" y="459613"/>
                </a:cubicBezTo>
                <a:cubicBezTo>
                  <a:pt x="-14014" y="306068"/>
                  <a:pt x="43856" y="111234"/>
                  <a:pt x="0" y="0"/>
                </a:cubicBezTo>
                <a:close/>
              </a:path>
            </a:pathLst>
          </a:custGeom>
          <a:solidFill>
            <a:srgbClr val="C6C7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072999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endParaRPr lang="en-US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</a:rPr>
              <a:t>% RESOLUTION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50%</a:t>
            </a:r>
            <a:endParaRPr lang="en-US" sz="2000" dirty="0">
              <a:solidFill>
                <a:srgbClr val="FF0000"/>
              </a:solidFill>
            </a:endParaRPr>
          </a:p>
          <a:p>
            <a:endParaRPr lang="en-US" sz="1600" dirty="0"/>
          </a:p>
        </p:txBody>
      </p:sp>
      <p:pic>
        <p:nvPicPr>
          <p:cNvPr id="30" name="Graphic 29" descr="Bullseye with solid fill">
            <a:extLst>
              <a:ext uri="{FF2B5EF4-FFF2-40B4-BE49-F238E27FC236}">
                <a16:creationId xmlns:a16="http://schemas.microsoft.com/office/drawing/2014/main" id="{5A3309C7-CD84-759A-9C49-95CFA5344C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95160" y="5655126"/>
            <a:ext cx="730411" cy="7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22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9E4145-FC90-345C-0C77-DEF6E87FD6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C2D222-FEDE-93B6-ED96-F2DB72E88524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CA3E8244-C3BF-0BE2-E530-70F99950FA95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C9B23C-5509-D451-26D9-0298B49B692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21ACA53E-13CC-CECC-71B3-B6A672158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Freeform: Shape 6">
            <a:hlinkClick r:id="rId13" action="ppaction://hlinksldjump"/>
            <a:extLst>
              <a:ext uri="{FF2B5EF4-FFF2-40B4-BE49-F238E27FC236}">
                <a16:creationId xmlns:a16="http://schemas.microsoft.com/office/drawing/2014/main" id="{D67E1575-6F22-D48C-767D-CB196CC133E0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8CDD59-BFCF-3281-B701-4EAB86EEEB38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6F90BB0-8C5E-C5C9-8A3B-36DFA49ECAD4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88BE79-98FE-EC18-6213-28C8EA3C0368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AE13D-D5ED-929D-94F9-4217B83D37FA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64D334-D06B-6503-1DF9-78344E5976E2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5D5789-104A-593E-D24E-A6C043A847EE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9E625BF-5B68-5C22-DEEF-F99300F202B9}"/>
              </a:ext>
            </a:extLst>
          </p:cNvPr>
          <p:cNvGraphicFramePr>
            <a:graphicFrameLocks noGrp="1"/>
          </p:cNvGraphicFramePr>
          <p:nvPr/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PCA Termination Resolution of Pending PCA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New KPI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45402B-47B6-0437-CAF3-48FB24E02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794672"/>
              </p:ext>
            </p:extLst>
          </p:nvPr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Deprioritized to execute revenue work orders due to workload issues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7901AFA-D948-43B9-9735-53985D978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346828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Prioritization of WOs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066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Completion of Ageing PCAs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F6E63AF-6920-C76D-8469-3DA0CCB16AC8}"/>
              </a:ext>
            </a:extLst>
          </p:cNvPr>
          <p:cNvGrpSpPr/>
          <p:nvPr/>
        </p:nvGrpSpPr>
        <p:grpSpPr>
          <a:xfrm>
            <a:off x="381759" y="1374247"/>
            <a:ext cx="4927180" cy="1001760"/>
            <a:chOff x="228598" y="1434544"/>
            <a:chExt cx="4927180" cy="10017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64A913-C01C-B127-A6DE-C01B58D4C63C}"/>
                </a:ext>
              </a:extLst>
            </p:cNvPr>
            <p:cNvGrpSpPr/>
            <p:nvPr/>
          </p:nvGrpSpPr>
          <p:grpSpPr>
            <a:xfrm>
              <a:off x="228598" y="1434544"/>
              <a:ext cx="4927180" cy="1001760"/>
              <a:chOff x="228599" y="1434543"/>
              <a:chExt cx="2095244" cy="1070606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0497FAF6-086D-142D-F537-E41F32E411BA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095243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81CB25C-1E33-AE60-5026-7D015DCD2DD8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DD49D852-F061-71D5-6CD6-F798C40FFE55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A22C29-07BD-875B-905A-3FEAC9FF84FB}"/>
              </a:ext>
            </a:extLst>
          </p:cNvPr>
          <p:cNvGrpSpPr/>
          <p:nvPr/>
        </p:nvGrpSpPr>
        <p:grpSpPr>
          <a:xfrm>
            <a:off x="381760" y="829486"/>
            <a:ext cx="3761615" cy="461665"/>
            <a:chOff x="228599" y="829486"/>
            <a:chExt cx="3761615" cy="46166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166523A-7544-8FED-0ADE-512B80DE26CD}"/>
                </a:ext>
              </a:extLst>
            </p:cNvPr>
            <p:cNvSpPr/>
            <p:nvPr/>
          </p:nvSpPr>
          <p:spPr>
            <a:xfrm>
              <a:off x="228599" y="829486"/>
              <a:ext cx="3761615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09E70B22-B58C-29FC-740F-20FD2EA29FB4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32EC9F-C81C-446A-972F-8C3D68835572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A367D-0924-33C8-5C70-963F6EBACADE}"/>
              </a:ext>
            </a:extLst>
          </p:cNvPr>
          <p:cNvSpPr txBox="1"/>
          <p:nvPr/>
        </p:nvSpPr>
        <p:spPr>
          <a:xfrm>
            <a:off x="1147434" y="878811"/>
            <a:ext cx="2995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Completion of Ageing PCAs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6A18B5-0FE8-75F2-6C54-D9F30600DA31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452B1-E8B8-0CA7-69FC-C8F6AFA07EF9}"/>
              </a:ext>
            </a:extLst>
          </p:cNvPr>
          <p:cNvSpPr txBox="1"/>
          <p:nvPr/>
        </p:nvSpPr>
        <p:spPr>
          <a:xfrm>
            <a:off x="2041502" y="1653204"/>
            <a:ext cx="3267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Construction 1, Underground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5B4CE-5B14-C0C8-EB46-1C86DD8E294F}"/>
              </a:ext>
            </a:extLst>
          </p:cNvPr>
          <p:cNvSpPr txBox="1"/>
          <p:nvPr/>
        </p:nvSpPr>
        <p:spPr>
          <a:xfrm>
            <a:off x="417172" y="1516072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0F5BB8-2540-D5F9-157D-7835BEBBB48A}"/>
              </a:ext>
            </a:extLst>
          </p:cNvPr>
          <p:cNvSpPr txBox="1"/>
          <p:nvPr/>
        </p:nvSpPr>
        <p:spPr>
          <a:xfrm>
            <a:off x="416843" y="4945077"/>
            <a:ext cx="1192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Formula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2FB3B3A-54A5-1285-BCB0-F251D9C92929}"/>
              </a:ext>
            </a:extLst>
          </p:cNvPr>
          <p:cNvGrpSpPr/>
          <p:nvPr/>
        </p:nvGrpSpPr>
        <p:grpSpPr>
          <a:xfrm>
            <a:off x="381758" y="2477908"/>
            <a:ext cx="11436929" cy="3717359"/>
            <a:chOff x="228599" y="1434543"/>
            <a:chExt cx="2575561" cy="111250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928E8F22-3CAA-2F71-2BBB-7BAF2005EB66}"/>
                </a:ext>
              </a:extLst>
            </p:cNvPr>
            <p:cNvSpPr/>
            <p:nvPr/>
          </p:nvSpPr>
          <p:spPr>
            <a:xfrm>
              <a:off x="228600" y="1434543"/>
              <a:ext cx="2575560" cy="1112502"/>
            </a:xfrm>
            <a:prstGeom prst="roundRect">
              <a:avLst>
                <a:gd name="adj" fmla="val 5979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D2B63E7-BD30-FDA4-C234-2AA7347425D0}"/>
                </a:ext>
              </a:extLst>
            </p:cNvPr>
            <p:cNvSpPr/>
            <p:nvPr/>
          </p:nvSpPr>
          <p:spPr>
            <a:xfrm>
              <a:off x="228599" y="1434543"/>
              <a:ext cx="239149" cy="138163"/>
            </a:xfrm>
            <a:prstGeom prst="roundRect">
              <a:avLst>
                <a:gd name="adj" fmla="val 32422"/>
              </a:avLst>
            </a:prstGeom>
            <a:solidFill>
              <a:srgbClr val="F79151"/>
            </a:solidFill>
            <a:ln w="19050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D1C6D23F-ADA1-7A07-DAA8-11699953F2BA}"/>
              </a:ext>
            </a:extLst>
          </p:cNvPr>
          <p:cNvSpPr/>
          <p:nvPr/>
        </p:nvSpPr>
        <p:spPr>
          <a:xfrm rot="10800000">
            <a:off x="698167" y="2477903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33CABA9A-E5CC-E68F-C545-0FE4F650451C}"/>
              </a:ext>
            </a:extLst>
          </p:cNvPr>
          <p:cNvSpPr/>
          <p:nvPr/>
        </p:nvSpPr>
        <p:spPr>
          <a:xfrm>
            <a:off x="373313" y="2477904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82D205-7267-2AE5-788E-B13172B8BA86}"/>
              </a:ext>
            </a:extLst>
          </p:cNvPr>
          <p:cNvSpPr txBox="1"/>
          <p:nvPr/>
        </p:nvSpPr>
        <p:spPr>
          <a:xfrm>
            <a:off x="417172" y="2512101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304605-DE28-A1FC-CD41-22C9383911C1}"/>
              </a:ext>
            </a:extLst>
          </p:cNvPr>
          <p:cNvSpPr txBox="1"/>
          <p:nvPr/>
        </p:nvSpPr>
        <p:spPr>
          <a:xfrm>
            <a:off x="655869" y="2968715"/>
            <a:ext cx="5440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work orders with Customer Connection work type and installation subtype based on PCA Application types: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2FAFA18-1A0D-F70C-448D-EDF66345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73" y="4003390"/>
            <a:ext cx="4172971" cy="177864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C218F3-3A14-24FB-391B-01B541954438}"/>
              </a:ext>
            </a:extLst>
          </p:cNvPr>
          <p:cNvGrpSpPr/>
          <p:nvPr/>
        </p:nvGrpSpPr>
        <p:grpSpPr>
          <a:xfrm>
            <a:off x="6244435" y="4418137"/>
            <a:ext cx="5243241" cy="807044"/>
            <a:chOff x="746086" y="5367389"/>
            <a:chExt cx="5243241" cy="80704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B6DE5D9-E4D7-AAF2-22DE-4B0E47571635}"/>
                </a:ext>
              </a:extLst>
            </p:cNvPr>
            <p:cNvSpPr txBox="1"/>
            <p:nvPr/>
          </p:nvSpPr>
          <p:spPr>
            <a:xfrm>
              <a:off x="746086" y="5367389"/>
              <a:ext cx="39968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%</a:t>
              </a:r>
              <a:r>
                <a:rPr lang="en-US" sz="2000" dirty="0">
                  <a:latin typeface="Segoe UI" panose="020B0502040204020203" pitchFamily="34" charset="0"/>
                  <a:cs typeface="Segoe UI" panose="020B0502040204020203" pitchFamily="34" charset="0"/>
                </a:rPr>
                <a:t> = 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Count of </a:t>
              </a:r>
              <a:r>
                <a:rPr lang="en-US" dirty="0" err="1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FCOMPed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 Ageing PCA</a:t>
              </a: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FE5D21C-9717-149D-D993-650E0BE5EB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089" y="5772074"/>
              <a:ext cx="3420369" cy="3302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4B422B4-13F5-C46E-3167-F407C4E70106}"/>
                </a:ext>
              </a:extLst>
            </p:cNvPr>
            <p:cNvSpPr txBox="1"/>
            <p:nvPr/>
          </p:nvSpPr>
          <p:spPr>
            <a:xfrm>
              <a:off x="1252089" y="5805101"/>
              <a:ext cx="3205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Total Ageing PCA Count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B97276-8695-7B8D-F6A0-319FB21948BD}"/>
                </a:ext>
              </a:extLst>
            </p:cNvPr>
            <p:cNvSpPr txBox="1"/>
            <p:nvPr/>
          </p:nvSpPr>
          <p:spPr>
            <a:xfrm>
              <a:off x="4143375" y="5585920"/>
              <a:ext cx="18459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 x 100%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5D96B2-C2D4-0EE5-F5E0-359F871EA99A}"/>
              </a:ext>
            </a:extLst>
          </p:cNvPr>
          <p:cNvSpPr txBox="1"/>
          <p:nvPr/>
        </p:nvSpPr>
        <p:spPr>
          <a:xfrm>
            <a:off x="6104449" y="3003622"/>
            <a:ext cx="4964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WMTRL prior January 1,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Not yet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FCOMPed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beyond SPT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</p:spTree>
    <p:extLst>
      <p:ext uri="{BB962C8B-B14F-4D97-AF65-F5344CB8AC3E}">
        <p14:creationId xmlns:p14="http://schemas.microsoft.com/office/powerpoint/2010/main" val="182064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Modification APT</a:t>
            </a:r>
            <a:r>
              <a:rPr lang="en-US" sz="2800">
                <a:latin typeface="Bahnschrift SemiBold" panose="020B05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Segoe UI Semibold" panose="020B0702040204020203" pitchFamily="34" charset="0"/>
              </a:rPr>
              <a:t>(IMOVE)</a:t>
            </a:r>
            <a:endParaRPr lang="en-US" sz="400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FCCE3D-72CE-E2DA-9C28-284590E9EF18}"/>
              </a:ext>
            </a:extLst>
          </p:cNvPr>
          <p:cNvGrpSpPr/>
          <p:nvPr/>
        </p:nvGrpSpPr>
        <p:grpSpPr>
          <a:xfrm>
            <a:off x="1430139" y="5179818"/>
            <a:ext cx="9331722" cy="738664"/>
            <a:chOff x="1430108" y="5289391"/>
            <a:chExt cx="9331722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F16676-39E1-7C13-C2A7-760E34D993C2}"/>
                </a:ext>
              </a:extLst>
            </p:cNvPr>
            <p:cNvSpPr txBox="1"/>
            <p:nvPr/>
          </p:nvSpPr>
          <p:spPr>
            <a:xfrm>
              <a:off x="1430108" y="5289391"/>
              <a:ext cx="93317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59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APT</a:t>
              </a:r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2000" dirty="0">
                  <a:latin typeface="Segoe UI" panose="020B0502040204020203" pitchFamily="34" charset="0"/>
                  <a:cs typeface="Segoe UI" panose="020B0502040204020203" pitchFamily="34" charset="0"/>
                </a:rPr>
                <a:t>= 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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[</a:t>
              </a:r>
              <a:r>
                <a:rPr lang="en-US" sz="1600" dirty="0"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Latest FCOMP - Earliest WMTRL + Transfer of Days from Other Milestones – Excluded Days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]</a:t>
              </a: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C00DB0-B23F-E487-1020-12EAA2492FF9}"/>
                </a:ext>
              </a:extLst>
            </p:cNvPr>
            <p:cNvCxnSpPr>
              <a:cxnSpLocks/>
            </p:cNvCxnSpPr>
            <p:nvPr/>
          </p:nvCxnSpPr>
          <p:spPr>
            <a:xfrm>
              <a:off x="2213143" y="5696018"/>
              <a:ext cx="83701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3FC4E2-16F1-2C8C-ECEF-079CA1FD6A2D}"/>
                </a:ext>
              </a:extLst>
            </p:cNvPr>
            <p:cNvSpPr txBox="1"/>
            <p:nvPr/>
          </p:nvSpPr>
          <p:spPr>
            <a:xfrm>
              <a:off x="3900740" y="5689501"/>
              <a:ext cx="49949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Total Project Count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3823D73-B713-C5A6-6FE2-E8BA461305CF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CCE147-5D2D-980F-33C3-FC0D36053324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CF6A2EA-31F9-D9C3-E1F4-EFB0BAAE508E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CB23B3B-DE8A-9F4D-259C-11D646A10833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9EA0C06-3CE9-4C5D-D12B-314503FF7C97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E0CDEC-0351-C274-6499-D26BF70A09E0}"/>
              </a:ext>
            </a:extLst>
          </p:cNvPr>
          <p:cNvGrpSpPr/>
          <p:nvPr/>
        </p:nvGrpSpPr>
        <p:grpSpPr>
          <a:xfrm>
            <a:off x="381761" y="829486"/>
            <a:ext cx="3252980" cy="461665"/>
            <a:chOff x="228600" y="829486"/>
            <a:chExt cx="3252980" cy="46166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3306D3-1C06-965C-AA43-D2AB7FB07BB6}"/>
                </a:ext>
              </a:extLst>
            </p:cNvPr>
            <p:cNvSpPr/>
            <p:nvPr/>
          </p:nvSpPr>
          <p:spPr>
            <a:xfrm>
              <a:off x="228600" y="829486"/>
              <a:ext cx="3252980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BB4B201C-6C10-2091-73C4-67306787CB1B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D6F205-62A7-4BB7-517B-5DD3235107C7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25B7CF-62B2-0840-3002-F44B3B232718}"/>
              </a:ext>
            </a:extLst>
          </p:cNvPr>
          <p:cNvSpPr txBox="1"/>
          <p:nvPr/>
        </p:nvSpPr>
        <p:spPr>
          <a:xfrm>
            <a:off x="1147435" y="878811"/>
            <a:ext cx="2487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PCA Modification APT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D5912-B4CE-EE6E-FDE5-7F75110D4150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84F33B-E6F0-6C2C-0F91-A379BB714E81}"/>
              </a:ext>
            </a:extLst>
          </p:cNvPr>
          <p:cNvSpPr txBox="1"/>
          <p:nvPr/>
        </p:nvSpPr>
        <p:spPr>
          <a:xfrm>
            <a:off x="2041502" y="1613519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DS OL3, Construction 1, Underground, Scheduler</a:t>
            </a:r>
            <a:endParaRPr lang="en-US" sz="1800"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59BC1-8405-B899-A77D-DF5F78191FE4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00A04C-0A2D-B22B-B52D-9F2910E965E2}"/>
              </a:ext>
            </a:extLst>
          </p:cNvPr>
          <p:cNvGrpSpPr/>
          <p:nvPr/>
        </p:nvGrpSpPr>
        <p:grpSpPr>
          <a:xfrm>
            <a:off x="381696" y="2512903"/>
            <a:ext cx="11436929" cy="3699211"/>
            <a:chOff x="228599" y="1434543"/>
            <a:chExt cx="2575561" cy="1107071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9AFAA11-582F-D346-748F-412C91939CE5}"/>
                </a:ext>
              </a:extLst>
            </p:cNvPr>
            <p:cNvSpPr/>
            <p:nvPr/>
          </p:nvSpPr>
          <p:spPr>
            <a:xfrm>
              <a:off x="228600" y="1434543"/>
              <a:ext cx="2575560" cy="1107071"/>
            </a:xfrm>
            <a:prstGeom prst="roundRect">
              <a:avLst>
                <a:gd name="adj" fmla="val 5979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A868FFF-5AE8-CAD8-DF72-CCCEBD51E99A}"/>
                </a:ext>
              </a:extLst>
            </p:cNvPr>
            <p:cNvSpPr/>
            <p:nvPr/>
          </p:nvSpPr>
          <p:spPr>
            <a:xfrm>
              <a:off x="228599" y="1434543"/>
              <a:ext cx="239149" cy="138163"/>
            </a:xfrm>
            <a:prstGeom prst="roundRect">
              <a:avLst>
                <a:gd name="adj" fmla="val 32422"/>
              </a:avLst>
            </a:prstGeom>
            <a:solidFill>
              <a:srgbClr val="F79151"/>
            </a:solidFill>
            <a:ln w="19050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7F91A617-0CEC-6089-0AC3-53B222529D1B}"/>
              </a:ext>
            </a:extLst>
          </p:cNvPr>
          <p:cNvSpPr/>
          <p:nvPr/>
        </p:nvSpPr>
        <p:spPr>
          <a:xfrm rot="10800000">
            <a:off x="698105" y="2512899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01834D34-531F-024A-A481-03D428A482CC}"/>
              </a:ext>
            </a:extLst>
          </p:cNvPr>
          <p:cNvSpPr/>
          <p:nvPr/>
        </p:nvSpPr>
        <p:spPr>
          <a:xfrm>
            <a:off x="373251" y="2512900"/>
            <a:ext cx="745547" cy="461663"/>
          </a:xfrm>
          <a:prstGeom prst="round2SameRect">
            <a:avLst>
              <a:gd name="adj1" fmla="val 33172"/>
              <a:gd name="adj2" fmla="val 0"/>
            </a:avLst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D22E1E-2132-F265-3241-1EBA1A2F5643}"/>
              </a:ext>
            </a:extLst>
          </p:cNvPr>
          <p:cNvSpPr txBox="1"/>
          <p:nvPr/>
        </p:nvSpPr>
        <p:spPr>
          <a:xfrm>
            <a:off x="417172" y="2526952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55B3FB-9856-D26E-A026-1E4966D93609}"/>
              </a:ext>
            </a:extLst>
          </p:cNvPr>
          <p:cNvSpPr txBox="1"/>
          <p:nvPr/>
        </p:nvSpPr>
        <p:spPr>
          <a:xfrm>
            <a:off x="417172" y="3078462"/>
            <a:ext cx="93317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work orders with Customer Connection work type and installation subtype.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2024-2025 created WOs (WAPPR) and routed to FCOMP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Based on PCA Application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Modification of Electric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Relocation/Remodel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Transfer of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</p:spTree>
    <p:extLst>
      <p:ext uri="{BB962C8B-B14F-4D97-AF65-F5344CB8AC3E}">
        <p14:creationId xmlns:p14="http://schemas.microsoft.com/office/powerpoint/2010/main" val="144078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Modification APT</a:t>
            </a:r>
            <a:r>
              <a:rPr lang="en-US" sz="2800">
                <a:latin typeface="Bahnschrift SemiBold" panose="020B05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800">
                <a:solidFill>
                  <a:schemeClr val="accent5">
                    <a:lumMod val="40000"/>
                    <a:lumOff val="60000"/>
                  </a:schemeClr>
                </a:solidFill>
                <a:latin typeface="Bahnschrift Light" panose="020B0502040204020203" pitchFamily="34" charset="0"/>
                <a:cs typeface="Segoe UI Semibold" panose="020B0702040204020203" pitchFamily="34" charset="0"/>
              </a:rPr>
              <a:t>(IMOVE)</a:t>
            </a:r>
            <a:endParaRPr lang="en-US" sz="4000">
              <a:solidFill>
                <a:schemeClr val="accent5">
                  <a:lumMod val="40000"/>
                  <a:lumOff val="60000"/>
                </a:schemeClr>
              </a:solidFill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56867C-E66C-E321-8FB6-B33F077D952C}"/>
              </a:ext>
            </a:extLst>
          </p:cNvPr>
          <p:cNvGrpSpPr/>
          <p:nvPr/>
        </p:nvGrpSpPr>
        <p:grpSpPr>
          <a:xfrm>
            <a:off x="1408866" y="4661522"/>
            <a:ext cx="9331722" cy="738664"/>
            <a:chOff x="1430108" y="5289391"/>
            <a:chExt cx="9331722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F16676-39E1-7C13-C2A7-760E34D993C2}"/>
                </a:ext>
              </a:extLst>
            </p:cNvPr>
            <p:cNvSpPr txBox="1"/>
            <p:nvPr/>
          </p:nvSpPr>
          <p:spPr>
            <a:xfrm>
              <a:off x="1430108" y="5289391"/>
              <a:ext cx="93317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>
                  <a:solidFill>
                    <a:srgbClr val="0059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APT</a:t>
              </a: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2000">
                  <a:latin typeface="Segoe UI" panose="020B0502040204020203" pitchFamily="34" charset="0"/>
                  <a:cs typeface="Segoe UI" panose="020B0502040204020203" pitchFamily="34" charset="0"/>
                </a:rPr>
                <a:t>= </a:t>
              </a: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</a:t>
              </a: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[</a:t>
              </a:r>
              <a:r>
                <a:rPr lang="en-US" sz="1600"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Latest FCOMP - Earliest WMTRL + Transfer of Days from Other Milestones – Excluded Days</a:t>
              </a: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]</a:t>
              </a:r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C00DB0-B23F-E487-1020-12EAA2492FF9}"/>
                </a:ext>
              </a:extLst>
            </p:cNvPr>
            <p:cNvCxnSpPr>
              <a:cxnSpLocks/>
            </p:cNvCxnSpPr>
            <p:nvPr/>
          </p:nvCxnSpPr>
          <p:spPr>
            <a:xfrm>
              <a:off x="2213143" y="5696018"/>
              <a:ext cx="837010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3FC4E2-16F1-2C8C-ECEF-079CA1FD6A2D}"/>
                </a:ext>
              </a:extLst>
            </p:cNvPr>
            <p:cNvSpPr txBox="1"/>
            <p:nvPr/>
          </p:nvSpPr>
          <p:spPr>
            <a:xfrm>
              <a:off x="3900740" y="5689501"/>
              <a:ext cx="49949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Total Project Count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3823D73-B713-C5A6-6FE2-E8BA461305CF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6CCE147-5D2D-980F-33C3-FC0D36053324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CF6A2EA-31F9-D9C3-E1F4-EFB0BAAE508E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CB23B3B-DE8A-9F4D-259C-11D646A10833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9EA0C06-3CE9-4C5D-D12B-314503FF7C97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E0CDEC-0351-C274-6499-D26BF70A09E0}"/>
              </a:ext>
            </a:extLst>
          </p:cNvPr>
          <p:cNvGrpSpPr/>
          <p:nvPr/>
        </p:nvGrpSpPr>
        <p:grpSpPr>
          <a:xfrm>
            <a:off x="381761" y="829486"/>
            <a:ext cx="3252980" cy="461665"/>
            <a:chOff x="228600" y="829486"/>
            <a:chExt cx="3252980" cy="46166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3306D3-1C06-965C-AA43-D2AB7FB07BB6}"/>
                </a:ext>
              </a:extLst>
            </p:cNvPr>
            <p:cNvSpPr/>
            <p:nvPr/>
          </p:nvSpPr>
          <p:spPr>
            <a:xfrm>
              <a:off x="228600" y="829486"/>
              <a:ext cx="3252980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BB4B201C-6C10-2091-73C4-67306787CB1B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D6F205-62A7-4BB7-517B-5DD3235107C7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25B7CF-62B2-0840-3002-F44B3B232718}"/>
              </a:ext>
            </a:extLst>
          </p:cNvPr>
          <p:cNvSpPr txBox="1"/>
          <p:nvPr/>
        </p:nvSpPr>
        <p:spPr>
          <a:xfrm>
            <a:off x="1147435" y="878811"/>
            <a:ext cx="2487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ahnschrift Light" panose="020B0502040204020203" pitchFamily="34" charset="0"/>
                <a:cs typeface="Segoe UI Semibold" panose="020B0702040204020203" pitchFamily="34" charset="0"/>
              </a:rPr>
              <a:t>PCA Retirement APT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D5912-B4CE-EE6E-FDE5-7F75110D4150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84F33B-E6F0-6C2C-0F91-A379BB714E81}"/>
              </a:ext>
            </a:extLst>
          </p:cNvPr>
          <p:cNvSpPr txBox="1"/>
          <p:nvPr/>
        </p:nvSpPr>
        <p:spPr>
          <a:xfrm>
            <a:off x="2041502" y="1613519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DS OL3, Construction 1, Underground, Scheduler</a:t>
            </a:r>
            <a:endParaRPr lang="en-US" sz="1800"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59BC1-8405-B899-A77D-DF5F78191FE4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CD5EED-37E2-8426-9FDA-1BE2D6082661}"/>
              </a:ext>
            </a:extLst>
          </p:cNvPr>
          <p:cNvGrpSpPr/>
          <p:nvPr/>
        </p:nvGrpSpPr>
        <p:grpSpPr>
          <a:xfrm>
            <a:off x="373313" y="2539402"/>
            <a:ext cx="11445374" cy="3730770"/>
            <a:chOff x="220152" y="2643322"/>
            <a:chExt cx="11445374" cy="37307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000A04C-0A2D-B22B-B52D-9F2910E965E2}"/>
                </a:ext>
              </a:extLst>
            </p:cNvPr>
            <p:cNvGrpSpPr/>
            <p:nvPr/>
          </p:nvGrpSpPr>
          <p:grpSpPr>
            <a:xfrm>
              <a:off x="228597" y="2643325"/>
              <a:ext cx="11436929" cy="3730767"/>
              <a:chOff x="228599" y="1434543"/>
              <a:chExt cx="2575561" cy="1116515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9AFAA11-582F-D346-748F-412C91939CE5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116515"/>
              </a:xfrm>
              <a:prstGeom prst="roundRect">
                <a:avLst>
                  <a:gd name="adj" fmla="val 5979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A868FFF-5AE8-CAD8-DF72-CCCEBD51E99A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7F91A617-0CEC-6089-0AC3-53B222529D1B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01834D34-531F-024A-A481-03D428A482CC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AD22E1E-2132-F265-3241-1EBA1A2F5643}"/>
              </a:ext>
            </a:extLst>
          </p:cNvPr>
          <p:cNvSpPr txBox="1"/>
          <p:nvPr/>
        </p:nvSpPr>
        <p:spPr>
          <a:xfrm>
            <a:off x="417172" y="2580563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55B3FB-9856-D26E-A026-1E4966D93609}"/>
              </a:ext>
            </a:extLst>
          </p:cNvPr>
          <p:cNvSpPr txBox="1"/>
          <p:nvPr/>
        </p:nvSpPr>
        <p:spPr>
          <a:xfrm>
            <a:off x="610599" y="3353846"/>
            <a:ext cx="10928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work orders with Customer Connection work type and retirement subtype.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2024-2025 created WOs (WAPPR) and routed to FCOMP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</p:spTree>
    <p:extLst>
      <p:ext uri="{BB962C8B-B14F-4D97-AF65-F5344CB8AC3E}">
        <p14:creationId xmlns:p14="http://schemas.microsoft.com/office/powerpoint/2010/main" val="2623367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PCA Termination Resolution of Pending PCA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A714F0-656F-1AFE-4F99-2D3057334F2D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E57781E-E89D-FC98-B33F-824E6ABBA9BA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57D72C3-864E-DC7F-1696-BC6830A949D8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97D94F3-5C16-4DF4-6CAA-521A5C665C4A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BDAA06A9-5D45-D820-79D6-86B7754F684E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49276F-0317-70FE-BBF5-BE3D21222D87}"/>
              </a:ext>
            </a:extLst>
          </p:cNvPr>
          <p:cNvGrpSpPr/>
          <p:nvPr/>
        </p:nvGrpSpPr>
        <p:grpSpPr>
          <a:xfrm>
            <a:off x="381760" y="829486"/>
            <a:ext cx="5458969" cy="461665"/>
            <a:chOff x="228599" y="829486"/>
            <a:chExt cx="5458969" cy="46166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00A274A-0B2A-08D9-EB3A-977DFEFBB31B}"/>
                </a:ext>
              </a:extLst>
            </p:cNvPr>
            <p:cNvSpPr/>
            <p:nvPr/>
          </p:nvSpPr>
          <p:spPr>
            <a:xfrm>
              <a:off x="228599" y="829486"/>
              <a:ext cx="5458969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EACAEA81-61D9-30DA-A8DF-6D68E0FD784F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735A00-8EFA-D417-5AEC-52735ADD3F0D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B8CDD-86E6-A0D6-391A-B22D12098DEE}"/>
              </a:ext>
            </a:extLst>
          </p:cNvPr>
          <p:cNvSpPr txBox="1"/>
          <p:nvPr/>
        </p:nvSpPr>
        <p:spPr>
          <a:xfrm>
            <a:off x="1147435" y="878811"/>
            <a:ext cx="5326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PCA Termination Resolution of Pending PCA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8C7442-496F-27BC-B42B-067341299AC0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AB7AC7-98E6-BFE6-7A4B-2A8099418D1C}"/>
              </a:ext>
            </a:extLst>
          </p:cNvPr>
          <p:cNvSpPr txBox="1"/>
          <p:nvPr/>
        </p:nvSpPr>
        <p:spPr>
          <a:xfrm>
            <a:off x="2041502" y="1613519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Construction 1, Underground, Scheduler</a:t>
            </a:r>
            <a:endParaRPr lang="en-US" sz="1800"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81A023-3308-2941-EF1E-CFFF2D4AADAF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CB11533-C7B1-1DC8-787B-D32F14F362F9}"/>
              </a:ext>
            </a:extLst>
          </p:cNvPr>
          <p:cNvGrpSpPr/>
          <p:nvPr/>
        </p:nvGrpSpPr>
        <p:grpSpPr>
          <a:xfrm>
            <a:off x="373313" y="2578129"/>
            <a:ext cx="11445374" cy="3684269"/>
            <a:chOff x="220152" y="2643322"/>
            <a:chExt cx="11445374" cy="368426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DAEE74-2644-A8E4-ACF1-2F0780B9625F}"/>
                </a:ext>
              </a:extLst>
            </p:cNvPr>
            <p:cNvGrpSpPr/>
            <p:nvPr/>
          </p:nvGrpSpPr>
          <p:grpSpPr>
            <a:xfrm>
              <a:off x="228597" y="2643328"/>
              <a:ext cx="11436929" cy="3684263"/>
              <a:chOff x="228599" y="1434543"/>
              <a:chExt cx="2575561" cy="110259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AF771C8-E2AB-460F-FA58-D8C0A49FF3AD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102597"/>
              </a:xfrm>
              <a:prstGeom prst="roundRect">
                <a:avLst>
                  <a:gd name="adj" fmla="val 5979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DF668977-D6EE-13EB-C28F-0907B2EC2178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A6C482FC-5E59-F6F8-6A82-56C494374FFA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Top Corners Rounded 38">
              <a:extLst>
                <a:ext uri="{FF2B5EF4-FFF2-40B4-BE49-F238E27FC236}">
                  <a16:creationId xmlns:a16="http://schemas.microsoft.com/office/drawing/2014/main" id="{AB607242-42B1-F12D-072C-2DAA1E5779BC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18396EC-C42E-9084-84D1-FC9A69E450FC}"/>
              </a:ext>
            </a:extLst>
          </p:cNvPr>
          <p:cNvSpPr txBox="1"/>
          <p:nvPr/>
        </p:nvSpPr>
        <p:spPr>
          <a:xfrm>
            <a:off x="417172" y="2564530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4AA5F9-E0BF-914A-9452-BF819C246B32}"/>
              </a:ext>
            </a:extLst>
          </p:cNvPr>
          <p:cNvSpPr txBox="1"/>
          <p:nvPr/>
        </p:nvSpPr>
        <p:spPr>
          <a:xfrm>
            <a:off x="1479124" y="3159051"/>
            <a:ext cx="9827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 work orders with Customer Connection work type and retirement subtype.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2023 and prior WAPPR Year pending WOs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Pending Status = WMTRL, APPR, INPRG, SCHED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A5DC18-C6D8-3127-93F0-D5F03B23207D}"/>
              </a:ext>
            </a:extLst>
          </p:cNvPr>
          <p:cNvGrpSpPr/>
          <p:nvPr/>
        </p:nvGrpSpPr>
        <p:grpSpPr>
          <a:xfrm>
            <a:off x="3321644" y="4677665"/>
            <a:ext cx="5038169" cy="807044"/>
            <a:chOff x="3469222" y="5214216"/>
            <a:chExt cx="5038169" cy="80704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3E4D0E-B67E-AF33-D294-51F45AE038D4}"/>
                </a:ext>
              </a:extLst>
            </p:cNvPr>
            <p:cNvSpPr txBox="1"/>
            <p:nvPr/>
          </p:nvSpPr>
          <p:spPr>
            <a:xfrm>
              <a:off x="3469222" y="5214216"/>
              <a:ext cx="39968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%</a:t>
              </a:r>
              <a:r>
                <a:rPr lang="en-US" sz="2000" dirty="0">
                  <a:latin typeface="Segoe UI" panose="020B0502040204020203" pitchFamily="34" charset="0"/>
                  <a:cs typeface="Segoe UI" panose="020B0502040204020203" pitchFamily="34" charset="0"/>
                </a:rPr>
                <a:t> = 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Count of </a:t>
              </a:r>
              <a:r>
                <a:rPr lang="en-US" dirty="0" err="1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FCOMPed</a:t>
              </a:r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 Ageing PCA</a:t>
              </a:r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587B508-CFA1-891C-1FF3-2E5958C60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7133" y="5618901"/>
              <a:ext cx="34203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75D1B2-0680-DEF7-0C95-8F6093B6D704}"/>
                </a:ext>
              </a:extLst>
            </p:cNvPr>
            <p:cNvSpPr txBox="1"/>
            <p:nvPr/>
          </p:nvSpPr>
          <p:spPr>
            <a:xfrm>
              <a:off x="4044796" y="5651928"/>
              <a:ext cx="3205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Total Ageing PCA Count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207EEE-66A6-3396-AEEA-1DA9066BDEED}"/>
                </a:ext>
              </a:extLst>
            </p:cNvPr>
            <p:cNvSpPr txBox="1"/>
            <p:nvPr/>
          </p:nvSpPr>
          <p:spPr>
            <a:xfrm>
              <a:off x="7441697" y="5432747"/>
              <a:ext cx="1065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 x 100%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36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E52ED2A-3D36-7477-6D44-90FB0B4B3EA7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83407E85-F8D1-49C2-784E-027191A2B106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6C85B1-E572-6B44-6390-59821C227DE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F03FF27-8EBB-B7DF-5C4F-65533E6366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A971551-42AF-CA19-8C10-A36096F88D5A}"/>
              </a:ext>
            </a:extLst>
          </p:cNvPr>
          <p:cNvSpPr txBox="1"/>
          <p:nvPr/>
        </p:nvSpPr>
        <p:spPr>
          <a:xfrm>
            <a:off x="8771508" y="3235506"/>
            <a:ext cx="2670223" cy="2099456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wrap="square" rtlCol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Scope:</a:t>
            </a:r>
            <a:r>
              <a:rPr lang="en-US" sz="1400" b="1" baseline="0"/>
              <a:t> </a:t>
            </a:r>
          </a:p>
          <a:p>
            <a:pPr marL="285750" indent="-285750">
              <a:buFontTx/>
              <a:buChar char="-"/>
            </a:pPr>
            <a:r>
              <a:rPr lang="en-US" sz="1400"/>
              <a:t>FCOMP Date and COMP Date are in the current year</a:t>
            </a:r>
          </a:p>
          <a:p>
            <a:pPr marL="285750" indent="-285750">
              <a:buFontTx/>
              <a:buChar char="-"/>
            </a:pPr>
            <a:r>
              <a:rPr lang="en-US" sz="1400"/>
              <a:t>FCOMP Date is in the current year, not yet COMP and is already beyond the SPT (60 days)</a:t>
            </a:r>
          </a:p>
          <a:p>
            <a:pPr marL="285750" indent="-285750">
              <a:buFontTx/>
              <a:buChar char="-"/>
            </a:pPr>
            <a:endParaRPr lang="en-US" sz="1400"/>
          </a:p>
          <a:p>
            <a:r>
              <a:rPr lang="en-US" sz="1400" b="1"/>
              <a:t>Category: </a:t>
            </a:r>
            <a:r>
              <a:rPr lang="en-US" sz="1400"/>
              <a:t>NEW (CC-type)</a:t>
            </a:r>
          </a:p>
        </p:txBody>
      </p:sp>
      <p:pic>
        <p:nvPicPr>
          <p:cNvPr id="8" name="Graphic 19" descr="Lightbulb with solid fill">
            <a:extLst>
              <a:ext uri="{FF2B5EF4-FFF2-40B4-BE49-F238E27FC236}">
                <a16:creationId xmlns:a16="http://schemas.microsoft.com/office/drawing/2014/main" id="{1C406ABF-A66B-42B8-A401-C6AEE68A58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45904" y="2600625"/>
            <a:ext cx="949944" cy="9144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C00F00-EC08-9159-8E8C-B93BD31F7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59994"/>
              </p:ext>
            </p:extLst>
          </p:nvPr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Project Resolution Duration Index (PRDI)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sp>
        <p:nvSpPr>
          <p:cNvPr id="9" name="Freeform: Shape 8">
            <a:hlinkClick r:id="rId15" action="ppaction://hlinksldjump"/>
            <a:extLst>
              <a:ext uri="{FF2B5EF4-FFF2-40B4-BE49-F238E27FC236}">
                <a16:creationId xmlns:a16="http://schemas.microsoft.com/office/drawing/2014/main" id="{CBEDF224-AA00-E76A-083C-0C3AB6EF8A3F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5CB778-4820-0F06-88CB-EA324A36683F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773A20-07CB-0F52-3FCA-D09584B14F6A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FE495D-2F6A-6B60-3BC5-811411942AB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9BE6781-55D6-2CF7-7757-BC62595FC9FE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320301E-AE2D-9564-01EA-DEF1DF797FED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0D5AC55-BFA2-840A-CD18-2656472A9047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CEF7934-55B2-EAA0-1682-C8235507B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81794"/>
              </p:ext>
            </p:extLst>
          </p:nvPr>
        </p:nvGraphicFramePr>
        <p:xfrm>
          <a:off x="3170696" y="2223591"/>
          <a:ext cx="5194301" cy="3711881"/>
        </p:xfrm>
        <a:graphic>
          <a:graphicData uri="http://schemas.openxmlformats.org/drawingml/2006/table">
            <a:tbl>
              <a:tblPr/>
              <a:tblGrid>
                <a:gridCol w="1458293">
                  <a:extLst>
                    <a:ext uri="{9D8B030D-6E8A-4147-A177-3AD203B41FA5}">
                      <a16:colId xmlns:a16="http://schemas.microsoft.com/office/drawing/2014/main" val="3595187935"/>
                    </a:ext>
                  </a:extLst>
                </a:gridCol>
                <a:gridCol w="1236077">
                  <a:extLst>
                    <a:ext uri="{9D8B030D-6E8A-4147-A177-3AD203B41FA5}">
                      <a16:colId xmlns:a16="http://schemas.microsoft.com/office/drawing/2014/main" val="329564299"/>
                    </a:ext>
                  </a:extLst>
                </a:gridCol>
                <a:gridCol w="1263854">
                  <a:extLst>
                    <a:ext uri="{9D8B030D-6E8A-4147-A177-3AD203B41FA5}">
                      <a16:colId xmlns:a16="http://schemas.microsoft.com/office/drawing/2014/main" val="1212273356"/>
                    </a:ext>
                  </a:extLst>
                </a:gridCol>
                <a:gridCol w="1236077">
                  <a:extLst>
                    <a:ext uri="{9D8B030D-6E8A-4147-A177-3AD203B41FA5}">
                      <a16:colId xmlns:a16="http://schemas.microsoft.com/office/drawing/2014/main" val="3460659022"/>
                    </a:ext>
                  </a:extLst>
                </a:gridCol>
              </a:tblGrid>
              <a:tr h="2766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144765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PRDI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1" u="none" strike="noStrike">
                          <a:solidFill>
                            <a:srgbClr val="4472C4"/>
                          </a:solidFill>
                          <a:effectLst/>
                          <a:latin typeface="Calibri" panose="020F0502020204030204" pitchFamily="34" charset="0"/>
                        </a:rPr>
                        <a:t>&lt;--- WO COUNT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82112"/>
                  </a:ext>
                </a:extLst>
              </a:tr>
              <a:tr h="7762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PRDI 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(not yet COMP, 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beyond SPT)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PRDI</a:t>
                      </a:r>
                      <a:b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(COMP)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 WORK ORDERS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946543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AVECO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1.91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1.40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012073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CHALLENGER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2.12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1.50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119828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2.01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437202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POWERHOUSE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2.14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1.61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890851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1.89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1.35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627838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2.20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1.40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586553"/>
                  </a:ext>
                </a:extLst>
              </a:tr>
              <a:tr h="25876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1.58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0.77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272699"/>
                  </a:ext>
                </a:extLst>
              </a:tr>
              <a:tr h="2587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2.01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1.44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571382"/>
                  </a:ext>
                </a:extLst>
              </a:tr>
              <a:tr h="33014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        1.93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316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40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E52ED2A-3D36-7477-6D44-90FB0B4B3EA7}"/>
              </a:ext>
            </a:extLst>
          </p:cNvPr>
          <p:cNvGrpSpPr/>
          <p:nvPr/>
        </p:nvGrpSpPr>
        <p:grpSpPr>
          <a:xfrm>
            <a:off x="802223" y="1029385"/>
            <a:ext cx="2024603" cy="1289015"/>
            <a:chOff x="11978068" y="403669"/>
            <a:chExt cx="1650562" cy="1645921"/>
          </a:xfrm>
        </p:grpSpPr>
        <p:sp>
          <p:nvSpPr>
            <p:cNvPr id="3" name="Rectangle: Rounded Corners 2">
              <a:hlinkClick r:id="rId10" action="ppaction://hlinksldjump"/>
              <a:extLst>
                <a:ext uri="{FF2B5EF4-FFF2-40B4-BE49-F238E27FC236}">
                  <a16:creationId xmlns:a16="http://schemas.microsoft.com/office/drawing/2014/main" id="{83407E85-F8D1-49C2-784E-027191A2B106}"/>
                </a:ext>
              </a:extLst>
            </p:cNvPr>
            <p:cNvSpPr/>
            <p:nvPr/>
          </p:nvSpPr>
          <p:spPr>
            <a:xfrm>
              <a:off x="11978068" y="403669"/>
              <a:ext cx="1645920" cy="1645921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56C85B1-E572-6B44-6390-59821C227DE9}"/>
                </a:ext>
              </a:extLst>
            </p:cNvPr>
            <p:cNvSpPr txBox="1"/>
            <p:nvPr/>
          </p:nvSpPr>
          <p:spPr>
            <a:xfrm>
              <a:off x="11982710" y="1535535"/>
              <a:ext cx="1645920" cy="392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ENERGY SALES</a:t>
              </a:r>
            </a:p>
          </p:txBody>
        </p:sp>
      </p:grpSp>
      <p:pic>
        <p:nvPicPr>
          <p:cNvPr id="6" name="Graphic 5" descr="Fluorescent Light Bulb with solid fill">
            <a:extLst>
              <a:ext uri="{FF2B5EF4-FFF2-40B4-BE49-F238E27FC236}">
                <a16:creationId xmlns:a16="http://schemas.microsoft.com/office/drawing/2014/main" id="{6F03FF27-8EBB-B7DF-5C4F-65533E6366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64744" y="1052678"/>
            <a:ext cx="914400" cy="9144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C00F00-EC08-9159-8E8C-B93BD31F770D}"/>
              </a:ext>
            </a:extLst>
          </p:cNvPr>
          <p:cNvGraphicFramePr>
            <a:graphicFrameLocks noGrp="1"/>
          </p:cNvGraphicFramePr>
          <p:nvPr/>
        </p:nvGraphicFramePr>
        <p:xfrm>
          <a:off x="3105205" y="1040285"/>
          <a:ext cx="8129099" cy="836650"/>
        </p:xfrm>
        <a:graphic>
          <a:graphicData uri="http://schemas.openxmlformats.org/drawingml/2006/table">
            <a:tbl>
              <a:tblPr/>
              <a:tblGrid>
                <a:gridCol w="2839642">
                  <a:extLst>
                    <a:ext uri="{9D8B030D-6E8A-4147-A177-3AD203B41FA5}">
                      <a16:colId xmlns:a16="http://schemas.microsoft.com/office/drawing/2014/main" val="3448752379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3190166283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641175226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1640171828"/>
                    </a:ext>
                  </a:extLst>
                </a:gridCol>
                <a:gridCol w="670934">
                  <a:extLst>
                    <a:ext uri="{9D8B030D-6E8A-4147-A177-3AD203B41FA5}">
                      <a16:colId xmlns:a16="http://schemas.microsoft.com/office/drawing/2014/main" val="984924228"/>
                    </a:ext>
                  </a:extLst>
                </a:gridCol>
                <a:gridCol w="2605721">
                  <a:extLst>
                    <a:ext uri="{9D8B030D-6E8A-4147-A177-3AD203B41FA5}">
                      <a16:colId xmlns:a16="http://schemas.microsoft.com/office/drawing/2014/main" val="396409410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497453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Project Resolution Duration Index (PRDI)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469578"/>
                  </a:ext>
                </a:extLst>
              </a:tr>
            </a:tbl>
          </a:graphicData>
        </a:graphic>
      </p:graphicFrame>
      <p:sp>
        <p:nvSpPr>
          <p:cNvPr id="9" name="Freeform: Shape 8">
            <a:hlinkClick r:id="rId13" action="ppaction://hlinksldjump"/>
            <a:extLst>
              <a:ext uri="{FF2B5EF4-FFF2-40B4-BE49-F238E27FC236}">
                <a16:creationId xmlns:a16="http://schemas.microsoft.com/office/drawing/2014/main" id="{CBEDF224-AA00-E76A-083C-0C3AB6EF8A3F}"/>
              </a:ext>
            </a:extLst>
          </p:cNvPr>
          <p:cNvSpPr/>
          <p:nvPr/>
        </p:nvSpPr>
        <p:spPr>
          <a:xfrm>
            <a:off x="801813" y="250521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Customer Connection Timeliness Index (CCTI)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5CB778-4820-0F06-88CB-EA324A36683F}"/>
              </a:ext>
            </a:extLst>
          </p:cNvPr>
          <p:cNvSpPr/>
          <p:nvPr/>
        </p:nvSpPr>
        <p:spPr>
          <a:xfrm>
            <a:off x="801813" y="3071984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Conversion Rate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773A20-07CB-0F52-3FCA-D09584B14F6A}"/>
              </a:ext>
            </a:extLst>
          </p:cNvPr>
          <p:cNvSpPr/>
          <p:nvPr/>
        </p:nvSpPr>
        <p:spPr>
          <a:xfrm>
            <a:off x="801813" y="363441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Ageing PCAs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FE495D-2F6A-6B60-3BC5-811411942AB6}"/>
              </a:ext>
            </a:extLst>
          </p:cNvPr>
          <p:cNvSpPr/>
          <p:nvPr/>
        </p:nvSpPr>
        <p:spPr>
          <a:xfrm>
            <a:off x="801813" y="420155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Adherence to approved PAI SAIDI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9BE6781-55D6-2CF7-7757-BC62595FC9FE}"/>
              </a:ext>
            </a:extLst>
          </p:cNvPr>
          <p:cNvSpPr/>
          <p:nvPr/>
        </p:nvSpPr>
        <p:spPr>
          <a:xfrm>
            <a:off x="801813" y="476190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Termination/Modification APT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320301E-AE2D-9564-01EA-DEF1DF797FED}"/>
              </a:ext>
            </a:extLst>
          </p:cNvPr>
          <p:cNvSpPr/>
          <p:nvPr/>
        </p:nvSpPr>
        <p:spPr>
          <a:xfrm>
            <a:off x="801813" y="5882617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Project Resolution Duration Index (PRDI)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0D5AC55-BFA2-840A-CD18-2656472A9047}"/>
              </a:ext>
            </a:extLst>
          </p:cNvPr>
          <p:cNvSpPr/>
          <p:nvPr/>
        </p:nvSpPr>
        <p:spPr>
          <a:xfrm>
            <a:off x="811531" y="5322262"/>
            <a:ext cx="2011680" cy="502920"/>
          </a:xfrm>
          <a:custGeom>
            <a:avLst/>
            <a:gdLst>
              <a:gd name="connsiteX0" fmla="*/ 0 w 1686324"/>
              <a:gd name="connsiteY0" fmla="*/ 56153 h 561525"/>
              <a:gd name="connsiteX1" fmla="*/ 56153 w 1686324"/>
              <a:gd name="connsiteY1" fmla="*/ 0 h 561525"/>
              <a:gd name="connsiteX2" fmla="*/ 1630172 w 1686324"/>
              <a:gd name="connsiteY2" fmla="*/ 0 h 561525"/>
              <a:gd name="connsiteX3" fmla="*/ 1686325 w 1686324"/>
              <a:gd name="connsiteY3" fmla="*/ 56153 h 561525"/>
              <a:gd name="connsiteX4" fmla="*/ 1686324 w 1686324"/>
              <a:gd name="connsiteY4" fmla="*/ 505373 h 561525"/>
              <a:gd name="connsiteX5" fmla="*/ 1630171 w 1686324"/>
              <a:gd name="connsiteY5" fmla="*/ 561526 h 561525"/>
              <a:gd name="connsiteX6" fmla="*/ 56153 w 1686324"/>
              <a:gd name="connsiteY6" fmla="*/ 561525 h 561525"/>
              <a:gd name="connsiteX7" fmla="*/ 0 w 1686324"/>
              <a:gd name="connsiteY7" fmla="*/ 505372 h 561525"/>
              <a:gd name="connsiteX8" fmla="*/ 0 w 1686324"/>
              <a:gd name="connsiteY8" fmla="*/ 56153 h 56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561525">
                <a:moveTo>
                  <a:pt x="0" y="56153"/>
                </a:moveTo>
                <a:cubicBezTo>
                  <a:pt x="0" y="25141"/>
                  <a:pt x="25141" y="0"/>
                  <a:pt x="56153" y="0"/>
                </a:cubicBezTo>
                <a:lnTo>
                  <a:pt x="1630172" y="0"/>
                </a:lnTo>
                <a:cubicBezTo>
                  <a:pt x="1661184" y="0"/>
                  <a:pt x="1686325" y="25141"/>
                  <a:pt x="1686325" y="56153"/>
                </a:cubicBezTo>
                <a:cubicBezTo>
                  <a:pt x="1686325" y="205893"/>
                  <a:pt x="1686324" y="355633"/>
                  <a:pt x="1686324" y="505373"/>
                </a:cubicBezTo>
                <a:cubicBezTo>
                  <a:pt x="1686324" y="536385"/>
                  <a:pt x="1661183" y="561526"/>
                  <a:pt x="1630171" y="561526"/>
                </a:cubicBezTo>
                <a:lnTo>
                  <a:pt x="56153" y="561525"/>
                </a:lnTo>
                <a:cubicBezTo>
                  <a:pt x="25141" y="561525"/>
                  <a:pt x="0" y="536384"/>
                  <a:pt x="0" y="505372"/>
                </a:cubicBezTo>
                <a:lnTo>
                  <a:pt x="0" y="5615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PCA Termination Resolution of Pending PCA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15B21CF-D3F8-CD65-FAF3-50B6FD815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54975"/>
              </p:ext>
            </p:extLst>
          </p:nvPr>
        </p:nvGraphicFramePr>
        <p:xfrm>
          <a:off x="5207675" y="2512054"/>
          <a:ext cx="3945466" cy="1625278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945466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6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Root-cause for Non-attainment:</a:t>
                      </a:r>
                    </a:p>
                    <a:p>
                      <a:pPr algn="ctr" fontAlgn="ctr"/>
                      <a:endParaRPr lang="en-US" sz="1400" b="1" u="sng" strike="noStrike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Quality Inspector are still coping up with the pending and increasing volume of work orders for audit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97E3BC5-88B5-7F86-1E15-393041E08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734392"/>
              </p:ext>
            </p:extLst>
          </p:nvPr>
        </p:nvGraphicFramePr>
        <p:xfrm>
          <a:off x="5207675" y="4557267"/>
          <a:ext cx="3922365" cy="1016455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3922365">
                  <a:extLst>
                    <a:ext uri="{9D8B030D-6E8A-4147-A177-3AD203B41FA5}">
                      <a16:colId xmlns:a16="http://schemas.microsoft.com/office/drawing/2014/main" val="916574567"/>
                    </a:ext>
                  </a:extLst>
                </a:gridCol>
              </a:tblGrid>
              <a:tr h="10164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sng" strike="noStrike" dirty="0">
                          <a:solidFill>
                            <a:schemeClr val="bg1"/>
                          </a:solidFill>
                          <a:effectLst/>
                        </a:rPr>
                        <a:t>Recommended Adjustments (if any):</a:t>
                      </a:r>
                    </a:p>
                    <a:p>
                      <a:pPr algn="ctr" fontAlgn="ctr"/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Distribution of PCA work orders to other teams. Foreman also assist in quality audit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54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83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620849-64F0-4111-8DA8-E10AD55A2B91}"/>
              </a:ext>
            </a:extLst>
          </p:cNvPr>
          <p:cNvSpPr/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>
                <a:latin typeface="Bahnschrift SemiBold" panose="020B0502040204020203" pitchFamily="34" charset="0"/>
                <a:cs typeface="Segoe UI Semibold" panose="020B0702040204020203" pitchFamily="34" charset="0"/>
              </a:rPr>
              <a:t>PRDI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F5D967-D75D-4549-9CA0-73B3D9D92ABB}"/>
              </a:ext>
            </a:extLst>
          </p:cNvPr>
          <p:cNvSpPr/>
          <p:nvPr/>
        </p:nvSpPr>
        <p:spPr>
          <a:xfrm>
            <a:off x="0" y="6619164"/>
            <a:ext cx="12192000" cy="238836"/>
          </a:xfrm>
          <a:prstGeom prst="rect">
            <a:avLst/>
          </a:prstGeom>
          <a:solidFill>
            <a:srgbClr val="00597F"/>
          </a:solidFill>
          <a:ln>
            <a:solidFill>
              <a:srgbClr val="005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20781-D21D-4CCC-97DC-B2865CFFC1DF}"/>
              </a:ext>
            </a:extLst>
          </p:cNvPr>
          <p:cNvSpPr/>
          <p:nvPr/>
        </p:nvSpPr>
        <p:spPr>
          <a:xfrm>
            <a:off x="0" y="6414447"/>
            <a:ext cx="12192000" cy="170597"/>
          </a:xfrm>
          <a:prstGeom prst="rect">
            <a:avLst/>
          </a:prstGeom>
          <a:solidFill>
            <a:srgbClr val="F79151"/>
          </a:solidFill>
          <a:ln>
            <a:solidFill>
              <a:srgbClr val="F791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440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2E4F65-F21B-6CBA-E4DF-22DA1AB8CB37}"/>
              </a:ext>
            </a:extLst>
          </p:cNvPr>
          <p:cNvGrpSpPr/>
          <p:nvPr/>
        </p:nvGrpSpPr>
        <p:grpSpPr>
          <a:xfrm>
            <a:off x="381759" y="1434544"/>
            <a:ext cx="6056695" cy="1001760"/>
            <a:chOff x="228598" y="1434544"/>
            <a:chExt cx="6056695" cy="10017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B1F663-544A-6E29-3369-42FA5776FF21}"/>
                </a:ext>
              </a:extLst>
            </p:cNvPr>
            <p:cNvGrpSpPr/>
            <p:nvPr/>
          </p:nvGrpSpPr>
          <p:grpSpPr>
            <a:xfrm>
              <a:off x="228598" y="1434544"/>
              <a:ext cx="6056695" cy="1001760"/>
              <a:chOff x="228599" y="1434543"/>
              <a:chExt cx="2575561" cy="1070606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DF0AE5A-7F08-BAE8-0A24-2F6258A74389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70606"/>
              </a:xfrm>
              <a:prstGeom prst="roundRect">
                <a:avLst>
                  <a:gd name="adj" fmla="val 17511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98C58A6-4D89-12FB-FC3D-CB54821697DB}"/>
                  </a:ext>
                </a:extLst>
              </p:cNvPr>
              <p:cNvSpPr/>
              <p:nvPr/>
            </p:nvSpPr>
            <p:spPr>
              <a:xfrm>
                <a:off x="228599" y="1434543"/>
                <a:ext cx="655860" cy="1070606"/>
              </a:xfrm>
              <a:prstGeom prst="roundRect">
                <a:avLst>
                  <a:gd name="adj" fmla="val 17138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9B484250-860A-19F1-E1F9-34A1C64866C1}"/>
                </a:ext>
              </a:extLst>
            </p:cNvPr>
            <p:cNvSpPr/>
            <p:nvPr/>
          </p:nvSpPr>
          <p:spPr>
            <a:xfrm rot="10800000">
              <a:off x="1306498" y="1441898"/>
              <a:ext cx="468454" cy="99269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5F7461-9185-11DB-6506-5DC1ACE1BB39}"/>
              </a:ext>
            </a:extLst>
          </p:cNvPr>
          <p:cNvGrpSpPr/>
          <p:nvPr/>
        </p:nvGrpSpPr>
        <p:grpSpPr>
          <a:xfrm>
            <a:off x="381761" y="829486"/>
            <a:ext cx="5127500" cy="461665"/>
            <a:chOff x="228600" y="829486"/>
            <a:chExt cx="512750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9621FED-6B4C-87D0-1DB5-C144ABAAF9AB}"/>
                </a:ext>
              </a:extLst>
            </p:cNvPr>
            <p:cNvSpPr/>
            <p:nvPr/>
          </p:nvSpPr>
          <p:spPr>
            <a:xfrm>
              <a:off x="228600" y="829486"/>
              <a:ext cx="5127500" cy="461665"/>
            </a:xfrm>
            <a:prstGeom prst="roundRect">
              <a:avLst>
                <a:gd name="adj" fmla="val 30322"/>
              </a:avLst>
            </a:prstGeom>
            <a:noFill/>
            <a:ln w="28575"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E40B96FF-B5DB-31BB-62F0-F5011B210C5D}"/>
                </a:ext>
              </a:extLst>
            </p:cNvPr>
            <p:cNvSpPr/>
            <p:nvPr/>
          </p:nvSpPr>
          <p:spPr>
            <a:xfrm rot="10800000">
              <a:off x="553119" y="834894"/>
              <a:ext cx="397630" cy="44273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B2537A-5D42-A06E-8BAC-31572B1FA743}"/>
              </a:ext>
            </a:extLst>
          </p:cNvPr>
          <p:cNvSpPr/>
          <p:nvPr/>
        </p:nvSpPr>
        <p:spPr>
          <a:xfrm>
            <a:off x="381761" y="829486"/>
            <a:ext cx="714036" cy="461665"/>
          </a:xfrm>
          <a:prstGeom prst="roundRect">
            <a:avLst>
              <a:gd name="adj" fmla="val 30322"/>
            </a:avLst>
          </a:prstGeom>
          <a:solidFill>
            <a:srgbClr val="F79151"/>
          </a:solidFill>
          <a:ln w="19050">
            <a:solidFill>
              <a:srgbClr val="F79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6A5EA-5A95-7D36-E10D-556B6ADD4C75}"/>
              </a:ext>
            </a:extLst>
          </p:cNvPr>
          <p:cNvSpPr txBox="1"/>
          <p:nvPr/>
        </p:nvSpPr>
        <p:spPr>
          <a:xfrm>
            <a:off x="1147434" y="878811"/>
            <a:ext cx="5615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ahnschrift Light" panose="020B0502040204020203" pitchFamily="34" charset="0"/>
                <a:cs typeface="Segoe UI Semibold" panose="020B0702040204020203" pitchFamily="34" charset="0"/>
              </a:rPr>
              <a:t>Project Resolution Duration Index (PRDI)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5BEB58-50E4-6C05-0D3C-BF2D3A5FC092}"/>
              </a:ext>
            </a:extLst>
          </p:cNvPr>
          <p:cNvSpPr txBox="1"/>
          <p:nvPr/>
        </p:nvSpPr>
        <p:spPr>
          <a:xfrm>
            <a:off x="381760" y="872241"/>
            <a:ext cx="714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KPI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D8CB55-CC9C-4E0C-9B27-AD50741CAAF0}"/>
              </a:ext>
            </a:extLst>
          </p:cNvPr>
          <p:cNvSpPr txBox="1"/>
          <p:nvPr/>
        </p:nvSpPr>
        <p:spPr>
          <a:xfrm>
            <a:off x="2041502" y="1615077"/>
            <a:ext cx="439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DS OL3 </a:t>
            </a:r>
          </a:p>
          <a:p>
            <a:r>
              <a:rPr lang="en-US" sz="1800">
                <a:latin typeface="Century Gothic" panose="020B0502020202020204" pitchFamily="34" charset="0"/>
                <a:cs typeface="Segoe UI Semibold" panose="020B0702040204020203" pitchFamily="34" charset="0"/>
              </a:rPr>
              <a:t>Construction 1, Underground</a:t>
            </a:r>
            <a:endParaRPr lang="en-US" sz="1800">
              <a:latin typeface="Bahnschrift Light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7308DA-542E-1184-73E3-3EB4AC76CF37}"/>
              </a:ext>
            </a:extLst>
          </p:cNvPr>
          <p:cNvSpPr txBox="1"/>
          <p:nvPr/>
        </p:nvSpPr>
        <p:spPr>
          <a:xfrm>
            <a:off x="417172" y="1576369"/>
            <a:ext cx="1659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Performing Office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5461C8-3A5E-408B-05A4-DCAFFDF3A7F7}"/>
              </a:ext>
            </a:extLst>
          </p:cNvPr>
          <p:cNvSpPr txBox="1"/>
          <p:nvPr/>
        </p:nvSpPr>
        <p:spPr>
          <a:xfrm>
            <a:off x="556479" y="3188267"/>
            <a:ext cx="110984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All CAPEX work orders with Customer Connection work type and Installation subtype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FCOMP Status – from January 1 to December 31,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Ageing WOs – WOs with status below COMP but are already beyond the set SPT based on Manhour cluster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Formula:</a:t>
            </a: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89959D-1BE4-DC32-638A-7B30DF6CC959}"/>
              </a:ext>
            </a:extLst>
          </p:cNvPr>
          <p:cNvGrpSpPr/>
          <p:nvPr/>
        </p:nvGrpSpPr>
        <p:grpSpPr>
          <a:xfrm>
            <a:off x="373313" y="2643322"/>
            <a:ext cx="11445374" cy="3626848"/>
            <a:chOff x="220152" y="2643322"/>
            <a:chExt cx="11445374" cy="362684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EA56430-5AA0-C336-E44E-9A968F04352F}"/>
                </a:ext>
              </a:extLst>
            </p:cNvPr>
            <p:cNvGrpSpPr/>
            <p:nvPr/>
          </p:nvGrpSpPr>
          <p:grpSpPr>
            <a:xfrm>
              <a:off x="228597" y="2643325"/>
              <a:ext cx="11436929" cy="3626845"/>
              <a:chOff x="228599" y="1434543"/>
              <a:chExt cx="2575561" cy="1085414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8CF14A31-DD81-A35B-42FC-857A9C66E45F}"/>
                  </a:ext>
                </a:extLst>
              </p:cNvPr>
              <p:cNvSpPr/>
              <p:nvPr/>
            </p:nvSpPr>
            <p:spPr>
              <a:xfrm>
                <a:off x="228600" y="1434543"/>
                <a:ext cx="2575560" cy="1085414"/>
              </a:xfrm>
              <a:prstGeom prst="roundRect">
                <a:avLst>
                  <a:gd name="adj" fmla="val 6838"/>
                </a:avLst>
              </a:prstGeom>
              <a:noFill/>
              <a:ln w="28575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0654B0A-9030-ED6A-23FE-32C5350A6041}"/>
                  </a:ext>
                </a:extLst>
              </p:cNvPr>
              <p:cNvSpPr/>
              <p:nvPr/>
            </p:nvSpPr>
            <p:spPr>
              <a:xfrm>
                <a:off x="228599" y="1434543"/>
                <a:ext cx="239149" cy="138163"/>
              </a:xfrm>
              <a:prstGeom prst="roundRect">
                <a:avLst>
                  <a:gd name="adj" fmla="val 32422"/>
                </a:avLst>
              </a:prstGeom>
              <a:solidFill>
                <a:srgbClr val="F79151"/>
              </a:solidFill>
              <a:ln w="19050">
                <a:solidFill>
                  <a:srgbClr val="F7915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1700AB24-AE90-FCED-EBF9-74E17E9BFB65}"/>
                </a:ext>
              </a:extLst>
            </p:cNvPr>
            <p:cNvSpPr/>
            <p:nvPr/>
          </p:nvSpPr>
          <p:spPr>
            <a:xfrm rot="10800000">
              <a:off x="545006" y="2643322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Top Corners Rounded 31">
              <a:extLst>
                <a:ext uri="{FF2B5EF4-FFF2-40B4-BE49-F238E27FC236}">
                  <a16:creationId xmlns:a16="http://schemas.microsoft.com/office/drawing/2014/main" id="{76A40CC4-7114-411C-0780-E38CA6B8AD85}"/>
                </a:ext>
              </a:extLst>
            </p:cNvPr>
            <p:cNvSpPr/>
            <p:nvPr/>
          </p:nvSpPr>
          <p:spPr>
            <a:xfrm>
              <a:off x="220152" y="2643323"/>
              <a:ext cx="745547" cy="461663"/>
            </a:xfrm>
            <a:prstGeom prst="round2SameRect">
              <a:avLst>
                <a:gd name="adj1" fmla="val 33172"/>
                <a:gd name="adj2" fmla="val 0"/>
              </a:avLst>
            </a:prstGeom>
            <a:solidFill>
              <a:srgbClr val="F79151"/>
            </a:solidFill>
            <a:ln>
              <a:solidFill>
                <a:srgbClr val="F79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C5E3BDA-7ECF-1123-983B-C66E83456B1D}"/>
              </a:ext>
            </a:extLst>
          </p:cNvPr>
          <p:cNvSpPr txBox="1"/>
          <p:nvPr/>
        </p:nvSpPr>
        <p:spPr>
          <a:xfrm>
            <a:off x="417172" y="2677520"/>
            <a:ext cx="1026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Scope</a:t>
            </a:r>
            <a:endParaRPr lang="en-US" sz="200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F7676-2075-33F5-443F-65BC36959F11}"/>
              </a:ext>
            </a:extLst>
          </p:cNvPr>
          <p:cNvGrpSpPr/>
          <p:nvPr/>
        </p:nvGrpSpPr>
        <p:grpSpPr>
          <a:xfrm>
            <a:off x="3112939" y="4699715"/>
            <a:ext cx="5966122" cy="1251520"/>
            <a:chOff x="416843" y="5026299"/>
            <a:chExt cx="5966122" cy="125152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AE65966-B530-8B51-7988-FCF189B975D4}"/>
                </a:ext>
              </a:extLst>
            </p:cNvPr>
            <p:cNvSpPr txBox="1"/>
            <p:nvPr/>
          </p:nvSpPr>
          <p:spPr>
            <a:xfrm>
              <a:off x="1546311" y="5026299"/>
              <a:ext cx="3171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59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PRDI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 = 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  <a:sym typeface="Symbol" panose="05050102010706020507" pitchFamily="18" charset="2"/>
                </a:rPr>
                <a:t></a:t>
              </a: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[(Project Duration/SPT)]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AC428C8-8B13-C1C0-37B0-BC9296A580B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18" y="5345859"/>
              <a:ext cx="24735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AD649ED-F74D-757E-5FE9-8EF2ABE10C63}"/>
                </a:ext>
              </a:extLst>
            </p:cNvPr>
            <p:cNvSpPr txBox="1"/>
            <p:nvPr/>
          </p:nvSpPr>
          <p:spPr>
            <a:xfrm>
              <a:off x="2575775" y="5346131"/>
              <a:ext cx="1930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Total Project Count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D502D80-C32C-CAB1-B527-347329F77A9A}"/>
                </a:ext>
              </a:extLst>
            </p:cNvPr>
            <p:cNvSpPr/>
            <p:nvPr/>
          </p:nvSpPr>
          <p:spPr>
            <a:xfrm>
              <a:off x="416843" y="5754599"/>
              <a:ext cx="596612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where:  Project Duration = COMP Status – FCOMP Status</a:t>
              </a:r>
            </a:p>
            <a:p>
              <a:r>
                <a:rPr lang="en-US" sz="1400" i="1" dirty="0">
                  <a:latin typeface="Segoe UI" panose="020B0502040204020203" pitchFamily="34" charset="0"/>
                  <a:cs typeface="Segoe UI" panose="020B0502040204020203" pitchFamily="34" charset="0"/>
                </a:rPr>
                <a:t>*SPT is 60 days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170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6C49-BEF4-636E-0373-E37BBD58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2" action="ppaction://hlinksldjump"/>
              </a:rPr>
              <a:t>Project Resolution Duration Index (PRDI)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1FD64-DACC-852E-A27B-D1A18E3A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/>
              <a:t>Data Provider: DCSAM</a:t>
            </a:r>
          </a:p>
          <a:p>
            <a:r>
              <a:rPr lang="en-US" sz="1800"/>
              <a:t>Performing Office: OL4 C1, UG</a:t>
            </a:r>
          </a:p>
          <a:p>
            <a:r>
              <a:rPr lang="en-US" sz="1800"/>
              <a:t>Scope:</a:t>
            </a:r>
          </a:p>
          <a:p>
            <a:pPr lvl="1"/>
            <a:r>
              <a:rPr lang="en-US" sz="1400"/>
              <a:t>CAPEX WOs with AOS-WT-ST: DS-CC-Installation with the following Service Application Subtypes:</a:t>
            </a:r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lvl="1"/>
            <a:endParaRPr lang="en-US" sz="1400"/>
          </a:p>
          <a:p>
            <a:pPr lvl="1"/>
            <a:r>
              <a:rPr lang="en-US" sz="1400"/>
              <a:t>FCOMP Date and COMP Date are in the current year</a:t>
            </a:r>
          </a:p>
          <a:p>
            <a:pPr lvl="1"/>
            <a:r>
              <a:rPr lang="en-US" sz="1400"/>
              <a:t>FCOMP Date is in the current year, not yet COMP and is already beyond the SPT</a:t>
            </a:r>
          </a:p>
          <a:p>
            <a:r>
              <a:rPr lang="en-US" sz="1800"/>
              <a:t>Details: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DF9E02A-7B44-2639-DAB6-C3AD86E4AAC3}"/>
              </a:ext>
            </a:extLst>
          </p:cNvPr>
          <p:cNvGraphicFramePr>
            <a:graphicFrameLocks noGrp="1"/>
          </p:cNvGraphicFramePr>
          <p:nvPr/>
        </p:nvGraphicFramePr>
        <p:xfrm>
          <a:off x="1641518" y="3148590"/>
          <a:ext cx="260078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785">
                  <a:extLst>
                    <a:ext uri="{9D8B030D-6E8A-4147-A177-3AD203B41FA5}">
                      <a16:colId xmlns:a16="http://schemas.microsoft.com/office/drawing/2014/main" val="732924893"/>
                    </a:ext>
                  </a:extLst>
                </a:gridCol>
              </a:tblGrid>
              <a:tr h="18811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642819"/>
                  </a:ext>
                </a:extLst>
              </a:tr>
              <a:tr h="18811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New Electric Service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385095"/>
                  </a:ext>
                </a:extLst>
              </a:tr>
              <a:tr h="18811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Subdivision/ Mass Housing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902849"/>
                  </a:ext>
                </a:extLst>
              </a:tr>
              <a:tr h="18811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Temporary Electric Service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88364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02E226BD-B97A-D5DE-0CDE-945B127DEE51}"/>
              </a:ext>
            </a:extLst>
          </p:cNvPr>
          <p:cNvGrpSpPr/>
          <p:nvPr/>
        </p:nvGrpSpPr>
        <p:grpSpPr>
          <a:xfrm>
            <a:off x="1173200" y="5173128"/>
            <a:ext cx="3069103" cy="1138772"/>
            <a:chOff x="1982478" y="4707479"/>
            <a:chExt cx="3069103" cy="113877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C6C4F8-4A8C-E7F8-C16B-9580F837E997}"/>
                </a:ext>
              </a:extLst>
            </p:cNvPr>
            <p:cNvGrpSpPr/>
            <p:nvPr/>
          </p:nvGrpSpPr>
          <p:grpSpPr>
            <a:xfrm>
              <a:off x="1982478" y="4707479"/>
              <a:ext cx="3069103" cy="1138772"/>
              <a:chOff x="2268313" y="2204643"/>
              <a:chExt cx="3069103" cy="1138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169980-A023-1C3D-1A5E-B2ABB1B68BEA}"/>
                  </a:ext>
                </a:extLst>
              </p:cNvPr>
              <p:cNvSpPr txBox="1"/>
              <p:nvPr/>
            </p:nvSpPr>
            <p:spPr>
              <a:xfrm>
                <a:off x="2268313" y="2831306"/>
                <a:ext cx="11949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rPr>
                  <a:t>     </a:t>
                </a: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rPr>
                  <a:t>PRDI</a:t>
                </a: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rPr>
                  <a:t>   </a:t>
                </a: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 panose="020B0604020202020204" pitchFamily="34" charset="0"/>
                  </a:rPr>
                  <a:t>= 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C7502E2-A07F-9FE5-ED08-E5BC47129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8582" y="3035640"/>
                <a:ext cx="184853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CC8004-28F8-242C-EDC8-49371B258B15}"/>
                  </a:ext>
                </a:extLst>
              </p:cNvPr>
              <p:cNvSpPr txBox="1"/>
              <p:nvPr/>
            </p:nvSpPr>
            <p:spPr>
              <a:xfrm>
                <a:off x="3208281" y="3035638"/>
                <a:ext cx="21291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Total project count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5DF414-4CBE-0495-4F4A-26E41DEA8EA8}"/>
                  </a:ext>
                </a:extLst>
              </p:cNvPr>
              <p:cNvSpPr txBox="1"/>
              <p:nvPr/>
            </p:nvSpPr>
            <p:spPr>
              <a:xfrm>
                <a:off x="3708140" y="2369211"/>
                <a:ext cx="14889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Project Duration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442AB6-00C5-EC4C-AAC4-B3E1C29FB5AA}"/>
                  </a:ext>
                </a:extLst>
              </p:cNvPr>
              <p:cNvSpPr txBox="1"/>
              <p:nvPr/>
            </p:nvSpPr>
            <p:spPr>
              <a:xfrm>
                <a:off x="4130951" y="2608361"/>
                <a:ext cx="6163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SPT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89023B5-00DD-276F-AEBA-A8327D5F17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4606" y="2638049"/>
                <a:ext cx="121323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Left Bracket 17">
                <a:extLst>
                  <a:ext uri="{FF2B5EF4-FFF2-40B4-BE49-F238E27FC236}">
                    <a16:creationId xmlns:a16="http://schemas.microsoft.com/office/drawing/2014/main" id="{AF3434C3-BDB6-711A-C1B0-D2D7F94A913E}"/>
                  </a:ext>
                </a:extLst>
              </p:cNvPr>
              <p:cNvSpPr/>
              <p:nvPr/>
            </p:nvSpPr>
            <p:spPr>
              <a:xfrm flipH="1">
                <a:off x="5012913" y="2312367"/>
                <a:ext cx="90558" cy="591987"/>
              </a:xfrm>
              <a:prstGeom prst="leftBracket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28A368-4A97-D725-777F-1F907B2BF649}"/>
                      </a:ext>
                    </a:extLst>
                  </p:cNvPr>
                  <p:cNvSpPr txBox="1"/>
                  <p:nvPr/>
                </p:nvSpPr>
                <p:spPr>
                  <a:xfrm>
                    <a:off x="3287323" y="2204643"/>
                    <a:ext cx="537005" cy="8309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0" lang="en-US" sz="5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Σ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E28A368-4A97-D725-777F-1F907B2BF6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323" y="2204643"/>
                    <a:ext cx="537005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Left Bracket 25">
              <a:extLst>
                <a:ext uri="{FF2B5EF4-FFF2-40B4-BE49-F238E27FC236}">
                  <a16:creationId xmlns:a16="http://schemas.microsoft.com/office/drawing/2014/main" id="{AA70D9B2-3C25-FE84-638C-59D844861FC8}"/>
                </a:ext>
              </a:extLst>
            </p:cNvPr>
            <p:cNvSpPr/>
            <p:nvPr/>
          </p:nvSpPr>
          <p:spPr>
            <a:xfrm rot="10800000" flipH="1">
              <a:off x="3499256" y="4826985"/>
              <a:ext cx="90558" cy="591987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1BD1428-71D1-BEE8-3883-B79B932B0B88}"/>
              </a:ext>
            </a:extLst>
          </p:cNvPr>
          <p:cNvSpPr txBox="1"/>
          <p:nvPr/>
        </p:nvSpPr>
        <p:spPr>
          <a:xfrm>
            <a:off x="4509773" y="5515289"/>
            <a:ext cx="46094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Duration = FCOMP Status Date to COMP Status Date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SPT = 60 days</a:t>
            </a:r>
          </a:p>
        </p:txBody>
      </p:sp>
    </p:spTree>
    <p:extLst>
      <p:ext uri="{BB962C8B-B14F-4D97-AF65-F5344CB8AC3E}">
        <p14:creationId xmlns:p14="http://schemas.microsoft.com/office/powerpoint/2010/main" val="3631959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8A23025-65AE-75EC-655A-1E381A2CD870}"/>
              </a:ext>
            </a:extLst>
          </p:cNvPr>
          <p:cNvGrpSpPr/>
          <p:nvPr/>
        </p:nvGrpSpPr>
        <p:grpSpPr>
          <a:xfrm>
            <a:off x="747978" y="1028880"/>
            <a:ext cx="2029968" cy="1290116"/>
            <a:chOff x="2397325" y="1145894"/>
            <a:chExt cx="1648242" cy="1645920"/>
          </a:xfrm>
        </p:grpSpPr>
        <p:sp>
          <p:nvSpPr>
            <p:cNvPr id="12" name="Rectangle: Rounded Corners 11">
              <a:hlinkClick r:id="rId11" action="ppaction://hlinksldjump"/>
              <a:extLst>
                <a:ext uri="{FF2B5EF4-FFF2-40B4-BE49-F238E27FC236}">
                  <a16:creationId xmlns:a16="http://schemas.microsoft.com/office/drawing/2014/main" id="{6DB3D91D-75E2-B852-E728-1437CDF38EA3}"/>
                </a:ext>
              </a:extLst>
            </p:cNvPr>
            <p:cNvSpPr/>
            <p:nvPr/>
          </p:nvSpPr>
          <p:spPr>
            <a:xfrm>
              <a:off x="239964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18D7C9-AEDC-C94C-CC10-630B595B67E7}"/>
                </a:ext>
              </a:extLst>
            </p:cNvPr>
            <p:cNvSpPr txBox="1"/>
            <p:nvPr/>
          </p:nvSpPr>
          <p:spPr>
            <a:xfrm>
              <a:off x="2397325" y="2298801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CCNI</a:t>
              </a:r>
            </a:p>
          </p:txBody>
        </p:sp>
      </p:grpSp>
      <p:pic>
        <p:nvPicPr>
          <p:cNvPr id="14" name="Graphic 13" descr="Coins with solid fill">
            <a:extLst>
              <a:ext uri="{FF2B5EF4-FFF2-40B4-BE49-F238E27FC236}">
                <a16:creationId xmlns:a16="http://schemas.microsoft.com/office/drawing/2014/main" id="{BE9CCAEF-A6FD-D036-57DB-5AE4ECFADC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3163" y="1079096"/>
            <a:ext cx="914400" cy="914400"/>
          </a:xfrm>
          <a:prstGeom prst="rect">
            <a:avLst/>
          </a:prstGeom>
        </p:spPr>
      </p:pic>
      <p:pic>
        <p:nvPicPr>
          <p:cNvPr id="18" name="Graphic 17" descr="Coins with solid fill">
            <a:extLst>
              <a:ext uri="{FF2B5EF4-FFF2-40B4-BE49-F238E27FC236}">
                <a16:creationId xmlns:a16="http://schemas.microsoft.com/office/drawing/2014/main" id="{FA2552E3-56CE-B361-021F-D0A1BA7A23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93163" y="1080138"/>
            <a:ext cx="914400" cy="914400"/>
          </a:xfrm>
          <a:prstGeom prst="rect">
            <a:avLst/>
          </a:prstGeom>
        </p:spPr>
      </p:pic>
      <p:sp>
        <p:nvSpPr>
          <p:cNvPr id="2" name="Freeform: Shape 1">
            <a:hlinkClick r:id="rId14" action="ppaction://hlinksldjump"/>
            <a:extLst>
              <a:ext uri="{FF2B5EF4-FFF2-40B4-BE49-F238E27FC236}">
                <a16:creationId xmlns:a16="http://schemas.microsoft.com/office/drawing/2014/main" id="{520A5208-FE3D-FAF6-67E6-DCA63BF4A6E5}"/>
              </a:ext>
            </a:extLst>
          </p:cNvPr>
          <p:cNvSpPr/>
          <p:nvPr/>
        </p:nvSpPr>
        <p:spPr>
          <a:xfrm>
            <a:off x="747978" y="2504929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300" b="0" i="0" u="none" kern="1200"/>
              <a:t>WO Cost Settlement to RAB (Mid-Year)</a:t>
            </a:r>
            <a:endParaRPr lang="en-US" sz="1300" kern="1200">
              <a:latin typeface="Trade Gothic LT Std" panose="020B0503020502020204" pitchFamily="34" charset="0"/>
            </a:endParaRPr>
          </a:p>
        </p:txBody>
      </p:sp>
      <p:sp>
        <p:nvSpPr>
          <p:cNvPr id="3" name="Freeform: Shape 2">
            <a:hlinkClick r:id="rId14" action="ppaction://hlinksldjump"/>
            <a:extLst>
              <a:ext uri="{FF2B5EF4-FFF2-40B4-BE49-F238E27FC236}">
                <a16:creationId xmlns:a16="http://schemas.microsoft.com/office/drawing/2014/main" id="{CFE342CE-80EC-57C6-2FD7-50A0999A5CE0}"/>
              </a:ext>
            </a:extLst>
          </p:cNvPr>
          <p:cNvSpPr/>
          <p:nvPr/>
        </p:nvSpPr>
        <p:spPr>
          <a:xfrm>
            <a:off x="753771" y="4447242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WO Cost Settlement to RAB (Year-End)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B53227-0EFD-42FF-1E2D-D570CD99F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33179"/>
              </p:ext>
            </p:extLst>
          </p:nvPr>
        </p:nvGraphicFramePr>
        <p:xfrm>
          <a:off x="3256971" y="2650366"/>
          <a:ext cx="7977334" cy="2308860"/>
        </p:xfrm>
        <a:graphic>
          <a:graphicData uri="http://schemas.openxmlformats.org/drawingml/2006/table">
            <a:tbl>
              <a:tblPr/>
              <a:tblGrid>
                <a:gridCol w="1736963">
                  <a:extLst>
                    <a:ext uri="{9D8B030D-6E8A-4147-A177-3AD203B41FA5}">
                      <a16:colId xmlns:a16="http://schemas.microsoft.com/office/drawing/2014/main" val="1066236426"/>
                    </a:ext>
                  </a:extLst>
                </a:gridCol>
                <a:gridCol w="565522">
                  <a:extLst>
                    <a:ext uri="{9D8B030D-6E8A-4147-A177-3AD203B41FA5}">
                      <a16:colId xmlns:a16="http://schemas.microsoft.com/office/drawing/2014/main" val="4231378815"/>
                    </a:ext>
                  </a:extLst>
                </a:gridCol>
                <a:gridCol w="1104115">
                  <a:extLst>
                    <a:ext uri="{9D8B030D-6E8A-4147-A177-3AD203B41FA5}">
                      <a16:colId xmlns:a16="http://schemas.microsoft.com/office/drawing/2014/main" val="498903275"/>
                    </a:ext>
                  </a:extLst>
                </a:gridCol>
                <a:gridCol w="565522">
                  <a:extLst>
                    <a:ext uri="{9D8B030D-6E8A-4147-A177-3AD203B41FA5}">
                      <a16:colId xmlns:a16="http://schemas.microsoft.com/office/drawing/2014/main" val="1148736885"/>
                    </a:ext>
                  </a:extLst>
                </a:gridCol>
                <a:gridCol w="1036791">
                  <a:extLst>
                    <a:ext uri="{9D8B030D-6E8A-4147-A177-3AD203B41FA5}">
                      <a16:colId xmlns:a16="http://schemas.microsoft.com/office/drawing/2014/main" val="332598114"/>
                    </a:ext>
                  </a:extLst>
                </a:gridCol>
                <a:gridCol w="496249">
                  <a:extLst>
                    <a:ext uri="{9D8B030D-6E8A-4147-A177-3AD203B41FA5}">
                      <a16:colId xmlns:a16="http://schemas.microsoft.com/office/drawing/2014/main" val="3807451582"/>
                    </a:ext>
                  </a:extLst>
                </a:gridCol>
                <a:gridCol w="1321502">
                  <a:extLst>
                    <a:ext uri="{9D8B030D-6E8A-4147-A177-3AD203B41FA5}">
                      <a16:colId xmlns:a16="http://schemas.microsoft.com/office/drawing/2014/main" val="2437232330"/>
                    </a:ext>
                  </a:extLst>
                </a:gridCol>
                <a:gridCol w="1150670">
                  <a:extLst>
                    <a:ext uri="{9D8B030D-6E8A-4147-A177-3AD203B41FA5}">
                      <a16:colId xmlns:a16="http://schemas.microsoft.com/office/drawing/2014/main" val="525481375"/>
                    </a:ext>
                  </a:extLst>
                </a:gridCol>
              </a:tblGrid>
              <a:tr h="6978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Supervisor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TECO/CLOSED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(Comp + Closed) / (Pending+Comp+Teco)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436535"/>
                  </a:ext>
                </a:extLst>
              </a:tr>
              <a:tr h="40275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ISAN CARLO LAZARO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76,528,621.02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6,191,469.63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3,250,807.29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378475"/>
                  </a:ext>
                </a:extLst>
              </a:tr>
              <a:tr h="40275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JENNETH 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72,791,089.63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1,487,541.79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626272"/>
                  </a:ext>
                </a:extLst>
              </a:tr>
              <a:tr h="40275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RONILO JR GANGE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116,892,097.94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2,077,911.33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15,720,366.13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661633"/>
                  </a:ext>
                </a:extLst>
              </a:tr>
              <a:tr h="40275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266,211,808.59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8,269,380.96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20,458,715.21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668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62B111-F0F7-64D6-4FB0-5160CCFB6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942887"/>
              </p:ext>
            </p:extLst>
          </p:nvPr>
        </p:nvGraphicFramePr>
        <p:xfrm>
          <a:off x="3060512" y="1122367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2372704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1713626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 Cost Settlement to RAB (Mid-Year)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 Cost (in Billion </a:t>
                      </a:r>
                      <a:r>
                        <a:rPr lang="en-US" sz="105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Php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3.300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 Cost (in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Php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3.300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3.240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3.300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30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8A23025-65AE-75EC-655A-1E381A2CD870}"/>
              </a:ext>
            </a:extLst>
          </p:cNvPr>
          <p:cNvGrpSpPr/>
          <p:nvPr/>
        </p:nvGrpSpPr>
        <p:grpSpPr>
          <a:xfrm>
            <a:off x="747978" y="1028880"/>
            <a:ext cx="2029968" cy="1290116"/>
            <a:chOff x="2397325" y="1145894"/>
            <a:chExt cx="1648242" cy="1645920"/>
          </a:xfrm>
        </p:grpSpPr>
        <p:sp>
          <p:nvSpPr>
            <p:cNvPr id="12" name="Rectangle: Rounded Corners 11">
              <a:hlinkClick r:id="rId10" action="ppaction://hlinksldjump"/>
              <a:extLst>
                <a:ext uri="{FF2B5EF4-FFF2-40B4-BE49-F238E27FC236}">
                  <a16:creationId xmlns:a16="http://schemas.microsoft.com/office/drawing/2014/main" id="{6DB3D91D-75E2-B852-E728-1437CDF38EA3}"/>
                </a:ext>
              </a:extLst>
            </p:cNvPr>
            <p:cNvSpPr/>
            <p:nvPr/>
          </p:nvSpPr>
          <p:spPr>
            <a:xfrm>
              <a:off x="239964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18D7C9-AEDC-C94C-CC10-630B595B67E7}"/>
                </a:ext>
              </a:extLst>
            </p:cNvPr>
            <p:cNvSpPr txBox="1"/>
            <p:nvPr/>
          </p:nvSpPr>
          <p:spPr>
            <a:xfrm>
              <a:off x="2397325" y="2298801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CCNI</a:t>
              </a:r>
            </a:p>
          </p:txBody>
        </p:sp>
      </p:grpSp>
      <p:pic>
        <p:nvPicPr>
          <p:cNvPr id="14" name="Graphic 13" descr="Coins with solid fill">
            <a:extLst>
              <a:ext uri="{FF2B5EF4-FFF2-40B4-BE49-F238E27FC236}">
                <a16:creationId xmlns:a16="http://schemas.microsoft.com/office/drawing/2014/main" id="{BE9CCAEF-A6FD-D036-57DB-5AE4ECFADC5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93163" y="1079096"/>
            <a:ext cx="914400" cy="914400"/>
          </a:xfrm>
          <a:prstGeom prst="rect">
            <a:avLst/>
          </a:prstGeom>
        </p:spPr>
      </p:pic>
      <p:pic>
        <p:nvPicPr>
          <p:cNvPr id="18" name="Graphic 17" descr="Coins with solid fill">
            <a:extLst>
              <a:ext uri="{FF2B5EF4-FFF2-40B4-BE49-F238E27FC236}">
                <a16:creationId xmlns:a16="http://schemas.microsoft.com/office/drawing/2014/main" id="{FA2552E3-56CE-B361-021F-D0A1BA7A23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93163" y="1080138"/>
            <a:ext cx="914400" cy="914400"/>
          </a:xfrm>
          <a:prstGeom prst="rect">
            <a:avLst/>
          </a:prstGeom>
        </p:spPr>
      </p:pic>
      <p:sp>
        <p:nvSpPr>
          <p:cNvPr id="2" name="Freeform: Shape 1">
            <a:hlinkClick r:id="rId13" action="ppaction://hlinksldjump"/>
            <a:extLst>
              <a:ext uri="{FF2B5EF4-FFF2-40B4-BE49-F238E27FC236}">
                <a16:creationId xmlns:a16="http://schemas.microsoft.com/office/drawing/2014/main" id="{520A5208-FE3D-FAF6-67E6-DCA63BF4A6E5}"/>
              </a:ext>
            </a:extLst>
          </p:cNvPr>
          <p:cNvSpPr/>
          <p:nvPr/>
        </p:nvSpPr>
        <p:spPr>
          <a:xfrm>
            <a:off x="747978" y="2504929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WO Cost Settlement to RAB (Mid-Year)</a:t>
            </a:r>
          </a:p>
        </p:txBody>
      </p:sp>
      <p:sp>
        <p:nvSpPr>
          <p:cNvPr id="3" name="Freeform: Shape 2">
            <a:hlinkClick r:id="rId13" action="ppaction://hlinksldjump"/>
            <a:extLst>
              <a:ext uri="{FF2B5EF4-FFF2-40B4-BE49-F238E27FC236}">
                <a16:creationId xmlns:a16="http://schemas.microsoft.com/office/drawing/2014/main" id="{CFE342CE-80EC-57C6-2FD7-50A0999A5CE0}"/>
              </a:ext>
            </a:extLst>
          </p:cNvPr>
          <p:cNvSpPr/>
          <p:nvPr/>
        </p:nvSpPr>
        <p:spPr>
          <a:xfrm>
            <a:off x="753771" y="4447242"/>
            <a:ext cx="2029968" cy="1857637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411" tIns="74156" rIns="82411" bIns="74156" numCol="1" spcCol="1270" anchor="ctr" anchorCtr="0">
            <a:noAutofit/>
          </a:bodyPr>
          <a:lstStyle/>
          <a:p>
            <a:pPr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300"/>
              <a:t>WO Cost Settlement to RAB (Year-End)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1927A-7533-00BB-922E-770F8DB26B8C}"/>
              </a:ext>
            </a:extLst>
          </p:cNvPr>
          <p:cNvSpPr txBox="1"/>
          <p:nvPr/>
        </p:nvSpPr>
        <p:spPr>
          <a:xfrm rot="19800000">
            <a:off x="4066199" y="3400853"/>
            <a:ext cx="56359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chemeClr val="bg2">
                    <a:lumMod val="75000"/>
                  </a:schemeClr>
                </a:solidFill>
              </a:rPr>
              <a:t>NO DATA YET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B6979-0ABF-6EDB-EDFD-E3C718F80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758739"/>
              </p:ext>
            </p:extLst>
          </p:nvPr>
        </p:nvGraphicFramePr>
        <p:xfrm>
          <a:off x="3060512" y="1122367"/>
          <a:ext cx="811622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1833317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1143816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 Cost Settlement to RAB (Mid-Year)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 Cost (in Billion Php)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6.470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6.590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 Cost (in Php)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6.470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6.590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6.470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6.590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2021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3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sp>
        <p:nvSpPr>
          <p:cNvPr id="7" name="Freeform: Shape 6">
            <a:hlinkClick r:id="rId11" action="ppaction://hlinksldjump"/>
            <a:extLst>
              <a:ext uri="{FF2B5EF4-FFF2-40B4-BE49-F238E27FC236}">
                <a16:creationId xmlns:a16="http://schemas.microsoft.com/office/drawing/2014/main" id="{0C93E098-6E54-0E36-2C0E-123145C3160B}"/>
              </a:ext>
            </a:extLst>
          </p:cNvPr>
          <p:cNvSpPr/>
          <p:nvPr/>
        </p:nvSpPr>
        <p:spPr>
          <a:xfrm>
            <a:off x="807271" y="2505428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Quality Management Index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A7A93E-0CEC-3396-4E22-821B54C9DA89}"/>
              </a:ext>
            </a:extLst>
          </p:cNvPr>
          <p:cNvSpPr/>
          <p:nvPr/>
        </p:nvSpPr>
        <p:spPr>
          <a:xfrm>
            <a:off x="807271" y="3831242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DPWH &amp; </a:t>
            </a:r>
            <a:b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</a:b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Priority Gov't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C92EBB-B03A-03E6-A8AA-E342D088BE0D}"/>
              </a:ext>
            </a:extLst>
          </p:cNvPr>
          <p:cNvSpPr/>
          <p:nvPr/>
        </p:nvSpPr>
        <p:spPr>
          <a:xfrm>
            <a:off x="807271" y="5157055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BBB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156515-2D5E-C634-49AA-A23F72B8C129}"/>
              </a:ext>
            </a:extLst>
          </p:cNvPr>
          <p:cNvGrpSpPr/>
          <p:nvPr/>
        </p:nvGrpSpPr>
        <p:grpSpPr>
          <a:xfrm>
            <a:off x="803306" y="1038536"/>
            <a:ext cx="2022198" cy="1290116"/>
            <a:chOff x="4319887" y="1145894"/>
            <a:chExt cx="1645920" cy="1645920"/>
          </a:xfrm>
        </p:grpSpPr>
        <p:sp>
          <p:nvSpPr>
            <p:cNvPr id="18" name="Rectangle: Rounded Corners 17">
              <a:hlinkClick r:id="rId12" action="ppaction://hlinksldjump"/>
              <a:extLst>
                <a:ext uri="{FF2B5EF4-FFF2-40B4-BE49-F238E27FC236}">
                  <a16:creationId xmlns:a16="http://schemas.microsoft.com/office/drawing/2014/main" id="{79143AE5-E3A9-93CF-AFA0-E21E7C6AAF55}"/>
                </a:ext>
              </a:extLst>
            </p:cNvPr>
            <p:cNvSpPr/>
            <p:nvPr/>
          </p:nvSpPr>
          <p:spPr>
            <a:xfrm>
              <a:off x="431988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5F2693-5262-6A16-44C2-DCED1BC9025C}"/>
                </a:ext>
              </a:extLst>
            </p:cNvPr>
            <p:cNvSpPr txBox="1"/>
            <p:nvPr/>
          </p:nvSpPr>
          <p:spPr>
            <a:xfrm>
              <a:off x="4319887" y="2304308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CSI</a:t>
              </a:r>
            </a:p>
          </p:txBody>
        </p:sp>
      </p:grpSp>
      <p:pic>
        <p:nvPicPr>
          <p:cNvPr id="24" name="Graphic 23" descr="Ribbon with solid fill">
            <a:extLst>
              <a:ext uri="{FF2B5EF4-FFF2-40B4-BE49-F238E27FC236}">
                <a16:creationId xmlns:a16="http://schemas.microsoft.com/office/drawing/2014/main" id="{094E3DC1-3D22-649E-4374-7C8BF27F77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1082" y="1080138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AEFCF5-73F0-DB6D-A395-9B2B45324FB1}"/>
              </a:ext>
            </a:extLst>
          </p:cNvPr>
          <p:cNvSpPr txBox="1"/>
          <p:nvPr/>
        </p:nvSpPr>
        <p:spPr>
          <a:xfrm rot="19800000">
            <a:off x="4066199" y="3400853"/>
            <a:ext cx="56359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chemeClr val="bg2">
                    <a:lumMod val="75000"/>
                  </a:schemeClr>
                </a:solidFill>
              </a:rPr>
              <a:t>NO DATA YET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120EE6-92AA-853E-AC2A-29E154FE2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45913"/>
              </p:ext>
            </p:extLst>
          </p:nvPr>
        </p:nvGraphicFramePr>
        <p:xfrm>
          <a:off x="3110660" y="1080748"/>
          <a:ext cx="8176638" cy="553965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2372704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1713626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Quality Management 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Quality Management 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027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25384" y="1037410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sp>
        <p:nvSpPr>
          <p:cNvPr id="7" name="Freeform: Shape 6">
            <a:hlinkClick r:id="rId10" action="ppaction://hlinksldjump"/>
            <a:extLst>
              <a:ext uri="{FF2B5EF4-FFF2-40B4-BE49-F238E27FC236}">
                <a16:creationId xmlns:a16="http://schemas.microsoft.com/office/drawing/2014/main" id="{0C93E098-6E54-0E36-2C0E-123145C3160B}"/>
              </a:ext>
            </a:extLst>
          </p:cNvPr>
          <p:cNvSpPr/>
          <p:nvPr/>
        </p:nvSpPr>
        <p:spPr>
          <a:xfrm>
            <a:off x="807271" y="2505428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Quality Management Index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A7A93E-0CEC-3396-4E22-821B54C9DA89}"/>
              </a:ext>
            </a:extLst>
          </p:cNvPr>
          <p:cNvSpPr/>
          <p:nvPr/>
        </p:nvSpPr>
        <p:spPr>
          <a:xfrm>
            <a:off x="807271" y="3831242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DPWH &amp; </a:t>
            </a:r>
            <a:b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</a:b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Priority Gov't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C92EBB-B03A-03E6-A8AA-E342D088BE0D}"/>
              </a:ext>
            </a:extLst>
          </p:cNvPr>
          <p:cNvSpPr/>
          <p:nvPr/>
        </p:nvSpPr>
        <p:spPr>
          <a:xfrm>
            <a:off x="807271" y="5157055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BBB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DE3936-3DF7-8FBE-B91C-DBAE91757305}"/>
              </a:ext>
            </a:extLst>
          </p:cNvPr>
          <p:cNvGrpSpPr/>
          <p:nvPr/>
        </p:nvGrpSpPr>
        <p:grpSpPr>
          <a:xfrm>
            <a:off x="803306" y="1038536"/>
            <a:ext cx="2022198" cy="1290116"/>
            <a:chOff x="4319887" y="1145894"/>
            <a:chExt cx="1645920" cy="1645920"/>
          </a:xfrm>
        </p:grpSpPr>
        <p:sp>
          <p:nvSpPr>
            <p:cNvPr id="11" name="Rectangle: Rounded Corners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CADBF463-B9D4-984A-2792-1B4C04B881D2}"/>
                </a:ext>
              </a:extLst>
            </p:cNvPr>
            <p:cNvSpPr/>
            <p:nvPr/>
          </p:nvSpPr>
          <p:spPr>
            <a:xfrm>
              <a:off x="431988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92102B-3B4A-9416-E671-CC2B5DF8E9C4}"/>
                </a:ext>
              </a:extLst>
            </p:cNvPr>
            <p:cNvSpPr txBox="1"/>
            <p:nvPr/>
          </p:nvSpPr>
          <p:spPr>
            <a:xfrm>
              <a:off x="4319887" y="2304308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CSI</a:t>
              </a:r>
            </a:p>
          </p:txBody>
        </p:sp>
      </p:grpSp>
      <p:pic>
        <p:nvPicPr>
          <p:cNvPr id="21" name="Graphic 20" descr="Ribbon with solid fill">
            <a:extLst>
              <a:ext uri="{FF2B5EF4-FFF2-40B4-BE49-F238E27FC236}">
                <a16:creationId xmlns:a16="http://schemas.microsoft.com/office/drawing/2014/main" id="{B41967DF-3B33-52DA-B35D-228666515F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1082" y="1080138"/>
            <a:ext cx="914400" cy="9144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059641-4C75-4843-72B5-CC6B78498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669774"/>
              </p:ext>
            </p:extLst>
          </p:nvPr>
        </p:nvGraphicFramePr>
        <p:xfrm>
          <a:off x="3164974" y="1285765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2372704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1713626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Completion of DPWH &amp; </a:t>
                      </a:r>
                      <a:b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Priority Gov't </a:t>
                      </a:r>
                      <a:r>
                        <a:rPr lang="en-US" sz="105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Reloc</a:t>
                      </a: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Projects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19.05%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054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069481-CF41-52A4-EE13-8A8EC39CB8C5}"/>
              </a:ext>
            </a:extLst>
          </p:cNvPr>
          <p:cNvSpPr/>
          <p:nvPr/>
        </p:nvSpPr>
        <p:spPr>
          <a:xfrm>
            <a:off x="468560" y="842943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latin typeface="Trade Gothic LT Std" panose="020B0503020502020204" pitchFamily="34" charset="0"/>
              </a:rPr>
              <a:t>`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sp>
        <p:nvSpPr>
          <p:cNvPr id="7" name="Freeform: Shape 6">
            <a:hlinkClick r:id="rId10" action="ppaction://hlinksldjump"/>
            <a:extLst>
              <a:ext uri="{FF2B5EF4-FFF2-40B4-BE49-F238E27FC236}">
                <a16:creationId xmlns:a16="http://schemas.microsoft.com/office/drawing/2014/main" id="{0C93E098-6E54-0E36-2C0E-123145C3160B}"/>
              </a:ext>
            </a:extLst>
          </p:cNvPr>
          <p:cNvSpPr/>
          <p:nvPr/>
        </p:nvSpPr>
        <p:spPr>
          <a:xfrm>
            <a:off x="807271" y="2505428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Quality Management Index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A7A93E-0CEC-3396-4E22-821B54C9DA89}"/>
              </a:ext>
            </a:extLst>
          </p:cNvPr>
          <p:cNvSpPr/>
          <p:nvPr/>
        </p:nvSpPr>
        <p:spPr>
          <a:xfrm>
            <a:off x="807271" y="3831242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DPWH &amp; </a:t>
            </a:r>
            <a:b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</a:b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Priority Gov't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C92EBB-B03A-03E6-A8AA-E342D088BE0D}"/>
              </a:ext>
            </a:extLst>
          </p:cNvPr>
          <p:cNvSpPr/>
          <p:nvPr/>
        </p:nvSpPr>
        <p:spPr>
          <a:xfrm>
            <a:off x="807271" y="5157055"/>
            <a:ext cx="2029968" cy="1149038"/>
          </a:xfrm>
          <a:custGeom>
            <a:avLst/>
            <a:gdLst>
              <a:gd name="connsiteX0" fmla="*/ 0 w 1686324"/>
              <a:gd name="connsiteY0" fmla="*/ 114904 h 1149038"/>
              <a:gd name="connsiteX1" fmla="*/ 114904 w 1686324"/>
              <a:gd name="connsiteY1" fmla="*/ 0 h 1149038"/>
              <a:gd name="connsiteX2" fmla="*/ 1571420 w 1686324"/>
              <a:gd name="connsiteY2" fmla="*/ 0 h 1149038"/>
              <a:gd name="connsiteX3" fmla="*/ 1686324 w 1686324"/>
              <a:gd name="connsiteY3" fmla="*/ 114904 h 1149038"/>
              <a:gd name="connsiteX4" fmla="*/ 1686324 w 1686324"/>
              <a:gd name="connsiteY4" fmla="*/ 1034134 h 1149038"/>
              <a:gd name="connsiteX5" fmla="*/ 1571420 w 1686324"/>
              <a:gd name="connsiteY5" fmla="*/ 1149038 h 1149038"/>
              <a:gd name="connsiteX6" fmla="*/ 114904 w 1686324"/>
              <a:gd name="connsiteY6" fmla="*/ 1149038 h 1149038"/>
              <a:gd name="connsiteX7" fmla="*/ 0 w 1686324"/>
              <a:gd name="connsiteY7" fmla="*/ 1034134 h 1149038"/>
              <a:gd name="connsiteX8" fmla="*/ 0 w 1686324"/>
              <a:gd name="connsiteY8" fmla="*/ 114904 h 114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149038">
                <a:moveTo>
                  <a:pt x="0" y="114904"/>
                </a:moveTo>
                <a:cubicBezTo>
                  <a:pt x="0" y="51444"/>
                  <a:pt x="51444" y="0"/>
                  <a:pt x="114904" y="0"/>
                </a:cubicBezTo>
                <a:lnTo>
                  <a:pt x="1571420" y="0"/>
                </a:lnTo>
                <a:cubicBezTo>
                  <a:pt x="1634880" y="0"/>
                  <a:pt x="1686324" y="51444"/>
                  <a:pt x="1686324" y="114904"/>
                </a:cubicBezTo>
                <a:lnTo>
                  <a:pt x="1686324" y="1034134"/>
                </a:lnTo>
                <a:cubicBezTo>
                  <a:pt x="1686324" y="1097594"/>
                  <a:pt x="1634880" y="1149038"/>
                  <a:pt x="1571420" y="1149038"/>
                </a:cubicBezTo>
                <a:lnTo>
                  <a:pt x="114904" y="1149038"/>
                </a:lnTo>
                <a:cubicBezTo>
                  <a:pt x="51444" y="1149038"/>
                  <a:pt x="0" y="1097594"/>
                  <a:pt x="0" y="1034134"/>
                </a:cubicBezTo>
                <a:lnTo>
                  <a:pt x="0" y="114904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Completion of BBB </a:t>
            </a:r>
            <a:r>
              <a:rPr lang="en-US" sz="1000" b="1" err="1">
                <a:solidFill>
                  <a:schemeClr val="bg1"/>
                </a:solidFill>
                <a:latin typeface="Trade Gothic LT Std" panose="020B0503020502020204" pitchFamily="34" charset="0"/>
              </a:rPr>
              <a:t>Reloc</a:t>
            </a:r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 Projects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DE3936-3DF7-8FBE-B91C-DBAE91757305}"/>
              </a:ext>
            </a:extLst>
          </p:cNvPr>
          <p:cNvGrpSpPr/>
          <p:nvPr/>
        </p:nvGrpSpPr>
        <p:grpSpPr>
          <a:xfrm>
            <a:off x="803306" y="1038536"/>
            <a:ext cx="2022198" cy="1290116"/>
            <a:chOff x="4319887" y="1145894"/>
            <a:chExt cx="1645920" cy="1645920"/>
          </a:xfrm>
        </p:grpSpPr>
        <p:sp>
          <p:nvSpPr>
            <p:cNvPr id="11" name="Rectangle: Rounded Corners 10">
              <a:hlinkClick r:id="rId11" action="ppaction://hlinksldjump"/>
              <a:extLst>
                <a:ext uri="{FF2B5EF4-FFF2-40B4-BE49-F238E27FC236}">
                  <a16:creationId xmlns:a16="http://schemas.microsoft.com/office/drawing/2014/main" id="{CADBF463-B9D4-984A-2792-1B4C04B881D2}"/>
                </a:ext>
              </a:extLst>
            </p:cNvPr>
            <p:cNvSpPr/>
            <p:nvPr/>
          </p:nvSpPr>
          <p:spPr>
            <a:xfrm>
              <a:off x="4319887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92102B-3B4A-9416-E671-CC2B5DF8E9C4}"/>
                </a:ext>
              </a:extLst>
            </p:cNvPr>
            <p:cNvSpPr txBox="1"/>
            <p:nvPr/>
          </p:nvSpPr>
          <p:spPr>
            <a:xfrm>
              <a:off x="4319887" y="2304308"/>
              <a:ext cx="16366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CSI</a:t>
              </a:r>
            </a:p>
          </p:txBody>
        </p:sp>
      </p:grpSp>
      <p:pic>
        <p:nvPicPr>
          <p:cNvPr id="21" name="Graphic 20" descr="Ribbon with solid fill">
            <a:extLst>
              <a:ext uri="{FF2B5EF4-FFF2-40B4-BE49-F238E27FC236}">
                <a16:creationId xmlns:a16="http://schemas.microsoft.com/office/drawing/2014/main" id="{B41967DF-3B33-52DA-B35D-228666515F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61082" y="1080138"/>
            <a:ext cx="914400" cy="914400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DAB2FD3-93EB-554C-CD18-2E5F63FF1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221157"/>
              </p:ext>
            </p:extLst>
          </p:nvPr>
        </p:nvGraphicFramePr>
        <p:xfrm>
          <a:off x="3164974" y="1071617"/>
          <a:ext cx="8176638" cy="738620"/>
        </p:xfrm>
        <a:graphic>
          <a:graphicData uri="http://schemas.openxmlformats.org/drawingml/2006/table">
            <a:tbl>
              <a:tblPr/>
              <a:tblGrid>
                <a:gridCol w="647435">
                  <a:extLst>
                    <a:ext uri="{9D8B030D-6E8A-4147-A177-3AD203B41FA5}">
                      <a16:colId xmlns:a16="http://schemas.microsoft.com/office/drawing/2014/main" val="1262567335"/>
                    </a:ext>
                  </a:extLst>
                </a:gridCol>
                <a:gridCol w="2372704">
                  <a:extLst>
                    <a:ext uri="{9D8B030D-6E8A-4147-A177-3AD203B41FA5}">
                      <a16:colId xmlns:a16="http://schemas.microsoft.com/office/drawing/2014/main" val="147733644"/>
                    </a:ext>
                  </a:extLst>
                </a:gridCol>
                <a:gridCol w="1713626">
                  <a:extLst>
                    <a:ext uri="{9D8B030D-6E8A-4147-A177-3AD203B41FA5}">
                      <a16:colId xmlns:a16="http://schemas.microsoft.com/office/drawing/2014/main" val="2005037116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451654063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2243669209"/>
                    </a:ext>
                  </a:extLst>
                </a:gridCol>
                <a:gridCol w="500147">
                  <a:extLst>
                    <a:ext uri="{9D8B030D-6E8A-4147-A177-3AD203B41FA5}">
                      <a16:colId xmlns:a16="http://schemas.microsoft.com/office/drawing/2014/main" val="3665381608"/>
                    </a:ext>
                  </a:extLst>
                </a:gridCol>
                <a:gridCol w="1942432">
                  <a:extLst>
                    <a:ext uri="{9D8B030D-6E8A-4147-A177-3AD203B41FA5}">
                      <a16:colId xmlns:a16="http://schemas.microsoft.com/office/drawing/2014/main" val="753306904"/>
                    </a:ext>
                  </a:extLst>
                </a:gridCol>
              </a:tblGrid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 YE Perf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653217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Completion of Work Orders within Schedule related to Major Government Projects (BBBs)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592412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 of Work Orders within Schedule related to Major Government Projects (BBBs)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26946"/>
                  </a:ext>
                </a:extLst>
              </a:tr>
              <a:tr h="184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Connection Timeliness Index (CCTI)</a:t>
                      </a:r>
                    </a:p>
                  </a:txBody>
                  <a:tcPr marL="59657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% Completion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95%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98%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233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558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34C798-8B59-EFEF-E432-A770A83B74E3}"/>
              </a:ext>
            </a:extLst>
          </p:cNvPr>
          <p:cNvSpPr/>
          <p:nvPr/>
        </p:nvSpPr>
        <p:spPr>
          <a:xfrm>
            <a:off x="839074" y="2574019"/>
            <a:ext cx="2029968" cy="1763467"/>
          </a:xfrm>
          <a:custGeom>
            <a:avLst/>
            <a:gdLst>
              <a:gd name="connsiteX0" fmla="*/ 0 w 1686324"/>
              <a:gd name="connsiteY0" fmla="*/ 168632 h 1763467"/>
              <a:gd name="connsiteX1" fmla="*/ 168632 w 1686324"/>
              <a:gd name="connsiteY1" fmla="*/ 0 h 1763467"/>
              <a:gd name="connsiteX2" fmla="*/ 1517692 w 1686324"/>
              <a:gd name="connsiteY2" fmla="*/ 0 h 1763467"/>
              <a:gd name="connsiteX3" fmla="*/ 1686324 w 1686324"/>
              <a:gd name="connsiteY3" fmla="*/ 168632 h 1763467"/>
              <a:gd name="connsiteX4" fmla="*/ 1686324 w 1686324"/>
              <a:gd name="connsiteY4" fmla="*/ 1594835 h 1763467"/>
              <a:gd name="connsiteX5" fmla="*/ 1517692 w 1686324"/>
              <a:gd name="connsiteY5" fmla="*/ 1763467 h 1763467"/>
              <a:gd name="connsiteX6" fmla="*/ 168632 w 1686324"/>
              <a:gd name="connsiteY6" fmla="*/ 1763467 h 1763467"/>
              <a:gd name="connsiteX7" fmla="*/ 0 w 1686324"/>
              <a:gd name="connsiteY7" fmla="*/ 1594835 h 1763467"/>
              <a:gd name="connsiteX8" fmla="*/ 0 w 1686324"/>
              <a:gd name="connsiteY8" fmla="*/ 168632 h 176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763467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1594835"/>
                </a:lnTo>
                <a:cubicBezTo>
                  <a:pt x="1686324" y="1687968"/>
                  <a:pt x="1610825" y="1763467"/>
                  <a:pt x="1517692" y="1763467"/>
                </a:cubicBezTo>
                <a:lnTo>
                  <a:pt x="168632" y="1763467"/>
                </a:lnTo>
                <a:cubicBezTo>
                  <a:pt x="75499" y="1763467"/>
                  <a:pt x="0" y="1687968"/>
                  <a:pt x="0" y="1594835"/>
                </a:cubicBezTo>
                <a:lnTo>
                  <a:pt x="0" y="168632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Lost Time Incidents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7674B6-FE24-DCFD-1806-95A3BDF4C4D7}"/>
              </a:ext>
            </a:extLst>
          </p:cNvPr>
          <p:cNvSpPr/>
          <p:nvPr/>
        </p:nvSpPr>
        <p:spPr>
          <a:xfrm>
            <a:off x="839074" y="4608789"/>
            <a:ext cx="2029968" cy="1763467"/>
          </a:xfrm>
          <a:custGeom>
            <a:avLst/>
            <a:gdLst>
              <a:gd name="connsiteX0" fmla="*/ 0 w 1686324"/>
              <a:gd name="connsiteY0" fmla="*/ 168632 h 1763467"/>
              <a:gd name="connsiteX1" fmla="*/ 168632 w 1686324"/>
              <a:gd name="connsiteY1" fmla="*/ 0 h 1763467"/>
              <a:gd name="connsiteX2" fmla="*/ 1517692 w 1686324"/>
              <a:gd name="connsiteY2" fmla="*/ 0 h 1763467"/>
              <a:gd name="connsiteX3" fmla="*/ 1686324 w 1686324"/>
              <a:gd name="connsiteY3" fmla="*/ 168632 h 1763467"/>
              <a:gd name="connsiteX4" fmla="*/ 1686324 w 1686324"/>
              <a:gd name="connsiteY4" fmla="*/ 1594835 h 1763467"/>
              <a:gd name="connsiteX5" fmla="*/ 1517692 w 1686324"/>
              <a:gd name="connsiteY5" fmla="*/ 1763467 h 1763467"/>
              <a:gd name="connsiteX6" fmla="*/ 168632 w 1686324"/>
              <a:gd name="connsiteY6" fmla="*/ 1763467 h 1763467"/>
              <a:gd name="connsiteX7" fmla="*/ 0 w 1686324"/>
              <a:gd name="connsiteY7" fmla="*/ 1594835 h 1763467"/>
              <a:gd name="connsiteX8" fmla="*/ 0 w 1686324"/>
              <a:gd name="connsiteY8" fmla="*/ 168632 h 176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1763467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1594835"/>
                </a:lnTo>
                <a:cubicBezTo>
                  <a:pt x="1686324" y="1687968"/>
                  <a:pt x="1610825" y="1763467"/>
                  <a:pt x="1517692" y="1763467"/>
                </a:cubicBezTo>
                <a:lnTo>
                  <a:pt x="168632" y="1763467"/>
                </a:lnTo>
                <a:cubicBezTo>
                  <a:pt x="75499" y="1763467"/>
                  <a:pt x="0" y="1687968"/>
                  <a:pt x="0" y="1594835"/>
                </a:cubicBezTo>
                <a:lnTo>
                  <a:pt x="0" y="168632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Fatality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B09885-0C79-5BA8-6DC4-BA3BA1F5B871}"/>
              </a:ext>
            </a:extLst>
          </p:cNvPr>
          <p:cNvGrpSpPr/>
          <p:nvPr/>
        </p:nvGrpSpPr>
        <p:grpSpPr>
          <a:xfrm>
            <a:off x="839074" y="1026472"/>
            <a:ext cx="2029968" cy="1290116"/>
            <a:chOff x="8998819" y="551407"/>
            <a:chExt cx="1650564" cy="1645920"/>
          </a:xfrm>
        </p:grpSpPr>
        <p:sp>
          <p:nvSpPr>
            <p:cNvPr id="10" name="Rectangle: Rounded Corners 9">
              <a:hlinkClick r:id="rId10" action="ppaction://hlinksldjump"/>
              <a:extLst>
                <a:ext uri="{FF2B5EF4-FFF2-40B4-BE49-F238E27FC236}">
                  <a16:creationId xmlns:a16="http://schemas.microsoft.com/office/drawing/2014/main" id="{EE69B447-06BB-9DA8-9904-2E188B915104}"/>
                </a:ext>
              </a:extLst>
            </p:cNvPr>
            <p:cNvSpPr/>
            <p:nvPr/>
          </p:nvSpPr>
          <p:spPr>
            <a:xfrm>
              <a:off x="9003463" y="551407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BB4F4E-F192-7D8A-C1EC-C7D4A7240D5B}"/>
                </a:ext>
              </a:extLst>
            </p:cNvPr>
            <p:cNvSpPr txBox="1"/>
            <p:nvPr/>
          </p:nvSpPr>
          <p:spPr>
            <a:xfrm>
              <a:off x="8998819" y="1737965"/>
              <a:ext cx="1650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LTIFR</a:t>
              </a:r>
            </a:p>
          </p:txBody>
        </p:sp>
      </p:grpSp>
      <p:pic>
        <p:nvPicPr>
          <p:cNvPr id="12" name="Graphic 11" descr="Construction worker male with solid fill">
            <a:extLst>
              <a:ext uri="{FF2B5EF4-FFF2-40B4-BE49-F238E27FC236}">
                <a16:creationId xmlns:a16="http://schemas.microsoft.com/office/drawing/2014/main" id="{962C09A7-9445-4DC3-73AF-698FB0E3D9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10638" y="1120138"/>
            <a:ext cx="902152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C86BB8-B566-7676-2EA5-706FBEDCF4A6}"/>
              </a:ext>
            </a:extLst>
          </p:cNvPr>
          <p:cNvSpPr txBox="1"/>
          <p:nvPr/>
        </p:nvSpPr>
        <p:spPr>
          <a:xfrm>
            <a:off x="3737497" y="2464822"/>
            <a:ext cx="2513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solidFill>
                  <a:schemeClr val="accent1"/>
                </a:solidFill>
              </a:rPr>
              <a:t>LOST TIME INCIDENTS</a:t>
            </a:r>
          </a:p>
          <a:p>
            <a:pPr algn="ctr"/>
            <a:r>
              <a:rPr lang="en-US" sz="2000" b="1">
                <a:solidFill>
                  <a:schemeClr val="accent1"/>
                </a:solidFill>
              </a:rPr>
              <a:t>Number of Cases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1EC0F-09A1-24D1-3727-CAEDD5F7112D}"/>
              </a:ext>
            </a:extLst>
          </p:cNvPr>
          <p:cNvSpPr txBox="1"/>
          <p:nvPr/>
        </p:nvSpPr>
        <p:spPr>
          <a:xfrm>
            <a:off x="8283023" y="2464822"/>
            <a:ext cx="19912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>
                <a:solidFill>
                  <a:schemeClr val="accent1"/>
                </a:solidFill>
              </a:rPr>
              <a:t>FATALITY</a:t>
            </a:r>
          </a:p>
          <a:p>
            <a:pPr algn="ctr"/>
            <a:r>
              <a:rPr lang="en-US" sz="2000" b="1">
                <a:solidFill>
                  <a:schemeClr val="accent1"/>
                </a:solidFill>
              </a:rPr>
              <a:t>Number of Cases</a:t>
            </a:r>
          </a:p>
        </p:txBody>
      </p:sp>
      <p:pic>
        <p:nvPicPr>
          <p:cNvPr id="7170" name="Picture 2" descr="Safety First Board. Construction Site Sign. Caution. Warning. Stock ...">
            <a:extLst>
              <a:ext uri="{FF2B5EF4-FFF2-40B4-BE49-F238E27FC236}">
                <a16:creationId xmlns:a16="http://schemas.microsoft.com/office/drawing/2014/main" id="{6C688C0E-D8A9-3C71-5F7B-E409AA9E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902" y="5198380"/>
            <a:ext cx="2277162" cy="104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885CF81-C97E-A24E-67F4-A8A8ADD18307}"/>
              </a:ext>
            </a:extLst>
          </p:cNvPr>
          <p:cNvSpPr txBox="1"/>
          <p:nvPr/>
        </p:nvSpPr>
        <p:spPr>
          <a:xfrm>
            <a:off x="4687147" y="3137157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i="1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1701BE-606C-4BB2-D578-7D65E2A99972}"/>
              </a:ext>
            </a:extLst>
          </p:cNvPr>
          <p:cNvSpPr txBox="1"/>
          <p:nvPr/>
        </p:nvSpPr>
        <p:spPr>
          <a:xfrm>
            <a:off x="9006379" y="3137157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i="1">
                <a:solidFill>
                  <a:schemeClr val="accent1"/>
                </a:solidFill>
              </a:rPr>
              <a:t>0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B67B721-65EE-C835-13B1-B249C790F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74355"/>
              </p:ext>
            </p:extLst>
          </p:nvPr>
        </p:nvGraphicFramePr>
        <p:xfrm>
          <a:off x="3210290" y="1061614"/>
          <a:ext cx="8024015" cy="822729"/>
        </p:xfrm>
        <a:graphic>
          <a:graphicData uri="http://schemas.openxmlformats.org/drawingml/2006/table">
            <a:tbl>
              <a:tblPr/>
              <a:tblGrid>
                <a:gridCol w="2199910">
                  <a:extLst>
                    <a:ext uri="{9D8B030D-6E8A-4147-A177-3AD203B41FA5}">
                      <a16:colId xmlns:a16="http://schemas.microsoft.com/office/drawing/2014/main" val="2466866494"/>
                    </a:ext>
                  </a:extLst>
                </a:gridCol>
                <a:gridCol w="1265285">
                  <a:extLst>
                    <a:ext uri="{9D8B030D-6E8A-4147-A177-3AD203B41FA5}">
                      <a16:colId xmlns:a16="http://schemas.microsoft.com/office/drawing/2014/main" val="993067803"/>
                    </a:ext>
                  </a:extLst>
                </a:gridCol>
                <a:gridCol w="662261">
                  <a:extLst>
                    <a:ext uri="{9D8B030D-6E8A-4147-A177-3AD203B41FA5}">
                      <a16:colId xmlns:a16="http://schemas.microsoft.com/office/drawing/2014/main" val="1578690715"/>
                    </a:ext>
                  </a:extLst>
                </a:gridCol>
                <a:gridCol w="662261">
                  <a:extLst>
                    <a:ext uri="{9D8B030D-6E8A-4147-A177-3AD203B41FA5}">
                      <a16:colId xmlns:a16="http://schemas.microsoft.com/office/drawing/2014/main" val="3562650749"/>
                    </a:ext>
                  </a:extLst>
                </a:gridCol>
                <a:gridCol w="662261">
                  <a:extLst>
                    <a:ext uri="{9D8B030D-6E8A-4147-A177-3AD203B41FA5}">
                      <a16:colId xmlns:a16="http://schemas.microsoft.com/office/drawing/2014/main" val="1817076300"/>
                    </a:ext>
                  </a:extLst>
                </a:gridCol>
                <a:gridCol w="2572037">
                  <a:extLst>
                    <a:ext uri="{9D8B030D-6E8A-4147-A177-3AD203B41FA5}">
                      <a16:colId xmlns:a16="http://schemas.microsoft.com/office/drawing/2014/main" val="3385426153"/>
                    </a:ext>
                  </a:extLst>
                </a:gridCol>
              </a:tblGrid>
              <a:tr h="2742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490030"/>
                  </a:ext>
                </a:extLst>
              </a:tr>
              <a:tr h="274243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Lost Time Incidents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233918"/>
                  </a:ext>
                </a:extLst>
              </a:tr>
              <a:tr h="274243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Fatality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84165"/>
                  </a:ext>
                </a:extLst>
              </a:tr>
            </a:tbl>
          </a:graphicData>
        </a:graphic>
      </p:graphicFrame>
      <p:pic>
        <p:nvPicPr>
          <p:cNvPr id="33" name="Picture 2" descr="Safety First Board. Construction Site Sign. Caution. Warning. Stock ...">
            <a:extLst>
              <a:ext uri="{FF2B5EF4-FFF2-40B4-BE49-F238E27FC236}">
                <a16:creationId xmlns:a16="http://schemas.microsoft.com/office/drawing/2014/main" id="{A8CA60CE-380E-54D9-A217-6A4E17F78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0202" y="5198380"/>
            <a:ext cx="2277162" cy="104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Safety First Board. Construction Site Sign. Caution. Warning. Stock ...">
            <a:extLst>
              <a:ext uri="{FF2B5EF4-FFF2-40B4-BE49-F238E27FC236}">
                <a16:creationId xmlns:a16="http://schemas.microsoft.com/office/drawing/2014/main" id="{090DBB10-236E-959D-E371-72D4C878D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602" y="5198380"/>
            <a:ext cx="2277162" cy="104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731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3DD04E-6374-078A-2261-E7880D77CF51}"/>
              </a:ext>
            </a:extLst>
          </p:cNvPr>
          <p:cNvSpPr/>
          <p:nvPr/>
        </p:nvSpPr>
        <p:spPr>
          <a:xfrm>
            <a:off x="8364997" y="91352"/>
            <a:ext cx="3308852" cy="1742363"/>
          </a:xfrm>
          <a:prstGeom prst="roundRect">
            <a:avLst>
              <a:gd name="adj" fmla="val 2807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26" name="Rectangle: Single Corner Snipped 25">
            <a:extLst>
              <a:ext uri="{FF2B5EF4-FFF2-40B4-BE49-F238E27FC236}">
                <a16:creationId xmlns:a16="http://schemas.microsoft.com/office/drawing/2014/main" id="{7A18999A-F21D-42EB-A746-B040F34F5B87}"/>
              </a:ext>
            </a:extLst>
          </p:cNvPr>
          <p:cNvSpPr/>
          <p:nvPr/>
        </p:nvSpPr>
        <p:spPr>
          <a:xfrm flipH="1">
            <a:off x="4008349" y="91353"/>
            <a:ext cx="7119182" cy="1487190"/>
          </a:xfrm>
          <a:prstGeom prst="snip1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E9EC1EA-340F-1CC7-6530-28A9F3FD2A63}"/>
              </a:ext>
            </a:extLst>
          </p:cNvPr>
          <p:cNvGrpSpPr/>
          <p:nvPr/>
        </p:nvGrpSpPr>
        <p:grpSpPr>
          <a:xfrm>
            <a:off x="525384" y="339938"/>
            <a:ext cx="4114799" cy="1043435"/>
            <a:chOff x="521768" y="469979"/>
            <a:chExt cx="4114799" cy="1043435"/>
          </a:xfrm>
          <a:solidFill>
            <a:srgbClr val="C6C7E3"/>
          </a:solidFill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3B467A5-AD80-C0D5-A7FC-F02D6072ADF6}"/>
                </a:ext>
              </a:extLst>
            </p:cNvPr>
            <p:cNvSpPr/>
            <p:nvPr/>
          </p:nvSpPr>
          <p:spPr>
            <a:xfrm>
              <a:off x="521768" y="470998"/>
              <a:ext cx="3200400" cy="1042416"/>
            </a:xfrm>
            <a:prstGeom prst="roundRect">
              <a:avLst>
                <a:gd name="adj" fmla="val 280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31" name="Rectangle: Single Corner Snipped 130">
              <a:extLst>
                <a:ext uri="{FF2B5EF4-FFF2-40B4-BE49-F238E27FC236}">
                  <a16:creationId xmlns:a16="http://schemas.microsoft.com/office/drawing/2014/main" id="{92041E74-20E7-436A-EF7D-555F9D4B881E}"/>
                </a:ext>
              </a:extLst>
            </p:cNvPr>
            <p:cNvSpPr/>
            <p:nvPr/>
          </p:nvSpPr>
          <p:spPr>
            <a:xfrm>
              <a:off x="804334" y="469979"/>
              <a:ext cx="3832233" cy="1042416"/>
            </a:xfrm>
            <a:prstGeom prst="snip1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C5F969F0-57E5-3AAD-0D6A-805D8BC2C9AE}"/>
              </a:ext>
            </a:extLst>
          </p:cNvPr>
          <p:cNvSpPr/>
          <p:nvPr/>
        </p:nvSpPr>
        <p:spPr>
          <a:xfrm>
            <a:off x="518150" y="842945"/>
            <a:ext cx="11155699" cy="5675117"/>
          </a:xfrm>
          <a:prstGeom prst="roundRect">
            <a:avLst>
              <a:gd name="adj" fmla="val 6628"/>
            </a:avLst>
          </a:prstGeom>
          <a:solidFill>
            <a:srgbClr val="E6E6E6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>
              <a:latin typeface="Trade Gothic LT Std" panose="020B05030205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B5588-A516-BCB9-9BE8-3281A6EBFCE8}"/>
              </a:ext>
            </a:extLst>
          </p:cNvPr>
          <p:cNvSpPr txBox="1"/>
          <p:nvPr/>
        </p:nvSpPr>
        <p:spPr>
          <a:xfrm>
            <a:off x="722439" y="361119"/>
            <a:ext cx="3448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171C8F"/>
                </a:solidFill>
                <a:latin typeface="Trade Gothic LT Std Bold" panose="020B0503020502020204" pitchFamily="34" charset="0"/>
              </a:rPr>
              <a:t>CONSTRUCTION TEAM 1</a:t>
            </a:r>
            <a:endParaRPr lang="en-US" sz="2400">
              <a:solidFill>
                <a:srgbClr val="171C8F"/>
              </a:solidFill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AAC21AF2-D947-BB65-B8AA-A91886DF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143911" y="238548"/>
            <a:ext cx="457200" cy="457200"/>
          </a:xfrm>
          <a:prstGeom prst="rect">
            <a:avLst/>
          </a:prstGeom>
        </p:spPr>
      </p:pic>
      <p:pic>
        <p:nvPicPr>
          <p:cNvPr id="15" name="Picture 14">
            <a:hlinkClick r:id="rId2" action="ppaction://hlinksldjump"/>
            <a:extLst>
              <a:ext uri="{FF2B5EF4-FFF2-40B4-BE49-F238E27FC236}">
                <a16:creationId xmlns:a16="http://schemas.microsoft.com/office/drawing/2014/main" id="{0E16AB4A-4D85-0995-04E1-0CEC78FDC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212" y="238548"/>
            <a:ext cx="458893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4CCCF6-1432-C8D2-126E-84D1B38C3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413" y="238548"/>
            <a:ext cx="458893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39A19-8BD4-5475-9C34-A6A5778F1E5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8910" y="238548"/>
            <a:ext cx="458893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B1D527-48F7-D308-1C02-F7F5C7DF906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9722407" y="238548"/>
            <a:ext cx="458893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DCBF55-E062-CF06-E756-0E5ACBA6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198226" y="238548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0D7B5E-E1A9-2D92-6549-60BBC8C049E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671147" y="238548"/>
            <a:ext cx="458893" cy="4572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BA29EF8-AEC1-271E-BD53-C1706F7D95CE}"/>
              </a:ext>
            </a:extLst>
          </p:cNvPr>
          <p:cNvSpPr/>
          <p:nvPr/>
        </p:nvSpPr>
        <p:spPr>
          <a:xfrm>
            <a:off x="797757" y="2504929"/>
            <a:ext cx="2029968" cy="3801664"/>
          </a:xfrm>
          <a:custGeom>
            <a:avLst/>
            <a:gdLst>
              <a:gd name="connsiteX0" fmla="*/ 0 w 1686324"/>
              <a:gd name="connsiteY0" fmla="*/ 168632 h 3801664"/>
              <a:gd name="connsiteX1" fmla="*/ 168632 w 1686324"/>
              <a:gd name="connsiteY1" fmla="*/ 0 h 3801664"/>
              <a:gd name="connsiteX2" fmla="*/ 1517692 w 1686324"/>
              <a:gd name="connsiteY2" fmla="*/ 0 h 3801664"/>
              <a:gd name="connsiteX3" fmla="*/ 1686324 w 1686324"/>
              <a:gd name="connsiteY3" fmla="*/ 168632 h 3801664"/>
              <a:gd name="connsiteX4" fmla="*/ 1686324 w 1686324"/>
              <a:gd name="connsiteY4" fmla="*/ 3633032 h 3801664"/>
              <a:gd name="connsiteX5" fmla="*/ 1517692 w 1686324"/>
              <a:gd name="connsiteY5" fmla="*/ 3801664 h 3801664"/>
              <a:gd name="connsiteX6" fmla="*/ 168632 w 1686324"/>
              <a:gd name="connsiteY6" fmla="*/ 3801664 h 3801664"/>
              <a:gd name="connsiteX7" fmla="*/ 0 w 1686324"/>
              <a:gd name="connsiteY7" fmla="*/ 3633032 h 3801664"/>
              <a:gd name="connsiteX8" fmla="*/ 0 w 1686324"/>
              <a:gd name="connsiteY8" fmla="*/ 168632 h 380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324" h="3801664">
                <a:moveTo>
                  <a:pt x="0" y="168632"/>
                </a:moveTo>
                <a:cubicBezTo>
                  <a:pt x="0" y="75499"/>
                  <a:pt x="75499" y="0"/>
                  <a:pt x="168632" y="0"/>
                </a:cubicBezTo>
                <a:lnTo>
                  <a:pt x="1517692" y="0"/>
                </a:lnTo>
                <a:cubicBezTo>
                  <a:pt x="1610825" y="0"/>
                  <a:pt x="1686324" y="75499"/>
                  <a:pt x="1686324" y="168632"/>
                </a:cubicBezTo>
                <a:lnTo>
                  <a:pt x="1686324" y="3633032"/>
                </a:lnTo>
                <a:cubicBezTo>
                  <a:pt x="1686324" y="3726165"/>
                  <a:pt x="1610825" y="3801664"/>
                  <a:pt x="1517692" y="3801664"/>
                </a:cubicBezTo>
                <a:lnTo>
                  <a:pt x="168632" y="3801664"/>
                </a:lnTo>
                <a:cubicBezTo>
                  <a:pt x="75499" y="3801664"/>
                  <a:pt x="0" y="3726165"/>
                  <a:pt x="0" y="3633032"/>
                </a:cubicBezTo>
                <a:lnTo>
                  <a:pt x="0" y="168632"/>
                </a:lnTo>
                <a:close/>
              </a:path>
            </a:pathLst>
          </a:custGeom>
          <a:solidFill>
            <a:srgbClr val="5155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  <a:latin typeface="Trade Gothic LT Std" panose="020B0503020502020204" pitchFamily="34" charset="0"/>
              </a:rPr>
              <a:t>Natural Ester-oil Pole Mounted DTs Installation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22818-620A-C1BB-E5AB-9BE953E9C3E4}"/>
              </a:ext>
            </a:extLst>
          </p:cNvPr>
          <p:cNvGrpSpPr/>
          <p:nvPr/>
        </p:nvGrpSpPr>
        <p:grpSpPr>
          <a:xfrm>
            <a:off x="807950" y="1024915"/>
            <a:ext cx="2022297" cy="1290117"/>
            <a:chOff x="10064350" y="1145894"/>
            <a:chExt cx="1650564" cy="1645920"/>
          </a:xfrm>
        </p:grpSpPr>
        <p:sp>
          <p:nvSpPr>
            <p:cNvPr id="14" name="Rectangle: Rounded Corners 13">
              <a:hlinkClick r:id="rId10" action="ppaction://hlinksldjump"/>
              <a:extLst>
                <a:ext uri="{FF2B5EF4-FFF2-40B4-BE49-F238E27FC236}">
                  <a16:creationId xmlns:a16="http://schemas.microsoft.com/office/drawing/2014/main" id="{E024D78B-E549-7633-B723-CDFB33A162AF}"/>
                </a:ext>
              </a:extLst>
            </p:cNvPr>
            <p:cNvSpPr/>
            <p:nvPr/>
          </p:nvSpPr>
          <p:spPr>
            <a:xfrm>
              <a:off x="10066672" y="1145894"/>
              <a:ext cx="1645920" cy="1645920"/>
            </a:xfrm>
            <a:prstGeom prst="roundRect">
              <a:avLst>
                <a:gd name="adj" fmla="val 103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>
                <a:latin typeface="Trade Gothic LT Std" panose="020B05030205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EDD13E-DA64-565D-E9FF-EB9C052FE6DE}"/>
                </a:ext>
              </a:extLst>
            </p:cNvPr>
            <p:cNvSpPr txBox="1"/>
            <p:nvPr/>
          </p:nvSpPr>
          <p:spPr>
            <a:xfrm>
              <a:off x="10064350" y="2298801"/>
              <a:ext cx="1650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Trade Gothic LT Std" panose="020B0503020502020204" pitchFamily="34" charset="0"/>
                </a:rPr>
                <a:t>SUSTAINABILITY</a:t>
              </a:r>
            </a:p>
          </p:txBody>
        </p:sp>
      </p:grpSp>
      <p:pic>
        <p:nvPicPr>
          <p:cNvPr id="19" name="Graphic 18" descr="Sustainability with solid fill">
            <a:extLst>
              <a:ext uri="{FF2B5EF4-FFF2-40B4-BE49-F238E27FC236}">
                <a16:creationId xmlns:a16="http://schemas.microsoft.com/office/drawing/2014/main" id="{80F16AE8-398F-11FC-CF35-C365C88703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8063" y="1072351"/>
            <a:ext cx="914400" cy="914400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D1F79EB-EB03-07C1-2C91-02F0FAB96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81502"/>
              </p:ext>
            </p:extLst>
          </p:nvPr>
        </p:nvGraphicFramePr>
        <p:xfrm>
          <a:off x="3118139" y="1091945"/>
          <a:ext cx="8116168" cy="836650"/>
        </p:xfrm>
        <a:graphic>
          <a:graphicData uri="http://schemas.openxmlformats.org/drawingml/2006/table">
            <a:tbl>
              <a:tblPr/>
              <a:tblGrid>
                <a:gridCol w="2835124">
                  <a:extLst>
                    <a:ext uri="{9D8B030D-6E8A-4147-A177-3AD203B41FA5}">
                      <a16:colId xmlns:a16="http://schemas.microsoft.com/office/drawing/2014/main" val="2466866494"/>
                    </a:ext>
                  </a:extLst>
                </a:gridCol>
                <a:gridCol w="669867">
                  <a:extLst>
                    <a:ext uri="{9D8B030D-6E8A-4147-A177-3AD203B41FA5}">
                      <a16:colId xmlns:a16="http://schemas.microsoft.com/office/drawing/2014/main" val="993067803"/>
                    </a:ext>
                  </a:extLst>
                </a:gridCol>
                <a:gridCol w="669867">
                  <a:extLst>
                    <a:ext uri="{9D8B030D-6E8A-4147-A177-3AD203B41FA5}">
                      <a16:colId xmlns:a16="http://schemas.microsoft.com/office/drawing/2014/main" val="1578690715"/>
                    </a:ext>
                  </a:extLst>
                </a:gridCol>
                <a:gridCol w="669867">
                  <a:extLst>
                    <a:ext uri="{9D8B030D-6E8A-4147-A177-3AD203B41FA5}">
                      <a16:colId xmlns:a16="http://schemas.microsoft.com/office/drawing/2014/main" val="3562650749"/>
                    </a:ext>
                  </a:extLst>
                </a:gridCol>
                <a:gridCol w="669867">
                  <a:extLst>
                    <a:ext uri="{9D8B030D-6E8A-4147-A177-3AD203B41FA5}">
                      <a16:colId xmlns:a16="http://schemas.microsoft.com/office/drawing/2014/main" val="1817076300"/>
                    </a:ext>
                  </a:extLst>
                </a:gridCol>
                <a:gridCol w="2601576">
                  <a:extLst>
                    <a:ext uri="{9D8B030D-6E8A-4147-A177-3AD203B41FA5}">
                      <a16:colId xmlns:a16="http://schemas.microsoft.com/office/drawing/2014/main" val="3385426153"/>
                    </a:ext>
                  </a:extLst>
                </a:gridCol>
              </a:tblGrid>
              <a:tr h="41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1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Stretch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 Perf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490030"/>
                  </a:ext>
                </a:extLst>
              </a:tr>
              <a:tr h="41832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Natural Ester-oil Pole Mounted DTs Installation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Units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14,009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47539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036EFE-FF63-C444-E0F1-53AC8125C804}"/>
              </a:ext>
            </a:extLst>
          </p:cNvPr>
          <p:cNvSpPr txBox="1"/>
          <p:nvPr/>
        </p:nvSpPr>
        <p:spPr>
          <a:xfrm rot="19800000">
            <a:off x="4432674" y="3514168"/>
            <a:ext cx="56359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chemeClr val="bg2">
                    <a:lumMod val="75000"/>
                  </a:schemeClr>
                </a:solidFill>
              </a:rPr>
              <a:t>NO DATA YET</a:t>
            </a:r>
          </a:p>
        </p:txBody>
      </p:sp>
    </p:spTree>
    <p:extLst>
      <p:ext uri="{BB962C8B-B14F-4D97-AF65-F5344CB8AC3E}">
        <p14:creationId xmlns:p14="http://schemas.microsoft.com/office/powerpoint/2010/main" val="5249106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333380-6356-A59D-48E2-2ED734C98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04801"/>
              </p:ext>
            </p:extLst>
          </p:nvPr>
        </p:nvGraphicFramePr>
        <p:xfrm>
          <a:off x="139700" y="1"/>
          <a:ext cx="11912604" cy="6705599"/>
        </p:xfrm>
        <a:graphic>
          <a:graphicData uri="http://schemas.openxmlformats.org/drawingml/2006/table">
            <a:tbl>
              <a:tblPr bandRow="1"/>
              <a:tblGrid>
                <a:gridCol w="967052">
                  <a:extLst>
                    <a:ext uri="{9D8B030D-6E8A-4147-A177-3AD203B41FA5}">
                      <a16:colId xmlns:a16="http://schemas.microsoft.com/office/drawing/2014/main" val="450472609"/>
                    </a:ext>
                  </a:extLst>
                </a:gridCol>
                <a:gridCol w="288294">
                  <a:extLst>
                    <a:ext uri="{9D8B030D-6E8A-4147-A177-3AD203B41FA5}">
                      <a16:colId xmlns:a16="http://schemas.microsoft.com/office/drawing/2014/main" val="2846642897"/>
                    </a:ext>
                  </a:extLst>
                </a:gridCol>
                <a:gridCol w="3530244">
                  <a:extLst>
                    <a:ext uri="{9D8B030D-6E8A-4147-A177-3AD203B41FA5}">
                      <a16:colId xmlns:a16="http://schemas.microsoft.com/office/drawing/2014/main" val="2950019602"/>
                    </a:ext>
                  </a:extLst>
                </a:gridCol>
                <a:gridCol w="818259">
                  <a:extLst>
                    <a:ext uri="{9D8B030D-6E8A-4147-A177-3AD203B41FA5}">
                      <a16:colId xmlns:a16="http://schemas.microsoft.com/office/drawing/2014/main" val="1696379551"/>
                    </a:ext>
                  </a:extLst>
                </a:gridCol>
                <a:gridCol w="818259">
                  <a:extLst>
                    <a:ext uri="{9D8B030D-6E8A-4147-A177-3AD203B41FA5}">
                      <a16:colId xmlns:a16="http://schemas.microsoft.com/office/drawing/2014/main" val="1323916377"/>
                    </a:ext>
                  </a:extLst>
                </a:gridCol>
                <a:gridCol w="818259">
                  <a:extLst>
                    <a:ext uri="{9D8B030D-6E8A-4147-A177-3AD203B41FA5}">
                      <a16:colId xmlns:a16="http://schemas.microsoft.com/office/drawing/2014/main" val="2099710791"/>
                    </a:ext>
                  </a:extLst>
                </a:gridCol>
                <a:gridCol w="605608">
                  <a:extLst>
                    <a:ext uri="{9D8B030D-6E8A-4147-A177-3AD203B41FA5}">
                      <a16:colId xmlns:a16="http://schemas.microsoft.com/office/drawing/2014/main" val="28322415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2585109813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1571218749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3883761559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2194804124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2011481743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2752401277"/>
                    </a:ext>
                  </a:extLst>
                </a:gridCol>
                <a:gridCol w="580947">
                  <a:extLst>
                    <a:ext uri="{9D8B030D-6E8A-4147-A177-3AD203B41FA5}">
                      <a16:colId xmlns:a16="http://schemas.microsoft.com/office/drawing/2014/main" val="3752804994"/>
                    </a:ext>
                  </a:extLst>
                </a:gridCol>
              </a:tblGrid>
              <a:tr h="377982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PARANAQUE - C1 [ 2025 YTD PERFORMANCE 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Paranaque C1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702681"/>
                  </a:ext>
                </a:extLst>
              </a:tr>
              <a:tr h="250276">
                <a:tc rowSpan="2"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GAINS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Weight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Target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Stretch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MONTHLY MONITORING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76712"/>
                  </a:ext>
                </a:extLst>
              </a:tr>
              <a:tr h="250276">
                <a:tc vMerge="1"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JAN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FEB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APR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JUN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JUL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979500"/>
                  </a:ext>
                </a:extLst>
              </a:tr>
              <a:tr h="388471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Energy Sales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Customer Connection Timeliness Index (CCTI)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1.27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617688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Conversion Rate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93.8%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25.60%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39.27%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51.76%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56.31%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76.0%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69.42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908978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Ageing PCAs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47.27%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53.33%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71.82%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80.36%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786475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Adherence to approved PAI SAIDI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adherence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within ±10%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within ±5%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-6.14%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-9.56%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-6.2%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753240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Termination/Modification APT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88.37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86572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PCA Termination Resolution of Pending PCA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44307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 Resolution Duration Index (PRDI)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1.63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815288"/>
                  </a:ext>
                </a:extLst>
              </a:tr>
              <a:tr h="3884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CAPEX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Implementation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WO Cost Settlement to RAB (Mid-Year)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3.240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3.300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2.000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281160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WO Cost Settlement to RAB (Year-End)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WO Cost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6.470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6.590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2.000 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972222"/>
                  </a:ext>
                </a:extLst>
              </a:tr>
              <a:tr h="38847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Quality Management Index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8739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DPWH &amp;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Priority Gov't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4.76%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19.05%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23.81%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23.81%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34.38%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345032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Completion of BBB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Reloc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938272"/>
                  </a:ext>
                </a:extLst>
              </a:tr>
              <a:tr h="3884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Lost Time Incident Frequency Ratio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Lost Time Incidents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984717"/>
                  </a:ext>
                </a:extLst>
              </a:tr>
              <a:tr h="3884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AE21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OL3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Fatality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Cases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58757"/>
                  </a:ext>
                </a:extLst>
              </a:tr>
              <a:tr h="3884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Sustainability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OL1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Natural Ester-oil Pole Mounted DTs Installation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NDY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4,403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341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66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ralco Brand Colors 1">
      <a:dk1>
        <a:srgbClr val="000000"/>
      </a:dk1>
      <a:lt1>
        <a:srgbClr val="FFFFFF"/>
      </a:lt1>
      <a:dk2>
        <a:srgbClr val="F16623"/>
      </a:dk2>
      <a:lt2>
        <a:srgbClr val="E7E6E6"/>
      </a:lt2>
      <a:accent1>
        <a:srgbClr val="171B8E"/>
      </a:accent1>
      <a:accent2>
        <a:srgbClr val="06B2BC"/>
      </a:accent2>
      <a:accent3>
        <a:srgbClr val="38F7B9"/>
      </a:accent3>
      <a:accent4>
        <a:srgbClr val="7EB700"/>
      </a:accent4>
      <a:accent5>
        <a:srgbClr val="F7AE21"/>
      </a:accent5>
      <a:accent6>
        <a:srgbClr val="EE4C69"/>
      </a:accent6>
      <a:hlink>
        <a:srgbClr val="171B8E"/>
      </a:hlink>
      <a:folHlink>
        <a:srgbClr val="06B2B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 Line.pptx" id="{30A7EBA5-F983-400D-BF2F-AAB47EFA3CFB}" vid="{1641FF02-D2CB-4CD6-A2B3-E33B2A6E3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Meralco Brand Colors 1">
    <a:dk1>
      <a:srgbClr val="000000"/>
    </a:dk1>
    <a:lt1>
      <a:srgbClr val="FFFFFF"/>
    </a:lt1>
    <a:dk2>
      <a:srgbClr val="F16623"/>
    </a:dk2>
    <a:lt2>
      <a:srgbClr val="E7E6E6"/>
    </a:lt2>
    <a:accent1>
      <a:srgbClr val="171B8E"/>
    </a:accent1>
    <a:accent2>
      <a:srgbClr val="06B2BC"/>
    </a:accent2>
    <a:accent3>
      <a:srgbClr val="38F7B9"/>
    </a:accent3>
    <a:accent4>
      <a:srgbClr val="7EB700"/>
    </a:accent4>
    <a:accent5>
      <a:srgbClr val="F7AE21"/>
    </a:accent5>
    <a:accent6>
      <a:srgbClr val="EE4C69"/>
    </a:accent6>
    <a:hlink>
      <a:srgbClr val="171B8E"/>
    </a:hlink>
    <a:folHlink>
      <a:srgbClr val="06B2BC"/>
    </a:folHlink>
  </a:clrScheme>
</a:themeOverride>
</file>

<file path=ppt/theme/themeOverride3.xml><?xml version="1.0" encoding="utf-8"?>
<a:themeOverride xmlns:a="http://schemas.openxmlformats.org/drawingml/2006/main">
  <a:clrScheme name="Meralco Brand Colors 1">
    <a:dk1>
      <a:srgbClr val="000000"/>
    </a:dk1>
    <a:lt1>
      <a:srgbClr val="FFFFFF"/>
    </a:lt1>
    <a:dk2>
      <a:srgbClr val="F16623"/>
    </a:dk2>
    <a:lt2>
      <a:srgbClr val="E7E6E6"/>
    </a:lt2>
    <a:accent1>
      <a:srgbClr val="171B8E"/>
    </a:accent1>
    <a:accent2>
      <a:srgbClr val="06B2BC"/>
    </a:accent2>
    <a:accent3>
      <a:srgbClr val="38F7B9"/>
    </a:accent3>
    <a:accent4>
      <a:srgbClr val="7EB700"/>
    </a:accent4>
    <a:accent5>
      <a:srgbClr val="F7AE21"/>
    </a:accent5>
    <a:accent6>
      <a:srgbClr val="EE4C69"/>
    </a:accent6>
    <a:hlink>
      <a:srgbClr val="171B8E"/>
    </a:hlink>
    <a:folHlink>
      <a:srgbClr val="06B2B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14604</TotalTime>
  <Words>6187</Words>
  <Application>Microsoft Office PowerPoint</Application>
  <PresentationFormat>Widescreen</PresentationFormat>
  <Paragraphs>2547</Paragraphs>
  <Slides>45</Slides>
  <Notes>25</Notes>
  <HiddenSlides>15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Connection Construction Timeliness Index (CCTI)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Resolution Duration Index (PRDI)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Manila Electric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Justine G. Ramos</dc:creator>
  <cp:lastModifiedBy>Erika Mae A. Orlina</cp:lastModifiedBy>
  <cp:revision>17</cp:revision>
  <dcterms:created xsi:type="dcterms:W3CDTF">2025-01-27T06:51:12Z</dcterms:created>
  <dcterms:modified xsi:type="dcterms:W3CDTF">2025-08-25T23:49:23Z</dcterms:modified>
</cp:coreProperties>
</file>